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F172A"/>
          </a:solidFill>
          <a:ln/>
        </p:spPr>
      </p:sp>
      <p:sp>
        <p:nvSpPr>
          <p:cNvPr id="3" name="Text 1"/>
          <p:cNvSpPr/>
          <p:nvPr/>
        </p:nvSpPr>
        <p:spPr>
          <a:xfrm>
            <a:off x="914400" y="1371600"/>
            <a:ext cx="7315200" cy="1645920"/>
          </a:xfrm>
          <a:prstGeom prst="rect">
            <a:avLst/>
          </a:prstGeom>
          <a:noFill/>
          <a:ln/>
        </p:spPr>
        <p:txBody>
          <a:bodyPr wrap="square" rtlCol="0" anchor="ctr"/>
          <a:lstStyle/>
          <a:p>
            <a:pPr indent="0" marL="0">
              <a:lnSpc>
                <a:spcPts val="4800"/>
              </a:lnSpc>
              <a:buNone/>
            </a:pPr>
            <a:r>
              <a:rPr lang="en-US" sz="4000" b="1" dirty="0">
                <a:solidFill>
                  <a:srgbClr val="FFFFFF"/>
                </a:solidFill>
                <a:latin typeface="Segoe UI" pitchFamily="34" charset="0"/>
                <a:ea typeface="Segoe UI" pitchFamily="34" charset="-122"/>
                <a:cs typeface="Segoe UI" pitchFamily="34" charset="-120"/>
              </a:rPr>
              <a:t>Catalyst Coaching</a:t>
            </a:r>
            <a:endParaRPr lang="en-US" sz="4000" dirty="0"/>
          </a:p>
          <a:p>
            <a:pPr indent="0" marL="0">
              <a:lnSpc>
                <a:spcPts val="4800"/>
              </a:lnSpc>
              <a:buNone/>
            </a:pPr>
            <a:r>
              <a:rPr lang="en-US" sz="4000" b="1" dirty="0">
                <a:solidFill>
                  <a:srgbClr val="FFFFFF"/>
                </a:solidFill>
                <a:latin typeface="Segoe UI" pitchFamily="34" charset="0"/>
                <a:ea typeface="Segoe UI" pitchFamily="34" charset="-122"/>
                <a:cs typeface="Segoe UI" pitchFamily="34" charset="-120"/>
              </a:rPr>
              <a:t>Bootcamp</a:t>
            </a:r>
            <a:endParaRPr lang="en-US" sz="4000" dirty="0"/>
          </a:p>
        </p:txBody>
      </p:sp>
      <p:sp>
        <p:nvSpPr>
          <p:cNvPr id="4" name="Shape 2"/>
          <p:cNvSpPr/>
          <p:nvPr/>
        </p:nvSpPr>
        <p:spPr>
          <a:xfrm>
            <a:off x="914400" y="3200400"/>
            <a:ext cx="1828800" cy="54864"/>
          </a:xfrm>
          <a:prstGeom prst="rect">
            <a:avLst/>
          </a:prstGeom>
          <a:solidFill>
            <a:srgbClr val="818CF8"/>
          </a:solidFill>
          <a:ln/>
        </p:spPr>
      </p:sp>
      <p:sp>
        <p:nvSpPr>
          <p:cNvPr id="5" name="Text 3"/>
          <p:cNvSpPr/>
          <p:nvPr/>
        </p:nvSpPr>
        <p:spPr>
          <a:xfrm>
            <a:off x="914400" y="3383280"/>
            <a:ext cx="7315200" cy="457200"/>
          </a:xfrm>
          <a:prstGeom prst="rect">
            <a:avLst/>
          </a:prstGeom>
          <a:noFill/>
          <a:ln/>
        </p:spPr>
        <p:txBody>
          <a:bodyPr wrap="square" rtlCol="0" anchor="ctr"/>
          <a:lstStyle/>
          <a:p>
            <a:pPr indent="0" marL="0">
              <a:buNone/>
            </a:pPr>
            <a:r>
              <a:rPr lang="en-US" sz="1800" dirty="0">
                <a:solidFill>
                  <a:srgbClr val="94A3B8"/>
                </a:solidFill>
                <a:latin typeface="Segoe UI" pitchFamily="34" charset="0"/>
                <a:ea typeface="Segoe UI" pitchFamily="34" charset="-122"/>
                <a:cs typeface="Segoe UI" pitchFamily="34" charset="-120"/>
              </a:rPr>
              <a:t>5-Day Intensive  |  DR Site</a:t>
            </a:r>
            <a:endParaRPr lang="en-US" sz="1800" dirty="0"/>
          </a:p>
        </p:txBody>
      </p:sp>
      <p:sp>
        <p:nvSpPr>
          <p:cNvPr id="6" name="Text 4"/>
          <p:cNvSpPr/>
          <p:nvPr/>
        </p:nvSpPr>
        <p:spPr>
          <a:xfrm>
            <a:off x="914400" y="4114800"/>
            <a:ext cx="7315200" cy="1371600"/>
          </a:xfrm>
          <a:prstGeom prst="rect">
            <a:avLst/>
          </a:prstGeom>
          <a:noFill/>
          <a:ln/>
        </p:spPr>
        <p:txBody>
          <a:bodyPr wrap="square" rtlCol="0" anchor="ctr"/>
          <a:lstStyle/>
          <a:p>
            <a:pPr indent="0" marL="0">
              <a:lnSpc>
                <a:spcPts val="2200"/>
              </a:lnSpc>
              <a:buNone/>
            </a:pPr>
            <a:r>
              <a:rPr lang="en-US" sz="1300" dirty="0">
                <a:solidFill>
                  <a:srgbClr val="64748B"/>
                </a:solidFill>
                <a:latin typeface="Segoe UI" pitchFamily="34" charset="0"/>
                <a:ea typeface="Segoe UI" pitchFamily="34" charset="-122"/>
                <a:cs typeface="Segoe UI" pitchFamily="34" charset="-120"/>
              </a:rPr>
              <a:t>Xfinity Outbound Telesales</a:t>
            </a:r>
            <a:endParaRPr lang="en-US" sz="1300" dirty="0"/>
          </a:p>
          <a:p>
            <a:pPr indent="0" marL="0">
              <a:lnSpc>
                <a:spcPts val="2200"/>
              </a:lnSpc>
              <a:buNone/>
            </a:pPr>
            <a:r>
              <a:rPr lang="en-US" sz="1300" dirty="0">
                <a:solidFill>
                  <a:srgbClr val="64748B"/>
                </a:solidFill>
                <a:latin typeface="Segoe UI" pitchFamily="34" charset="0"/>
                <a:ea typeface="Segoe UI" pitchFamily="34" charset="-122"/>
                <a:cs typeface="Segoe UI" pitchFamily="34" charset="-120"/>
              </a:rPr>
              <a:t>Compass Navigator  |  Catalyst Quality Behaviors</a:t>
            </a:r>
            <a:endParaRPr lang="en-US" sz="1300" dirty="0"/>
          </a:p>
          <a:p>
            <a:pPr indent="0" marL="0">
              <a:lnSpc>
                <a:spcPts val="2200"/>
              </a:lnSpc>
              <a:buNone/>
            </a:pPr>
            <a:endParaRPr lang="en-US" sz="1300" dirty="0"/>
          </a:p>
          <a:p>
            <a:pPr indent="0" marL="0">
              <a:lnSpc>
                <a:spcPts val="2200"/>
              </a:lnSpc>
              <a:buNone/>
            </a:pPr>
            <a:r>
              <a:rPr lang="en-US" sz="1300" dirty="0">
                <a:solidFill>
                  <a:srgbClr val="64748B"/>
                </a:solidFill>
                <a:latin typeface="Segoe UI" pitchFamily="34" charset="0"/>
                <a:ea typeface="Segoe UI" pitchFamily="34" charset="-122"/>
                <a:cs typeface="Segoe UI" pitchFamily="34" charset="-120"/>
              </a:rPr>
              <a:t>March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6366F1"/>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The Power of the First 30 Seconds</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Positive Introduction</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1</a:t>
            </a:r>
            <a:endParaRPr lang="en-US" sz="1800" dirty="0"/>
          </a:p>
        </p:txBody>
      </p:sp>
      <p:sp>
        <p:nvSpPr>
          <p:cNvPr id="7" name="Text 5"/>
          <p:cNvSpPr/>
          <p:nvPr/>
        </p:nvSpPr>
        <p:spPr>
          <a:xfrm>
            <a:off x="457200" y="1188720"/>
            <a:ext cx="8229600" cy="320040"/>
          </a:xfrm>
          <a:prstGeom prst="rect">
            <a:avLst/>
          </a:prstGeom>
          <a:noFill/>
          <a:ln/>
        </p:spPr>
        <p:txBody>
          <a:bodyPr wrap="square" rtlCol="0" anchor="ctr"/>
          <a:lstStyle/>
          <a:p>
            <a:pPr indent="0" marL="0">
              <a:buNone/>
            </a:pPr>
            <a:r>
              <a:rPr lang="en-US" sz="1600" b="1" dirty="0">
                <a:solidFill>
                  <a:srgbClr val="1E293B"/>
                </a:solidFill>
                <a:latin typeface="Segoe UI" pitchFamily="34" charset="0"/>
                <a:ea typeface="Segoe UI" pitchFamily="34" charset="-122"/>
                <a:cs typeface="Segoe UI" pitchFamily="34" charset="-120"/>
              </a:rPr>
              <a:t>Why This Matters</a:t>
            </a:r>
            <a:endParaRPr lang="en-US" sz="1600" dirty="0"/>
          </a:p>
        </p:txBody>
      </p:sp>
      <p:sp>
        <p:nvSpPr>
          <p:cNvPr id="8" name="Text 6"/>
          <p:cNvSpPr/>
          <p:nvPr/>
        </p:nvSpPr>
        <p:spPr>
          <a:xfrm>
            <a:off x="457200" y="1554480"/>
            <a:ext cx="8229600" cy="640080"/>
          </a:xfrm>
          <a:prstGeom prst="rect">
            <a:avLst/>
          </a:prstGeom>
          <a:noFill/>
          <a:ln/>
        </p:spPr>
        <p:txBody>
          <a:bodyPr wrap="square" rtlCol="0" anchor="ctr"/>
          <a:lstStyle/>
          <a:p>
            <a:pPr indent="0" marL="0">
              <a:lnSpc>
                <a:spcPts val="2000"/>
              </a:lnSpc>
              <a:buNone/>
            </a:pPr>
            <a:r>
              <a:rPr lang="en-US" sz="1200" dirty="0">
                <a:solidFill>
                  <a:srgbClr val="475569"/>
                </a:solidFill>
                <a:latin typeface="Segoe UI" pitchFamily="34" charset="0"/>
                <a:ea typeface="Segoe UI" pitchFamily="34" charset="-122"/>
                <a:cs typeface="Segoe UI" pitchFamily="34" charset="-120"/>
              </a:rPr>
              <a:t>Outbound telesales is an interruption. The customer didn't ask for this call. You have 30 seconds to earn their willingness to stay on the line. The opening isn't just a formality. It's where trust is built or lost.</a:t>
            </a:r>
            <a:endParaRPr lang="en-US" sz="1200" dirty="0"/>
          </a:p>
        </p:txBody>
      </p:sp>
      <p:sp>
        <p:nvSpPr>
          <p:cNvPr id="9" name="Shape 7"/>
          <p:cNvSpPr/>
          <p:nvPr/>
        </p:nvSpPr>
        <p:spPr>
          <a:xfrm>
            <a:off x="365760" y="2286000"/>
            <a:ext cx="8412480" cy="347472"/>
          </a:xfrm>
          <a:prstGeom prst="roundRect">
            <a:avLst>
              <a:gd name="adj" fmla="val 13158"/>
            </a:avLst>
          </a:prstGeom>
          <a:solidFill>
            <a:srgbClr val="6366F1"/>
          </a:solidFill>
          <a:ln/>
        </p:spPr>
      </p:sp>
      <p:sp>
        <p:nvSpPr>
          <p:cNvPr id="10" name="Text 8"/>
          <p:cNvSpPr/>
          <p:nvPr/>
        </p:nvSpPr>
        <p:spPr>
          <a:xfrm>
            <a:off x="548640" y="2286000"/>
            <a:ext cx="822960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  What "Effectively Demonstrated" Looks Like</a:t>
            </a:r>
            <a:endParaRPr lang="en-US" sz="1100" dirty="0"/>
          </a:p>
        </p:txBody>
      </p:sp>
      <p:sp>
        <p:nvSpPr>
          <p:cNvPr id="11" name="Text 9"/>
          <p:cNvSpPr/>
          <p:nvPr/>
        </p:nvSpPr>
        <p:spPr>
          <a:xfrm>
            <a:off x="548640" y="2697480"/>
            <a:ext cx="8046720" cy="2011680"/>
          </a:xfrm>
          <a:prstGeom prst="rect">
            <a:avLst/>
          </a:prstGeom>
          <a:noFill/>
          <a:ln/>
        </p:spPr>
        <p:txBody>
          <a:bodyPr wrap="square" rtlCol="0" anchor="t"/>
          <a:lstStyle/>
          <a:p>
            <a:pPr>
              <a:lnSpc>
                <a:spcPts val="2200"/>
              </a:lnSpc>
            </a:pPr>
            <a:r>
              <a:rPr lang="en-US" sz="1200" dirty="0">
                <a:solidFill>
                  <a:srgbClr val="1E293B"/>
                </a:solidFill>
                <a:latin typeface="Segoe UI" pitchFamily="34" charset="0"/>
                <a:ea typeface="Segoe UI" pitchFamily="34" charset="-122"/>
                <a:cs typeface="Segoe UI" pitchFamily="34" charset="-120"/>
              </a:rPr>
              <a:t>Genuine warmth - the customer hears a smile, not a script</a:t>
            </a:r>
            <a:endParaRPr lang="en-US" sz="1200" dirty="0"/>
          </a:p>
          <a:p>
            <a:pPr>
              <a:lnSpc>
                <a:spcPts val="2200"/>
              </a:lnSpc>
            </a:pPr>
            <a:r>
              <a:rPr lang="en-US" sz="1200" dirty="0">
                <a:solidFill>
                  <a:srgbClr val="1E293B"/>
                </a:solidFill>
                <a:latin typeface="Segoe UI" pitchFamily="34" charset="0"/>
                <a:ea typeface="Segoe UI" pitchFamily="34" charset="-122"/>
                <a:cs typeface="Segoe UI" pitchFamily="34" charset="-120"/>
              </a:rPr>
              <a:t>Natural pace - not rushed, not robotic</a:t>
            </a:r>
            <a:endParaRPr lang="en-US" sz="1200" dirty="0"/>
          </a:p>
          <a:p>
            <a:pPr>
              <a:lnSpc>
                <a:spcPts val="2200"/>
              </a:lnSpc>
            </a:pPr>
            <a:r>
              <a:rPr lang="en-US" sz="1200" dirty="0">
                <a:solidFill>
                  <a:srgbClr val="1E293B"/>
                </a:solidFill>
                <a:latin typeface="Segoe UI" pitchFamily="34" charset="0"/>
                <a:ea typeface="Segoe UI" pitchFamily="34" charset="-122"/>
                <a:cs typeface="Segoe UI" pitchFamily="34" charset="-120"/>
              </a:rPr>
              <a:t>Personal connection - find the window between getting their name and the pitch</a:t>
            </a:r>
            <a:endParaRPr lang="en-US" sz="1200" dirty="0"/>
          </a:p>
          <a:p>
            <a:pPr>
              <a:lnSpc>
                <a:spcPts val="2200"/>
              </a:lnSpc>
            </a:pPr>
            <a:r>
              <a:rPr lang="en-US" sz="1200" dirty="0">
                <a:solidFill>
                  <a:srgbClr val="1E293B"/>
                </a:solidFill>
                <a:latin typeface="Segoe UI" pitchFamily="34" charset="0"/>
                <a:ea typeface="Segoe UI" pitchFamily="34" charset="-122"/>
                <a:cs typeface="Segoe UI" pitchFamily="34" charset="-120"/>
              </a:rPr>
              <a:t>Pre-call prep (existing customers) - using the customer's name early shows you reviewed the account</a:t>
            </a:r>
            <a:endParaRPr lang="en-US" sz="1200" dirty="0"/>
          </a:p>
          <a:p>
            <a:pPr>
              <a:lnSpc>
                <a:spcPts val="2200"/>
              </a:lnSpc>
            </a:pPr>
            <a:r>
              <a:rPr lang="en-US" sz="1200" dirty="0">
                <a:solidFill>
                  <a:srgbClr val="1E293B"/>
                </a:solidFill>
                <a:latin typeface="Segoe UI" pitchFamily="34" charset="0"/>
                <a:ea typeface="Segoe UI" pitchFamily="34" charset="-122"/>
                <a:cs typeface="Segoe UI" pitchFamily="34" charset="-120"/>
              </a:rPr>
              <a:t>Recording disclosure delivered naturally before any discovery questions</a:t>
            </a:r>
            <a:endParaRPr lang="en-US" sz="1200" dirty="0"/>
          </a:p>
        </p:txBody>
      </p:sp>
      <p:sp>
        <p:nvSpPr>
          <p:cNvPr id="12" name="Shape 10"/>
          <p:cNvSpPr/>
          <p:nvPr/>
        </p:nvSpPr>
        <p:spPr>
          <a:xfrm>
            <a:off x="457200" y="4846320"/>
            <a:ext cx="8229600" cy="914400"/>
          </a:xfrm>
          <a:prstGeom prst="roundRect">
            <a:avLst>
              <a:gd name="adj" fmla="val 8000"/>
            </a:avLst>
          </a:prstGeom>
          <a:solidFill>
            <a:srgbClr val="F0F9FF"/>
          </a:solidFill>
          <a:ln w="12700">
            <a:solidFill>
              <a:srgbClr val="BAE6FD"/>
            </a:solidFill>
            <a:prstDash val="solid"/>
          </a:ln>
        </p:spPr>
      </p:sp>
      <p:sp>
        <p:nvSpPr>
          <p:cNvPr id="13" name="Text 11"/>
          <p:cNvSpPr/>
          <p:nvPr/>
        </p:nvSpPr>
        <p:spPr>
          <a:xfrm>
            <a:off x="640080" y="4846320"/>
            <a:ext cx="7863840" cy="914400"/>
          </a:xfrm>
          <a:prstGeom prst="rect">
            <a:avLst/>
          </a:prstGeom>
          <a:noFill/>
          <a:ln/>
        </p:spPr>
        <p:txBody>
          <a:bodyPr wrap="square" rtlCol="0" anchor="ctr"/>
          <a:lstStyle/>
          <a:p>
            <a:pPr indent="0" marL="0">
              <a:buNone/>
            </a:pPr>
            <a:r>
              <a:rPr lang="en-US" sz="1100" i="1" dirty="0">
                <a:solidFill>
                  <a:srgbClr val="0C4A6E"/>
                </a:solidFill>
                <a:latin typeface="Segoe UI" pitchFamily="34" charset="0"/>
                <a:ea typeface="Segoe UI" pitchFamily="34" charset="-122"/>
                <a:cs typeface="Segoe UI" pitchFamily="34" charset="-120"/>
              </a:rPr>
              <a:t>"Hello! My name is [First Last], and I'm calling from Xfinity. May I speak with [Customer Name]?"</a:t>
            </a:r>
            <a:endParaRPr lang="en-US" sz="1100" dirty="0"/>
          </a:p>
          <a:p>
            <a:pPr indent="0" marL="0">
              <a:buNone/>
            </a:pPr>
            <a:r>
              <a:rPr lang="en-US" sz="1100" i="1" dirty="0">
                <a:solidFill>
                  <a:srgbClr val="0C4A6E"/>
                </a:solidFill>
                <a:latin typeface="Segoe UI" pitchFamily="34" charset="0"/>
                <a:ea typeface="Segoe UI" pitchFamily="34" charset="-122"/>
                <a:cs typeface="Segoe UI" pitchFamily="34" charset="-120"/>
              </a:rPr>
              <a:t>[Confirm identity, ask how their day is going]</a:t>
            </a:r>
            <a:endParaRPr lang="en-US" sz="1100" dirty="0"/>
          </a:p>
          <a:p>
            <a:pPr indent="0" marL="0">
              <a:buNone/>
            </a:pPr>
            <a:r>
              <a:rPr lang="en-US" sz="1100" i="1" dirty="0">
                <a:solidFill>
                  <a:srgbClr val="0C4A6E"/>
                </a:solidFill>
                <a:latin typeface="Segoe UI" pitchFamily="34" charset="0"/>
                <a:ea typeface="Segoe UI" pitchFamily="34" charset="-122"/>
                <a:cs typeface="Segoe UI" pitchFamily="34" charset="-120"/>
              </a:rPr>
              <a:t>"Before we continue, I need to inform you that the call is being recorded and monitored..."</a:t>
            </a:r>
            <a:endParaRPr lang="en-US" sz="1100" dirty="0"/>
          </a:p>
        </p:txBody>
      </p:sp>
      <p:sp>
        <p:nvSpPr>
          <p:cNvPr id="14" name="Shape 12"/>
          <p:cNvSpPr/>
          <p:nvPr/>
        </p:nvSpPr>
        <p:spPr>
          <a:xfrm>
            <a:off x="457200" y="5943600"/>
            <a:ext cx="8229600" cy="411480"/>
          </a:xfrm>
          <a:prstGeom prst="roundRect">
            <a:avLst>
              <a:gd name="adj" fmla="val 17778"/>
            </a:avLst>
          </a:prstGeom>
          <a:solidFill>
            <a:srgbClr val="EEF2FF"/>
          </a:solidFill>
          <a:ln w="12700">
            <a:solidFill>
              <a:srgbClr val="818CF8"/>
            </a:solidFill>
            <a:prstDash val="solid"/>
          </a:ln>
        </p:spPr>
      </p:sp>
      <p:sp>
        <p:nvSpPr>
          <p:cNvPr id="15" name="Text 13"/>
          <p:cNvSpPr/>
          <p:nvPr/>
        </p:nvSpPr>
        <p:spPr>
          <a:xfrm>
            <a:off x="640080" y="5943600"/>
            <a:ext cx="7863840" cy="411480"/>
          </a:xfrm>
          <a:prstGeom prst="rect">
            <a:avLst/>
          </a:prstGeom>
          <a:noFill/>
          <a:ln/>
        </p:spPr>
        <p:txBody>
          <a:bodyPr wrap="square" rtlCol="0" anchor="ctr"/>
          <a:lstStyle/>
          <a:p>
            <a:pPr indent="0" marL="0">
              <a:buNone/>
            </a:pPr>
            <a:r>
              <a:rPr lang="en-US" sz="1050" dirty="0">
                <a:solidFill>
                  <a:srgbClr val="1E293B"/>
                </a:solidFill>
                <a:latin typeface="Segoe UI" pitchFamily="34" charset="0"/>
                <a:ea typeface="Segoe UI" pitchFamily="34" charset="-122"/>
                <a:cs typeface="Segoe UI" pitchFamily="34" charset="-120"/>
              </a:rPr>
              <a:t>Catalyst Behaviors:  Engage Actively  +  Own It  -  Warmth + competence from the first word.</a:t>
            </a:r>
            <a:endParaRPr lang="en-US" sz="1050" dirty="0"/>
          </a:p>
        </p:txBody>
      </p:sp>
      <p:sp>
        <p:nvSpPr>
          <p:cNvPr id="16" name="Text 14"/>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1 of 5  |  March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6366F1"/>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The Power of the First 30 Seconds</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What to Avoid vs. What to Do</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1</a:t>
            </a:r>
            <a:endParaRPr lang="en-US" sz="1800" dirty="0"/>
          </a:p>
        </p:txBody>
      </p:sp>
      <p:sp>
        <p:nvSpPr>
          <p:cNvPr id="7" name="Shape 5"/>
          <p:cNvSpPr/>
          <p:nvPr/>
        </p:nvSpPr>
        <p:spPr>
          <a:xfrm>
            <a:off x="365760" y="1188720"/>
            <a:ext cx="4023360" cy="3200400"/>
          </a:xfrm>
          <a:prstGeom prst="roundRect">
            <a:avLst>
              <a:gd name="adj" fmla="val 2857"/>
            </a:avLst>
          </a:prstGeom>
          <a:solidFill>
            <a:srgbClr val="FEF2F2"/>
          </a:solidFill>
          <a:ln w="12700">
            <a:solidFill>
              <a:srgbClr val="FECACA"/>
            </a:solidFill>
            <a:prstDash val="solid"/>
          </a:ln>
        </p:spPr>
      </p:sp>
      <p:sp>
        <p:nvSpPr>
          <p:cNvPr id="8" name="Text 6"/>
          <p:cNvSpPr/>
          <p:nvPr/>
        </p:nvSpPr>
        <p:spPr>
          <a:xfrm>
            <a:off x="548640" y="1280160"/>
            <a:ext cx="3657600" cy="320040"/>
          </a:xfrm>
          <a:prstGeom prst="rect">
            <a:avLst/>
          </a:prstGeom>
          <a:noFill/>
          <a:ln/>
        </p:spPr>
        <p:txBody>
          <a:bodyPr wrap="square" rtlCol="0" anchor="ctr"/>
          <a:lstStyle/>
          <a:p>
            <a:pPr indent="0" marL="0">
              <a:buNone/>
            </a:pPr>
            <a:r>
              <a:rPr lang="en-US" sz="1100" b="1" dirty="0">
                <a:solidFill>
                  <a:srgbClr val="991B1B"/>
                </a:solidFill>
                <a:latin typeface="Segoe UI" pitchFamily="34" charset="0"/>
                <a:ea typeface="Segoe UI" pitchFamily="34" charset="-122"/>
                <a:cs typeface="Segoe UI" pitchFamily="34" charset="-120"/>
              </a:rPr>
              <a:t>Did Not Demonstrate</a:t>
            </a:r>
            <a:endParaRPr lang="en-US" sz="1100" dirty="0"/>
          </a:p>
        </p:txBody>
      </p:sp>
      <p:sp>
        <p:nvSpPr>
          <p:cNvPr id="9" name="Text 7"/>
          <p:cNvSpPr/>
          <p:nvPr/>
        </p:nvSpPr>
        <p:spPr>
          <a:xfrm>
            <a:off x="548640" y="1645920"/>
            <a:ext cx="8046720" cy="2560320"/>
          </a:xfrm>
          <a:prstGeom prst="rect">
            <a:avLst/>
          </a:prstGeom>
          <a:noFill/>
          <a:ln/>
        </p:spPr>
        <p:txBody>
          <a:bodyPr wrap="square" rtlCol="0" anchor="t"/>
          <a:lstStyle/>
          <a:p>
            <a:pPr>
              <a:lnSpc>
                <a:spcPts val="2200"/>
              </a:lnSpc>
            </a:pPr>
            <a:r>
              <a:rPr lang="en-US" sz="1100" dirty="0">
                <a:solidFill>
                  <a:srgbClr val="7F1D1D"/>
                </a:solidFill>
                <a:latin typeface="Segoe UI" pitchFamily="34" charset="0"/>
                <a:ea typeface="Segoe UI" pitchFamily="34" charset="-122"/>
                <a:cs typeface="Segoe UI" pitchFamily="34" charset="-120"/>
              </a:rPr>
              <a:t>Robotic, memorized delivery</a:t>
            </a:r>
            <a:endParaRPr lang="en-US" sz="1100" dirty="0"/>
          </a:p>
          <a:p>
            <a:pPr>
              <a:lnSpc>
                <a:spcPts val="2200"/>
              </a:lnSpc>
            </a:pPr>
            <a:r>
              <a:rPr lang="en-US" sz="1100" dirty="0">
                <a:solidFill>
                  <a:srgbClr val="7F1D1D"/>
                </a:solidFill>
                <a:latin typeface="Segoe UI" pitchFamily="34" charset="0"/>
                <a:ea typeface="Segoe UI" pitchFamily="34" charset="-122"/>
                <a:cs typeface="Segoe UI" pitchFamily="34" charset="-120"/>
              </a:rPr>
              <a:t>Flat tone with no warmth</a:t>
            </a:r>
            <a:endParaRPr lang="en-US" sz="1100" dirty="0"/>
          </a:p>
          <a:p>
            <a:pPr>
              <a:lnSpc>
                <a:spcPts val="2200"/>
              </a:lnSpc>
            </a:pPr>
            <a:r>
              <a:rPr lang="en-US" sz="1100" dirty="0">
                <a:solidFill>
                  <a:srgbClr val="7F1D1D"/>
                </a:solidFill>
                <a:latin typeface="Segoe UI" pitchFamily="34" charset="0"/>
                <a:ea typeface="Segoe UI" pitchFamily="34" charset="-122"/>
                <a:cs typeface="Segoe UI" pitchFamily="34" charset="-120"/>
              </a:rPr>
              <a:t>Jumping straight from "Nice to meet you" into the pitch</a:t>
            </a:r>
            <a:endParaRPr lang="en-US" sz="1100" dirty="0"/>
          </a:p>
          <a:p>
            <a:pPr>
              <a:lnSpc>
                <a:spcPts val="2200"/>
              </a:lnSpc>
            </a:pPr>
            <a:r>
              <a:rPr lang="en-US" sz="1100" dirty="0">
                <a:solidFill>
                  <a:srgbClr val="7F1D1D"/>
                </a:solidFill>
                <a:latin typeface="Segoe UI" pitchFamily="34" charset="0"/>
                <a:ea typeface="Segoe UI" pitchFamily="34" charset="-122"/>
                <a:cs typeface="Segoe UI" pitchFamily="34" charset="-120"/>
              </a:rPr>
              <a:t>Recording disclosure skipped or delivered after discovery</a:t>
            </a:r>
            <a:endParaRPr lang="en-US" sz="1100" dirty="0"/>
          </a:p>
          <a:p>
            <a:pPr>
              <a:lnSpc>
                <a:spcPts val="2200"/>
              </a:lnSpc>
            </a:pPr>
            <a:r>
              <a:rPr lang="en-US" sz="1100" dirty="0">
                <a:solidFill>
                  <a:srgbClr val="7F1D1D"/>
                </a:solidFill>
                <a:latin typeface="Segoe UI" pitchFamily="34" charset="0"/>
                <a:ea typeface="Segoe UI" pitchFamily="34" charset="-122"/>
                <a:cs typeface="Segoe UI" pitchFamily="34" charset="-120"/>
              </a:rPr>
              <a:t>No personalization at all</a:t>
            </a:r>
            <a:endParaRPr lang="en-US" sz="1100" dirty="0"/>
          </a:p>
        </p:txBody>
      </p:sp>
      <p:sp>
        <p:nvSpPr>
          <p:cNvPr id="10" name="Shape 8"/>
          <p:cNvSpPr/>
          <p:nvPr/>
        </p:nvSpPr>
        <p:spPr>
          <a:xfrm>
            <a:off x="4754880" y="1188720"/>
            <a:ext cx="4023360" cy="3200400"/>
          </a:xfrm>
          <a:prstGeom prst="roundRect">
            <a:avLst>
              <a:gd name="adj" fmla="val 2857"/>
            </a:avLst>
          </a:prstGeom>
          <a:solidFill>
            <a:srgbClr val="F0FDF4"/>
          </a:solidFill>
          <a:ln w="12700">
            <a:solidFill>
              <a:srgbClr val="BBF7D0"/>
            </a:solidFill>
            <a:prstDash val="solid"/>
          </a:ln>
        </p:spPr>
      </p:sp>
      <p:sp>
        <p:nvSpPr>
          <p:cNvPr id="11" name="Text 9"/>
          <p:cNvSpPr/>
          <p:nvPr/>
        </p:nvSpPr>
        <p:spPr>
          <a:xfrm>
            <a:off x="4937760" y="1280160"/>
            <a:ext cx="3657600" cy="320040"/>
          </a:xfrm>
          <a:prstGeom prst="rect">
            <a:avLst/>
          </a:prstGeom>
          <a:noFill/>
          <a:ln/>
        </p:spPr>
        <p:txBody>
          <a:bodyPr wrap="square" rtlCol="0" anchor="ctr"/>
          <a:lstStyle/>
          <a:p>
            <a:pPr indent="0" marL="0">
              <a:buNone/>
            </a:pPr>
            <a:r>
              <a:rPr lang="en-US" sz="1100" b="1" dirty="0">
                <a:solidFill>
                  <a:srgbClr val="166534"/>
                </a:solidFill>
                <a:latin typeface="Segoe UI" pitchFamily="34" charset="0"/>
                <a:ea typeface="Segoe UI" pitchFamily="34" charset="-122"/>
                <a:cs typeface="Segoe UI" pitchFamily="34" charset="-120"/>
              </a:rPr>
              <a:t>Effectively Demonstrated</a:t>
            </a:r>
            <a:endParaRPr lang="en-US" sz="1100" dirty="0"/>
          </a:p>
        </p:txBody>
      </p:sp>
      <p:sp>
        <p:nvSpPr>
          <p:cNvPr id="12" name="Text 10"/>
          <p:cNvSpPr/>
          <p:nvPr/>
        </p:nvSpPr>
        <p:spPr>
          <a:xfrm>
            <a:off x="548640" y="1645920"/>
            <a:ext cx="8046720" cy="2560320"/>
          </a:xfrm>
          <a:prstGeom prst="rect">
            <a:avLst/>
          </a:prstGeom>
          <a:noFill/>
          <a:ln/>
        </p:spPr>
        <p:txBody>
          <a:bodyPr wrap="square" rtlCol="0" anchor="t"/>
          <a:lstStyle/>
          <a:p>
            <a:pPr>
              <a:lnSpc>
                <a:spcPts val="2200"/>
              </a:lnSpc>
            </a:pPr>
            <a:r>
              <a:rPr lang="en-US" sz="1100" dirty="0">
                <a:solidFill>
                  <a:srgbClr val="14532D"/>
                </a:solidFill>
                <a:latin typeface="Segoe UI" pitchFamily="34" charset="0"/>
                <a:ea typeface="Segoe UI" pitchFamily="34" charset="-122"/>
                <a:cs typeface="Segoe UI" pitchFamily="34" charset="-120"/>
              </a:rPr>
              <a:t>Sounds like a real person, not reading</a:t>
            </a:r>
            <a:endParaRPr lang="en-US" sz="1100" dirty="0"/>
          </a:p>
          <a:p>
            <a:pPr>
              <a:lnSpc>
                <a:spcPts val="2200"/>
              </a:lnSpc>
            </a:pPr>
            <a:r>
              <a:rPr lang="en-US" sz="1100" dirty="0">
                <a:solidFill>
                  <a:srgbClr val="14532D"/>
                </a:solidFill>
                <a:latin typeface="Segoe UI" pitchFamily="34" charset="0"/>
                <a:ea typeface="Segoe UI" pitchFamily="34" charset="-122"/>
                <a:cs typeface="Segoe UI" pitchFamily="34" charset="-120"/>
              </a:rPr>
              <a:t>Pauses to let the customer respond</a:t>
            </a:r>
            <a:endParaRPr lang="en-US" sz="1100" dirty="0"/>
          </a:p>
          <a:p>
            <a:pPr>
              <a:lnSpc>
                <a:spcPts val="2200"/>
              </a:lnSpc>
            </a:pPr>
            <a:r>
              <a:rPr lang="en-US" sz="1100" dirty="0">
                <a:solidFill>
                  <a:srgbClr val="14532D"/>
                </a:solidFill>
                <a:latin typeface="Segoe UI" pitchFamily="34" charset="0"/>
                <a:ea typeface="Segoe UI" pitchFamily="34" charset="-122"/>
                <a:cs typeface="Segoe UI" pitchFamily="34" charset="-120"/>
              </a:rPr>
              <a:t>"I see you've been with us for 3 years - that's awesome!"</a:t>
            </a:r>
            <a:endParaRPr lang="en-US" sz="1100" dirty="0"/>
          </a:p>
          <a:p>
            <a:pPr>
              <a:lnSpc>
                <a:spcPts val="2200"/>
              </a:lnSpc>
            </a:pPr>
            <a:r>
              <a:rPr lang="en-US" sz="1100" dirty="0">
                <a:solidFill>
                  <a:srgbClr val="14532D"/>
                </a:solidFill>
                <a:latin typeface="Segoe UI" pitchFamily="34" charset="0"/>
                <a:ea typeface="Segoe UI" pitchFamily="34" charset="-122"/>
                <a:cs typeface="Segoe UI" pitchFamily="34" charset="-120"/>
              </a:rPr>
              <a:t>Recording disclosure feels natural, not rushed</a:t>
            </a:r>
            <a:endParaRPr lang="en-US" sz="1100" dirty="0"/>
          </a:p>
          <a:p>
            <a:pPr>
              <a:lnSpc>
                <a:spcPts val="2200"/>
              </a:lnSpc>
            </a:pPr>
            <a:r>
              <a:rPr lang="en-US" sz="1100" dirty="0">
                <a:solidFill>
                  <a:srgbClr val="14532D"/>
                </a:solidFill>
                <a:latin typeface="Segoe UI" pitchFamily="34" charset="0"/>
                <a:ea typeface="Segoe UI" pitchFamily="34" charset="-122"/>
                <a:cs typeface="Segoe UI" pitchFamily="34" charset="-120"/>
              </a:rPr>
              <a:t>Customer feels welcomed, not processed</a:t>
            </a:r>
            <a:endParaRPr lang="en-US" sz="1100" dirty="0"/>
          </a:p>
        </p:txBody>
      </p:sp>
      <p:sp>
        <p:nvSpPr>
          <p:cNvPr id="13" name="Text 11"/>
          <p:cNvSpPr/>
          <p:nvPr/>
        </p:nvSpPr>
        <p:spPr>
          <a:xfrm>
            <a:off x="457200" y="4663440"/>
            <a:ext cx="8229600" cy="274320"/>
          </a:xfrm>
          <a:prstGeom prst="rect">
            <a:avLst/>
          </a:prstGeom>
          <a:noFill/>
          <a:ln/>
        </p:spPr>
        <p:txBody>
          <a:bodyPr wrap="square" rtlCol="0" anchor="ctr"/>
          <a:lstStyle/>
          <a:p>
            <a:pPr indent="0" marL="0">
              <a:buNone/>
            </a:pPr>
            <a:r>
              <a:rPr lang="en-US" sz="1400" b="1" dirty="0">
                <a:solidFill>
                  <a:srgbClr val="1E293B"/>
                </a:solidFill>
                <a:latin typeface="Segoe UI" pitchFamily="34" charset="0"/>
                <a:ea typeface="Segoe UI" pitchFamily="34" charset="-122"/>
                <a:cs typeface="Segoe UI" pitchFamily="34" charset="-120"/>
              </a:rPr>
              <a:t>Common Pitfalls</a:t>
            </a:r>
            <a:endParaRPr lang="en-US" sz="1400" dirty="0"/>
          </a:p>
        </p:txBody>
      </p:sp>
      <p:sp>
        <p:nvSpPr>
          <p:cNvPr id="14" name="Text 12"/>
          <p:cNvSpPr/>
          <p:nvPr/>
        </p:nvSpPr>
        <p:spPr>
          <a:xfrm>
            <a:off x="548640" y="4983480"/>
            <a:ext cx="8046720" cy="1463040"/>
          </a:xfrm>
          <a:prstGeom prst="rect">
            <a:avLst/>
          </a:prstGeom>
          <a:noFill/>
          <a:ln/>
        </p:spPr>
        <p:txBody>
          <a:bodyPr wrap="square" rtlCol="0" anchor="t"/>
          <a:lstStyle/>
          <a:p>
            <a:pPr>
              <a:lnSpc>
                <a:spcPts val="2200"/>
              </a:lnSpc>
            </a:pPr>
            <a:r>
              <a:rPr lang="en-US" sz="1100" dirty="0">
                <a:solidFill>
                  <a:srgbClr val="1E293B"/>
                </a:solidFill>
                <a:latin typeface="Segoe UI" pitchFamily="34" charset="0"/>
                <a:ea typeface="Segoe UI" pitchFamily="34" charset="-122"/>
                <a:cs typeface="Segoe UI" pitchFamily="34" charset="-120"/>
              </a:rPr>
              <a:t>Sounded scripted - delivery feels memorized</a:t>
            </a:r>
            <a:endParaRPr lang="en-US" sz="1100" dirty="0"/>
          </a:p>
          <a:p>
            <a:pPr>
              <a:lnSpc>
                <a:spcPts val="2200"/>
              </a:lnSpc>
            </a:pPr>
            <a:r>
              <a:rPr lang="en-US" sz="1100" dirty="0">
                <a:solidFill>
                  <a:srgbClr val="1E293B"/>
                </a:solidFill>
                <a:latin typeface="Segoe UI" pitchFamily="34" charset="0"/>
                <a:ea typeface="Segoe UI" pitchFamily="34" charset="-122"/>
                <a:cs typeface="Segoe UI" pitchFamily="34" charset="-120"/>
              </a:rPr>
              <a:t>Rapid pace - customer had to work to keep up</a:t>
            </a:r>
            <a:endParaRPr lang="en-US" sz="1100" dirty="0"/>
          </a:p>
          <a:p>
            <a:pPr>
              <a:lnSpc>
                <a:spcPts val="2200"/>
              </a:lnSpc>
            </a:pPr>
            <a:r>
              <a:rPr lang="en-US" sz="1100" dirty="0">
                <a:solidFill>
                  <a:srgbClr val="1E293B"/>
                </a:solidFill>
                <a:latin typeface="Segoe UI" pitchFamily="34" charset="0"/>
                <a:ea typeface="Segoe UI" pitchFamily="34" charset="-122"/>
                <a:cs typeface="Segoe UI" pitchFamily="34" charset="-120"/>
              </a:rPr>
              <a:t>Moved directly from "Nice to meet you" into the pitch with no pause for personal connection</a:t>
            </a:r>
            <a:endParaRPr lang="en-US" sz="1100" dirty="0"/>
          </a:p>
          <a:p>
            <a:pPr>
              <a:lnSpc>
                <a:spcPts val="2200"/>
              </a:lnSpc>
            </a:pPr>
            <a:r>
              <a:rPr lang="en-US" sz="1100" dirty="0">
                <a:solidFill>
                  <a:srgbClr val="1E293B"/>
                </a:solidFill>
                <a:latin typeface="Segoe UI" pitchFamily="34" charset="0"/>
                <a:ea typeface="Segoe UI" pitchFamily="34" charset="-122"/>
                <a:cs typeface="Segoe UI" pitchFamily="34" charset="-120"/>
              </a:rPr>
              <a:t>Customer name not used in opening (existing customer)</a:t>
            </a:r>
            <a:endParaRPr lang="en-US" sz="1100" dirty="0"/>
          </a:p>
        </p:txBody>
      </p:sp>
      <p:sp>
        <p:nvSpPr>
          <p:cNvPr id="15" name="Text 13"/>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1 of 5  |  March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8B5CF6"/>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Discovering with Intent</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Qualitative vs. Quantitative</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2</a:t>
            </a:r>
            <a:endParaRPr lang="en-US" sz="1800" dirty="0"/>
          </a:p>
        </p:txBody>
      </p:sp>
      <p:sp>
        <p:nvSpPr>
          <p:cNvPr id="7" name="Text 5"/>
          <p:cNvSpPr/>
          <p:nvPr/>
        </p:nvSpPr>
        <p:spPr>
          <a:xfrm>
            <a:off x="457200" y="1188720"/>
            <a:ext cx="8229600" cy="320040"/>
          </a:xfrm>
          <a:prstGeom prst="rect">
            <a:avLst/>
          </a:prstGeom>
          <a:noFill/>
          <a:ln/>
        </p:spPr>
        <p:txBody>
          <a:bodyPr wrap="square" rtlCol="0" anchor="ctr"/>
          <a:lstStyle/>
          <a:p>
            <a:pPr indent="0" marL="0">
              <a:buNone/>
            </a:pPr>
            <a:r>
              <a:rPr lang="en-US" sz="1600" b="1" dirty="0">
                <a:solidFill>
                  <a:srgbClr val="1E293B"/>
                </a:solidFill>
                <a:latin typeface="Segoe UI" pitchFamily="34" charset="0"/>
                <a:ea typeface="Segoe UI" pitchFamily="34" charset="-122"/>
                <a:cs typeface="Segoe UI" pitchFamily="34" charset="-120"/>
              </a:rPr>
              <a:t>Why This Matters</a:t>
            </a:r>
            <a:endParaRPr lang="en-US" sz="1600" dirty="0"/>
          </a:p>
        </p:txBody>
      </p:sp>
      <p:sp>
        <p:nvSpPr>
          <p:cNvPr id="8" name="Text 6"/>
          <p:cNvSpPr/>
          <p:nvPr/>
        </p:nvSpPr>
        <p:spPr>
          <a:xfrm>
            <a:off x="457200" y="1554480"/>
            <a:ext cx="8229600" cy="640080"/>
          </a:xfrm>
          <a:prstGeom prst="rect">
            <a:avLst/>
          </a:prstGeom>
          <a:noFill/>
          <a:ln/>
        </p:spPr>
        <p:txBody>
          <a:bodyPr wrap="square" rtlCol="0" anchor="ctr"/>
          <a:lstStyle/>
          <a:p>
            <a:pPr indent="0" marL="0">
              <a:lnSpc>
                <a:spcPts val="2000"/>
              </a:lnSpc>
              <a:buNone/>
            </a:pPr>
            <a:r>
              <a:rPr lang="en-US" sz="1200" dirty="0">
                <a:solidFill>
                  <a:srgbClr val="475569"/>
                </a:solidFill>
                <a:latin typeface="Segoe UI" pitchFamily="34" charset="0"/>
                <a:ea typeface="Segoe UI" pitchFamily="34" charset="-122"/>
                <a:cs typeface="Segoe UI" pitchFamily="34" charset="-120"/>
              </a:rPr>
              <a:t>Discovery is the agent asking questions, not the customer asking you. It's the foundation of the entire pitch. A generic pitch happens because of generic discovery. A tailored pitch that closes happens because you uncovered something real.</a:t>
            </a:r>
            <a:endParaRPr lang="en-US" sz="1200" dirty="0"/>
          </a:p>
        </p:txBody>
      </p:sp>
      <p:sp>
        <p:nvSpPr>
          <p:cNvPr id="9" name="Shape 7"/>
          <p:cNvSpPr/>
          <p:nvPr/>
        </p:nvSpPr>
        <p:spPr>
          <a:xfrm>
            <a:off x="365760" y="2286000"/>
            <a:ext cx="8412480" cy="347472"/>
          </a:xfrm>
          <a:prstGeom prst="roundRect">
            <a:avLst>
              <a:gd name="adj" fmla="val 13158"/>
            </a:avLst>
          </a:prstGeom>
          <a:solidFill>
            <a:srgbClr val="8B5CF6"/>
          </a:solidFill>
          <a:ln/>
        </p:spPr>
      </p:sp>
      <p:sp>
        <p:nvSpPr>
          <p:cNvPr id="10" name="Text 8"/>
          <p:cNvSpPr/>
          <p:nvPr/>
        </p:nvSpPr>
        <p:spPr>
          <a:xfrm>
            <a:off x="548640" y="2286000"/>
            <a:ext cx="822960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  The 4 Pillars of Discovery</a:t>
            </a:r>
            <a:endParaRPr lang="en-US" sz="1100" dirty="0"/>
          </a:p>
        </p:txBody>
      </p:sp>
      <p:sp>
        <p:nvSpPr>
          <p:cNvPr id="11" name="Shape 9"/>
          <p:cNvSpPr/>
          <p:nvPr/>
        </p:nvSpPr>
        <p:spPr>
          <a:xfrm>
            <a:off x="365760" y="2743200"/>
            <a:ext cx="1920240" cy="2011680"/>
          </a:xfrm>
          <a:prstGeom prst="roundRect">
            <a:avLst>
              <a:gd name="adj" fmla="val 4762"/>
            </a:avLst>
          </a:prstGeom>
          <a:solidFill>
            <a:srgbClr val="F5F3FF"/>
          </a:solidFill>
          <a:ln w="12700">
            <a:solidFill>
              <a:srgbClr val="A78BFA"/>
            </a:solidFill>
            <a:prstDash val="solid"/>
          </a:ln>
        </p:spPr>
      </p:sp>
      <p:sp>
        <p:nvSpPr>
          <p:cNvPr id="12" name="Text 10"/>
          <p:cNvSpPr/>
          <p:nvPr/>
        </p:nvSpPr>
        <p:spPr>
          <a:xfrm>
            <a:off x="365760" y="2834640"/>
            <a:ext cx="1920240" cy="320040"/>
          </a:xfrm>
          <a:prstGeom prst="rect">
            <a:avLst/>
          </a:prstGeom>
          <a:noFill/>
          <a:ln/>
        </p:spPr>
        <p:txBody>
          <a:bodyPr wrap="square" rtlCol="0" anchor="ctr"/>
          <a:lstStyle/>
          <a:p>
            <a:pPr algn="ctr" indent="0" marL="0">
              <a:buNone/>
            </a:pPr>
            <a:r>
              <a:rPr lang="en-US" sz="1400" b="1" dirty="0">
                <a:solidFill>
                  <a:srgbClr val="8B5CF6"/>
                </a:solidFill>
                <a:latin typeface="Segoe UI" pitchFamily="34" charset="0"/>
                <a:ea typeface="Segoe UI" pitchFamily="34" charset="-122"/>
                <a:cs typeface="Segoe UI" pitchFamily="34" charset="-120"/>
              </a:rPr>
              <a:t>Users</a:t>
            </a:r>
            <a:endParaRPr lang="en-US" sz="1400" dirty="0"/>
          </a:p>
        </p:txBody>
      </p:sp>
      <p:sp>
        <p:nvSpPr>
          <p:cNvPr id="13" name="Text 11"/>
          <p:cNvSpPr/>
          <p:nvPr/>
        </p:nvSpPr>
        <p:spPr>
          <a:xfrm>
            <a:off x="457200" y="3200400"/>
            <a:ext cx="1737360" cy="274320"/>
          </a:xfrm>
          <a:prstGeom prst="rect">
            <a:avLst/>
          </a:prstGeom>
          <a:noFill/>
          <a:ln/>
        </p:spPr>
        <p:txBody>
          <a:bodyPr wrap="square" rtlCol="0" anchor="ctr"/>
          <a:lstStyle/>
          <a:p>
            <a:pPr algn="ctr" indent="0" marL="0">
              <a:buNone/>
            </a:pPr>
            <a:r>
              <a:rPr lang="en-US" sz="1000" dirty="0">
                <a:solidFill>
                  <a:srgbClr val="475569"/>
                </a:solidFill>
                <a:latin typeface="Segoe UI" pitchFamily="34" charset="0"/>
                <a:ea typeface="Segoe UI" pitchFamily="34" charset="-122"/>
                <a:cs typeface="Segoe UI" pitchFamily="34" charset="-120"/>
              </a:rPr>
              <a:t>Who lives in the home?</a:t>
            </a:r>
            <a:endParaRPr lang="en-US" sz="1000" dirty="0"/>
          </a:p>
        </p:txBody>
      </p:sp>
      <p:sp>
        <p:nvSpPr>
          <p:cNvPr id="14" name="Text 12"/>
          <p:cNvSpPr/>
          <p:nvPr/>
        </p:nvSpPr>
        <p:spPr>
          <a:xfrm>
            <a:off x="457200" y="3611880"/>
            <a:ext cx="1737360" cy="914400"/>
          </a:xfrm>
          <a:prstGeom prst="rect">
            <a:avLst/>
          </a:prstGeom>
          <a:noFill/>
          <a:ln/>
        </p:spPr>
        <p:txBody>
          <a:bodyPr wrap="square" rtlCol="0" anchor="t"/>
          <a:lstStyle/>
          <a:p>
            <a:pPr algn="ctr" indent="0" marL="0">
              <a:buNone/>
            </a:pPr>
            <a:r>
              <a:rPr lang="en-US" sz="950" i="1" dirty="0">
                <a:solidFill>
                  <a:srgbClr val="0C4A6E"/>
                </a:solidFill>
                <a:latin typeface="Segoe UI" pitchFamily="34" charset="0"/>
                <a:ea typeface="Segoe UI" pitchFamily="34" charset="-122"/>
                <a:cs typeface="Segoe UI" pitchFamily="34" charset="-120"/>
              </a:rPr>
              <a:t>"Who all is in the household using WiFi or devices?"</a:t>
            </a:r>
            <a:endParaRPr lang="en-US" sz="950" dirty="0"/>
          </a:p>
        </p:txBody>
      </p:sp>
      <p:sp>
        <p:nvSpPr>
          <p:cNvPr id="15" name="Shape 13"/>
          <p:cNvSpPr/>
          <p:nvPr/>
        </p:nvSpPr>
        <p:spPr>
          <a:xfrm>
            <a:off x="2423160" y="2743200"/>
            <a:ext cx="1920240" cy="2011680"/>
          </a:xfrm>
          <a:prstGeom prst="roundRect">
            <a:avLst>
              <a:gd name="adj" fmla="val 4762"/>
            </a:avLst>
          </a:prstGeom>
          <a:solidFill>
            <a:srgbClr val="F5F3FF"/>
          </a:solidFill>
          <a:ln w="12700">
            <a:solidFill>
              <a:srgbClr val="A78BFA"/>
            </a:solidFill>
            <a:prstDash val="solid"/>
          </a:ln>
        </p:spPr>
      </p:sp>
      <p:sp>
        <p:nvSpPr>
          <p:cNvPr id="16" name="Text 14"/>
          <p:cNvSpPr/>
          <p:nvPr/>
        </p:nvSpPr>
        <p:spPr>
          <a:xfrm>
            <a:off x="2423160" y="2834640"/>
            <a:ext cx="1920240" cy="320040"/>
          </a:xfrm>
          <a:prstGeom prst="rect">
            <a:avLst/>
          </a:prstGeom>
          <a:noFill/>
          <a:ln/>
        </p:spPr>
        <p:txBody>
          <a:bodyPr wrap="square" rtlCol="0" anchor="ctr"/>
          <a:lstStyle/>
          <a:p>
            <a:pPr algn="ctr" indent="0" marL="0">
              <a:buNone/>
            </a:pPr>
            <a:r>
              <a:rPr lang="en-US" sz="1400" b="1" dirty="0">
                <a:solidFill>
                  <a:srgbClr val="8B5CF6"/>
                </a:solidFill>
                <a:latin typeface="Segoe UI" pitchFamily="34" charset="0"/>
                <a:ea typeface="Segoe UI" pitchFamily="34" charset="-122"/>
                <a:cs typeface="Segoe UI" pitchFamily="34" charset="-120"/>
              </a:rPr>
              <a:t>Usage</a:t>
            </a:r>
            <a:endParaRPr lang="en-US" sz="1400" dirty="0"/>
          </a:p>
        </p:txBody>
      </p:sp>
      <p:sp>
        <p:nvSpPr>
          <p:cNvPr id="17" name="Text 15"/>
          <p:cNvSpPr/>
          <p:nvPr/>
        </p:nvSpPr>
        <p:spPr>
          <a:xfrm>
            <a:off x="2514600" y="3200400"/>
            <a:ext cx="1737360" cy="274320"/>
          </a:xfrm>
          <a:prstGeom prst="rect">
            <a:avLst/>
          </a:prstGeom>
          <a:noFill/>
          <a:ln/>
        </p:spPr>
        <p:txBody>
          <a:bodyPr wrap="square" rtlCol="0" anchor="ctr"/>
          <a:lstStyle/>
          <a:p>
            <a:pPr algn="ctr" indent="0" marL="0">
              <a:buNone/>
            </a:pPr>
            <a:r>
              <a:rPr lang="en-US" sz="1000" dirty="0">
                <a:solidFill>
                  <a:srgbClr val="475569"/>
                </a:solidFill>
                <a:latin typeface="Segoe UI" pitchFamily="34" charset="0"/>
                <a:ea typeface="Segoe UI" pitchFamily="34" charset="-122"/>
                <a:cs typeface="Segoe UI" pitchFamily="34" charset="-120"/>
              </a:rPr>
              <a:t>How do they use services?</a:t>
            </a:r>
            <a:endParaRPr lang="en-US" sz="1000" dirty="0"/>
          </a:p>
        </p:txBody>
      </p:sp>
      <p:sp>
        <p:nvSpPr>
          <p:cNvPr id="18" name="Text 16"/>
          <p:cNvSpPr/>
          <p:nvPr/>
        </p:nvSpPr>
        <p:spPr>
          <a:xfrm>
            <a:off x="2514600" y="3611880"/>
            <a:ext cx="1737360" cy="914400"/>
          </a:xfrm>
          <a:prstGeom prst="rect">
            <a:avLst/>
          </a:prstGeom>
          <a:noFill/>
          <a:ln/>
        </p:spPr>
        <p:txBody>
          <a:bodyPr wrap="square" rtlCol="0" anchor="t"/>
          <a:lstStyle/>
          <a:p>
            <a:pPr algn="ctr" indent="0" marL="0">
              <a:buNone/>
            </a:pPr>
            <a:r>
              <a:rPr lang="en-US" sz="950" i="1" dirty="0">
                <a:solidFill>
                  <a:srgbClr val="0C4A6E"/>
                </a:solidFill>
                <a:latin typeface="Segoe UI" pitchFamily="34" charset="0"/>
                <a:ea typeface="Segoe UI" pitchFamily="34" charset="-122"/>
                <a:cs typeface="Segoe UI" pitchFamily="34" charset="-120"/>
              </a:rPr>
              <a:t>"Walk me through a typical evening online."</a:t>
            </a:r>
            <a:endParaRPr lang="en-US" sz="950" dirty="0"/>
          </a:p>
        </p:txBody>
      </p:sp>
      <p:sp>
        <p:nvSpPr>
          <p:cNvPr id="19" name="Shape 17"/>
          <p:cNvSpPr/>
          <p:nvPr/>
        </p:nvSpPr>
        <p:spPr>
          <a:xfrm>
            <a:off x="4480560" y="2743200"/>
            <a:ext cx="1920240" cy="2011680"/>
          </a:xfrm>
          <a:prstGeom prst="roundRect">
            <a:avLst>
              <a:gd name="adj" fmla="val 4762"/>
            </a:avLst>
          </a:prstGeom>
          <a:solidFill>
            <a:srgbClr val="F5F3FF"/>
          </a:solidFill>
          <a:ln w="12700">
            <a:solidFill>
              <a:srgbClr val="A78BFA"/>
            </a:solidFill>
            <a:prstDash val="solid"/>
          </a:ln>
        </p:spPr>
      </p:sp>
      <p:sp>
        <p:nvSpPr>
          <p:cNvPr id="20" name="Text 18"/>
          <p:cNvSpPr/>
          <p:nvPr/>
        </p:nvSpPr>
        <p:spPr>
          <a:xfrm>
            <a:off x="4480560" y="2834640"/>
            <a:ext cx="1920240" cy="320040"/>
          </a:xfrm>
          <a:prstGeom prst="rect">
            <a:avLst/>
          </a:prstGeom>
          <a:noFill/>
          <a:ln/>
        </p:spPr>
        <p:txBody>
          <a:bodyPr wrap="square" rtlCol="0" anchor="ctr"/>
          <a:lstStyle/>
          <a:p>
            <a:pPr algn="ctr" indent="0" marL="0">
              <a:buNone/>
            </a:pPr>
            <a:r>
              <a:rPr lang="en-US" sz="1400" b="1" dirty="0">
                <a:solidFill>
                  <a:srgbClr val="8B5CF6"/>
                </a:solidFill>
                <a:latin typeface="Segoe UI" pitchFamily="34" charset="0"/>
                <a:ea typeface="Segoe UI" pitchFamily="34" charset="-122"/>
                <a:cs typeface="Segoe UI" pitchFamily="34" charset="-120"/>
              </a:rPr>
              <a:t>Devices</a:t>
            </a:r>
            <a:endParaRPr lang="en-US" sz="1400" dirty="0"/>
          </a:p>
        </p:txBody>
      </p:sp>
      <p:sp>
        <p:nvSpPr>
          <p:cNvPr id="21" name="Text 19"/>
          <p:cNvSpPr/>
          <p:nvPr/>
        </p:nvSpPr>
        <p:spPr>
          <a:xfrm>
            <a:off x="4572000" y="3200400"/>
            <a:ext cx="1737360" cy="274320"/>
          </a:xfrm>
          <a:prstGeom prst="rect">
            <a:avLst/>
          </a:prstGeom>
          <a:noFill/>
          <a:ln/>
        </p:spPr>
        <p:txBody>
          <a:bodyPr wrap="square" rtlCol="0" anchor="ctr"/>
          <a:lstStyle/>
          <a:p>
            <a:pPr algn="ctr" indent="0" marL="0">
              <a:buNone/>
            </a:pPr>
            <a:r>
              <a:rPr lang="en-US" sz="1000" dirty="0">
                <a:solidFill>
                  <a:srgbClr val="475569"/>
                </a:solidFill>
                <a:latin typeface="Segoe UI" pitchFamily="34" charset="0"/>
                <a:ea typeface="Segoe UI" pitchFamily="34" charset="-122"/>
                <a:cs typeface="Segoe UI" pitchFamily="34" charset="-120"/>
              </a:rPr>
              <a:t>What are they connecting?</a:t>
            </a:r>
            <a:endParaRPr lang="en-US" sz="1000" dirty="0"/>
          </a:p>
        </p:txBody>
      </p:sp>
      <p:sp>
        <p:nvSpPr>
          <p:cNvPr id="22" name="Text 20"/>
          <p:cNvSpPr/>
          <p:nvPr/>
        </p:nvSpPr>
        <p:spPr>
          <a:xfrm>
            <a:off x="4572000" y="3611880"/>
            <a:ext cx="1737360" cy="914400"/>
          </a:xfrm>
          <a:prstGeom prst="rect">
            <a:avLst/>
          </a:prstGeom>
          <a:noFill/>
          <a:ln/>
        </p:spPr>
        <p:txBody>
          <a:bodyPr wrap="square" rtlCol="0" anchor="t"/>
          <a:lstStyle/>
          <a:p>
            <a:pPr algn="ctr" indent="0" marL="0">
              <a:buNone/>
            </a:pPr>
            <a:r>
              <a:rPr lang="en-US" sz="950" i="1" dirty="0">
                <a:solidFill>
                  <a:srgbClr val="0C4A6E"/>
                </a:solidFill>
                <a:latin typeface="Segoe UI" pitchFamily="34" charset="0"/>
                <a:ea typeface="Segoe UI" pitchFamily="34" charset="-122"/>
                <a:cs typeface="Segoe UI" pitchFamily="34" charset="-120"/>
              </a:rPr>
              <a:t>"How many devices are connected at once?"</a:t>
            </a:r>
            <a:endParaRPr lang="en-US" sz="950" dirty="0"/>
          </a:p>
        </p:txBody>
      </p:sp>
      <p:sp>
        <p:nvSpPr>
          <p:cNvPr id="23" name="Shape 21"/>
          <p:cNvSpPr/>
          <p:nvPr/>
        </p:nvSpPr>
        <p:spPr>
          <a:xfrm>
            <a:off x="6537960" y="2743200"/>
            <a:ext cx="1920240" cy="2011680"/>
          </a:xfrm>
          <a:prstGeom prst="roundRect">
            <a:avLst>
              <a:gd name="adj" fmla="val 4762"/>
            </a:avLst>
          </a:prstGeom>
          <a:solidFill>
            <a:srgbClr val="F5F3FF"/>
          </a:solidFill>
          <a:ln w="12700">
            <a:solidFill>
              <a:srgbClr val="A78BFA"/>
            </a:solidFill>
            <a:prstDash val="solid"/>
          </a:ln>
        </p:spPr>
      </p:sp>
      <p:sp>
        <p:nvSpPr>
          <p:cNvPr id="24" name="Text 22"/>
          <p:cNvSpPr/>
          <p:nvPr/>
        </p:nvSpPr>
        <p:spPr>
          <a:xfrm>
            <a:off x="6537960" y="2834640"/>
            <a:ext cx="1920240" cy="320040"/>
          </a:xfrm>
          <a:prstGeom prst="rect">
            <a:avLst/>
          </a:prstGeom>
          <a:noFill/>
          <a:ln/>
        </p:spPr>
        <p:txBody>
          <a:bodyPr wrap="square" rtlCol="0" anchor="ctr"/>
          <a:lstStyle/>
          <a:p>
            <a:pPr algn="ctr" indent="0" marL="0">
              <a:buNone/>
            </a:pPr>
            <a:r>
              <a:rPr lang="en-US" sz="1400" b="1" dirty="0">
                <a:solidFill>
                  <a:srgbClr val="8B5CF6"/>
                </a:solidFill>
                <a:latin typeface="Segoe UI" pitchFamily="34" charset="0"/>
                <a:ea typeface="Segoe UI" pitchFamily="34" charset="-122"/>
                <a:cs typeface="Segoe UI" pitchFamily="34" charset="-120"/>
              </a:rPr>
              <a:t>Cost</a:t>
            </a:r>
            <a:endParaRPr lang="en-US" sz="1400" dirty="0"/>
          </a:p>
        </p:txBody>
      </p:sp>
      <p:sp>
        <p:nvSpPr>
          <p:cNvPr id="25" name="Text 23"/>
          <p:cNvSpPr/>
          <p:nvPr/>
        </p:nvSpPr>
        <p:spPr>
          <a:xfrm>
            <a:off x="6629400" y="3200400"/>
            <a:ext cx="1737360" cy="274320"/>
          </a:xfrm>
          <a:prstGeom prst="rect">
            <a:avLst/>
          </a:prstGeom>
          <a:noFill/>
          <a:ln/>
        </p:spPr>
        <p:txBody>
          <a:bodyPr wrap="square" rtlCol="0" anchor="ctr"/>
          <a:lstStyle/>
          <a:p>
            <a:pPr algn="ctr" indent="0" marL="0">
              <a:buNone/>
            </a:pPr>
            <a:r>
              <a:rPr lang="en-US" sz="1000" dirty="0">
                <a:solidFill>
                  <a:srgbClr val="475569"/>
                </a:solidFill>
                <a:latin typeface="Segoe UI" pitchFamily="34" charset="0"/>
                <a:ea typeface="Segoe UI" pitchFamily="34" charset="-122"/>
                <a:cs typeface="Segoe UI" pitchFamily="34" charset="-120"/>
              </a:rPr>
              <a:t>What matters financially?</a:t>
            </a:r>
            <a:endParaRPr lang="en-US" sz="1000" dirty="0"/>
          </a:p>
        </p:txBody>
      </p:sp>
      <p:sp>
        <p:nvSpPr>
          <p:cNvPr id="26" name="Text 24"/>
          <p:cNvSpPr/>
          <p:nvPr/>
        </p:nvSpPr>
        <p:spPr>
          <a:xfrm>
            <a:off x="6629400" y="3611880"/>
            <a:ext cx="1737360" cy="914400"/>
          </a:xfrm>
          <a:prstGeom prst="rect">
            <a:avLst/>
          </a:prstGeom>
          <a:noFill/>
          <a:ln/>
        </p:spPr>
        <p:txBody>
          <a:bodyPr wrap="square" rtlCol="0" anchor="t"/>
          <a:lstStyle/>
          <a:p>
            <a:pPr algn="ctr" indent="0" marL="0">
              <a:buNone/>
            </a:pPr>
            <a:r>
              <a:rPr lang="en-US" sz="950" i="1" dirty="0">
                <a:solidFill>
                  <a:srgbClr val="0C4A6E"/>
                </a:solidFill>
                <a:latin typeface="Segoe UI" pitchFamily="34" charset="0"/>
                <a:ea typeface="Segoe UI" pitchFamily="34" charset="-122"/>
                <a:cs typeface="Segoe UI" pitchFamily="34" charset="-120"/>
              </a:rPr>
              <a:t>"What are you paying for Internet and phone combined?"</a:t>
            </a:r>
            <a:endParaRPr lang="en-US" sz="950" dirty="0"/>
          </a:p>
        </p:txBody>
      </p:sp>
      <p:sp>
        <p:nvSpPr>
          <p:cNvPr id="27" name="Shape 25"/>
          <p:cNvSpPr/>
          <p:nvPr/>
        </p:nvSpPr>
        <p:spPr>
          <a:xfrm>
            <a:off x="457200" y="4937760"/>
            <a:ext cx="8229600" cy="502920"/>
          </a:xfrm>
          <a:prstGeom prst="roundRect">
            <a:avLst>
              <a:gd name="adj" fmla="val 14545"/>
            </a:avLst>
          </a:prstGeom>
          <a:solidFill>
            <a:srgbClr val="FFFBEB"/>
          </a:solidFill>
          <a:ln w="12700">
            <a:solidFill>
              <a:srgbClr val="FCD34D"/>
            </a:solidFill>
            <a:prstDash val="solid"/>
          </a:ln>
        </p:spPr>
      </p:sp>
      <p:sp>
        <p:nvSpPr>
          <p:cNvPr id="28" name="Text 26"/>
          <p:cNvSpPr/>
          <p:nvPr/>
        </p:nvSpPr>
        <p:spPr>
          <a:xfrm>
            <a:off x="640080" y="4937760"/>
            <a:ext cx="7863840" cy="502920"/>
          </a:xfrm>
          <a:prstGeom prst="rect">
            <a:avLst/>
          </a:prstGeom>
          <a:noFill/>
          <a:ln/>
        </p:spPr>
        <p:txBody>
          <a:bodyPr wrap="square" rtlCol="0" anchor="ctr"/>
          <a:lstStyle/>
          <a:p>
            <a:pPr indent="0" marL="0">
              <a:buNone/>
            </a:pPr>
            <a:r>
              <a:rPr lang="en-US" sz="1050" dirty="0">
                <a:solidFill>
                  <a:srgbClr val="1E293B"/>
                </a:solidFill>
                <a:latin typeface="Segoe UI" pitchFamily="34" charset="0"/>
                <a:ea typeface="Segoe UI" pitchFamily="34" charset="-122"/>
                <a:cs typeface="Segoe UI" pitchFamily="34" charset="-120"/>
              </a:rPr>
              <a:t>Key Rule: One great open-ended question that yields a full picture of the household is worth more than five closed questions that return one-word answers.</a:t>
            </a:r>
            <a:endParaRPr lang="en-US" sz="1050" dirty="0"/>
          </a:p>
        </p:txBody>
      </p:sp>
      <p:sp>
        <p:nvSpPr>
          <p:cNvPr id="29" name="Shape 27"/>
          <p:cNvSpPr/>
          <p:nvPr/>
        </p:nvSpPr>
        <p:spPr>
          <a:xfrm>
            <a:off x="457200" y="5623560"/>
            <a:ext cx="8229600" cy="411480"/>
          </a:xfrm>
          <a:prstGeom prst="roundRect">
            <a:avLst>
              <a:gd name="adj" fmla="val 17778"/>
            </a:avLst>
          </a:prstGeom>
          <a:solidFill>
            <a:srgbClr val="F5F3FF"/>
          </a:solidFill>
          <a:ln w="12700">
            <a:solidFill>
              <a:srgbClr val="A78BFA"/>
            </a:solidFill>
            <a:prstDash val="solid"/>
          </a:ln>
        </p:spPr>
      </p:sp>
      <p:sp>
        <p:nvSpPr>
          <p:cNvPr id="30" name="Text 28"/>
          <p:cNvSpPr/>
          <p:nvPr/>
        </p:nvSpPr>
        <p:spPr>
          <a:xfrm>
            <a:off x="640080" y="5623560"/>
            <a:ext cx="7863840" cy="411480"/>
          </a:xfrm>
          <a:prstGeom prst="rect">
            <a:avLst/>
          </a:prstGeom>
          <a:noFill/>
          <a:ln/>
        </p:spPr>
        <p:txBody>
          <a:bodyPr wrap="square" rtlCol="0" anchor="ctr"/>
          <a:lstStyle/>
          <a:p>
            <a:pPr indent="0" marL="0">
              <a:buNone/>
            </a:pPr>
            <a:r>
              <a:rPr lang="en-US" sz="1050" dirty="0">
                <a:solidFill>
                  <a:srgbClr val="1E293B"/>
                </a:solidFill>
                <a:latin typeface="Segoe UI" pitchFamily="34" charset="0"/>
                <a:ea typeface="Segoe UI" pitchFamily="34" charset="-122"/>
                <a:cs typeface="Segoe UI" pitchFamily="34" charset="-120"/>
              </a:rPr>
              <a:t>Catalyst Behavior:  Discover Needs  -  Ask proactive, relevant questions that reveal something new.</a:t>
            </a:r>
            <a:endParaRPr lang="en-US" sz="1050" dirty="0"/>
          </a:p>
        </p:txBody>
      </p:sp>
      <p:sp>
        <p:nvSpPr>
          <p:cNvPr id="31" name="Text 29"/>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2 of 5  |  March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8B5CF6"/>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Discovering with Intent</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Qualitative vs. Quantitative</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2</a:t>
            </a:r>
            <a:endParaRPr lang="en-US" sz="1800" dirty="0"/>
          </a:p>
        </p:txBody>
      </p:sp>
      <p:sp>
        <p:nvSpPr>
          <p:cNvPr id="7" name="Shape 5"/>
          <p:cNvSpPr/>
          <p:nvPr/>
        </p:nvSpPr>
        <p:spPr>
          <a:xfrm>
            <a:off x="365760" y="1188720"/>
            <a:ext cx="4023360" cy="2926080"/>
          </a:xfrm>
          <a:prstGeom prst="roundRect">
            <a:avLst>
              <a:gd name="adj" fmla="val 3125"/>
            </a:avLst>
          </a:prstGeom>
          <a:solidFill>
            <a:srgbClr val="FEF2F2"/>
          </a:solidFill>
          <a:ln w="12700">
            <a:solidFill>
              <a:srgbClr val="FECACA"/>
            </a:solidFill>
            <a:prstDash val="solid"/>
          </a:ln>
        </p:spPr>
      </p:sp>
      <p:sp>
        <p:nvSpPr>
          <p:cNvPr id="8" name="Text 6"/>
          <p:cNvSpPr/>
          <p:nvPr/>
        </p:nvSpPr>
        <p:spPr>
          <a:xfrm>
            <a:off x="548640" y="1280160"/>
            <a:ext cx="3657600" cy="320040"/>
          </a:xfrm>
          <a:prstGeom prst="rect">
            <a:avLst/>
          </a:prstGeom>
          <a:noFill/>
          <a:ln/>
        </p:spPr>
        <p:txBody>
          <a:bodyPr wrap="square" rtlCol="0" anchor="ctr"/>
          <a:lstStyle/>
          <a:p>
            <a:pPr indent="0" marL="0">
              <a:buNone/>
            </a:pPr>
            <a:r>
              <a:rPr lang="en-US" sz="1100" b="1" dirty="0">
                <a:solidFill>
                  <a:srgbClr val="991B1B"/>
                </a:solidFill>
                <a:latin typeface="Segoe UI" pitchFamily="34" charset="0"/>
                <a:ea typeface="Segoe UI" pitchFamily="34" charset="-122"/>
                <a:cs typeface="Segoe UI" pitchFamily="34" charset="-120"/>
              </a:rPr>
              <a:t>Quantitative (Closed Questions)</a:t>
            </a:r>
            <a:endParaRPr lang="en-US" sz="1100" dirty="0"/>
          </a:p>
        </p:txBody>
      </p:sp>
      <p:sp>
        <p:nvSpPr>
          <p:cNvPr id="9" name="Text 7"/>
          <p:cNvSpPr/>
          <p:nvPr/>
        </p:nvSpPr>
        <p:spPr>
          <a:xfrm>
            <a:off x="640080" y="1691640"/>
            <a:ext cx="3566160" cy="914400"/>
          </a:xfrm>
          <a:prstGeom prst="rect">
            <a:avLst/>
          </a:prstGeom>
          <a:noFill/>
          <a:ln/>
        </p:spPr>
        <p:txBody>
          <a:bodyPr wrap="square" rtlCol="0" anchor="ctr"/>
          <a:lstStyle/>
          <a:p>
            <a:pPr indent="0" marL="0">
              <a:lnSpc>
                <a:spcPts val="2000"/>
              </a:lnSpc>
              <a:buNone/>
            </a:pPr>
            <a:r>
              <a:rPr lang="en-US" sz="1100" dirty="0">
                <a:solidFill>
                  <a:srgbClr val="7F1D1D"/>
                </a:solidFill>
                <a:latin typeface="Segoe UI" pitchFamily="34" charset="0"/>
                <a:ea typeface="Segoe UI" pitchFamily="34" charset="-122"/>
                <a:cs typeface="Segoe UI" pitchFamily="34" charset="-120"/>
              </a:rPr>
              <a:t>"Do you have WiFi?" - "Yes."</a:t>
            </a:r>
            <a:endParaRPr lang="en-US" sz="1100" dirty="0"/>
          </a:p>
          <a:p>
            <a:pPr indent="0" marL="0">
              <a:lnSpc>
                <a:spcPts val="2000"/>
              </a:lnSpc>
              <a:buNone/>
            </a:pPr>
            <a:r>
              <a:rPr lang="en-US" sz="1100" dirty="0">
                <a:solidFill>
                  <a:srgbClr val="7F1D1D"/>
                </a:solidFill>
                <a:latin typeface="Segoe UI" pitchFamily="34" charset="0"/>
                <a:ea typeface="Segoe UI" pitchFamily="34" charset="-122"/>
                <a:cs typeface="Segoe UI" pitchFamily="34" charset="-120"/>
              </a:rPr>
              <a:t>"Do you stream?" - "Yes."</a:t>
            </a:r>
            <a:endParaRPr lang="en-US" sz="1100" dirty="0"/>
          </a:p>
          <a:p>
            <a:pPr indent="0" marL="0">
              <a:lnSpc>
                <a:spcPts val="2000"/>
              </a:lnSpc>
              <a:buNone/>
            </a:pPr>
            <a:r>
              <a:rPr lang="en-US" sz="1100" dirty="0">
                <a:solidFill>
                  <a:srgbClr val="7F1D1D"/>
                </a:solidFill>
                <a:latin typeface="Segoe UI" pitchFamily="34" charset="0"/>
                <a:ea typeface="Segoe UI" pitchFamily="34" charset="-122"/>
                <a:cs typeface="Segoe UI" pitchFamily="34" charset="-120"/>
              </a:rPr>
              <a:t>"Do you have a phone?" - "Yes."</a:t>
            </a:r>
            <a:endParaRPr lang="en-US" sz="1100" dirty="0"/>
          </a:p>
        </p:txBody>
      </p:sp>
      <p:sp>
        <p:nvSpPr>
          <p:cNvPr id="10" name="Text 8"/>
          <p:cNvSpPr/>
          <p:nvPr/>
        </p:nvSpPr>
        <p:spPr>
          <a:xfrm>
            <a:off x="640080" y="2651760"/>
            <a:ext cx="3566160" cy="731520"/>
          </a:xfrm>
          <a:prstGeom prst="rect">
            <a:avLst/>
          </a:prstGeom>
          <a:noFill/>
          <a:ln/>
        </p:spPr>
        <p:txBody>
          <a:bodyPr wrap="square" rtlCol="0" anchor="ctr"/>
          <a:lstStyle/>
          <a:p>
            <a:pPr indent="0" marL="0">
              <a:lnSpc>
                <a:spcPts val="1800"/>
              </a:lnSpc>
              <a:buNone/>
            </a:pPr>
            <a:r>
              <a:rPr lang="en-US" sz="1000" i="1" dirty="0">
                <a:solidFill>
                  <a:srgbClr val="991B1B"/>
                </a:solidFill>
                <a:latin typeface="Segoe UI" pitchFamily="34" charset="0"/>
                <a:ea typeface="Segoe UI" pitchFamily="34" charset="-122"/>
                <a:cs typeface="Segoe UI" pitchFamily="34" charset="-120"/>
              </a:rPr>
              <a:t>Result: Three questions, zero insight. You know nothing you didn't already know. The pitch that follows will be generic.</a:t>
            </a:r>
            <a:endParaRPr lang="en-US" sz="1000" dirty="0"/>
          </a:p>
        </p:txBody>
      </p:sp>
      <p:sp>
        <p:nvSpPr>
          <p:cNvPr id="11" name="Shape 9"/>
          <p:cNvSpPr/>
          <p:nvPr/>
        </p:nvSpPr>
        <p:spPr>
          <a:xfrm>
            <a:off x="4754880" y="1188720"/>
            <a:ext cx="4023360" cy="2926080"/>
          </a:xfrm>
          <a:prstGeom prst="roundRect">
            <a:avLst>
              <a:gd name="adj" fmla="val 3125"/>
            </a:avLst>
          </a:prstGeom>
          <a:solidFill>
            <a:srgbClr val="F0FDF4"/>
          </a:solidFill>
          <a:ln w="12700">
            <a:solidFill>
              <a:srgbClr val="BBF7D0"/>
            </a:solidFill>
            <a:prstDash val="solid"/>
          </a:ln>
        </p:spPr>
      </p:sp>
      <p:sp>
        <p:nvSpPr>
          <p:cNvPr id="12" name="Text 10"/>
          <p:cNvSpPr/>
          <p:nvPr/>
        </p:nvSpPr>
        <p:spPr>
          <a:xfrm>
            <a:off x="4937760" y="1280160"/>
            <a:ext cx="3657600" cy="320040"/>
          </a:xfrm>
          <a:prstGeom prst="rect">
            <a:avLst/>
          </a:prstGeom>
          <a:noFill/>
          <a:ln/>
        </p:spPr>
        <p:txBody>
          <a:bodyPr wrap="square" rtlCol="0" anchor="ctr"/>
          <a:lstStyle/>
          <a:p>
            <a:pPr indent="0" marL="0">
              <a:buNone/>
            </a:pPr>
            <a:r>
              <a:rPr lang="en-US" sz="1100" b="1" dirty="0">
                <a:solidFill>
                  <a:srgbClr val="166534"/>
                </a:solidFill>
                <a:latin typeface="Segoe UI" pitchFamily="34" charset="0"/>
                <a:ea typeface="Segoe UI" pitchFamily="34" charset="-122"/>
                <a:cs typeface="Segoe UI" pitchFamily="34" charset="-120"/>
              </a:rPr>
              <a:t>Qualitative (Open-Ended Questions)</a:t>
            </a:r>
            <a:endParaRPr lang="en-US" sz="1100" dirty="0"/>
          </a:p>
        </p:txBody>
      </p:sp>
      <p:sp>
        <p:nvSpPr>
          <p:cNvPr id="13" name="Text 11"/>
          <p:cNvSpPr/>
          <p:nvPr/>
        </p:nvSpPr>
        <p:spPr>
          <a:xfrm>
            <a:off x="5029200" y="1691640"/>
            <a:ext cx="3566160" cy="731520"/>
          </a:xfrm>
          <a:prstGeom prst="rect">
            <a:avLst/>
          </a:prstGeom>
          <a:noFill/>
          <a:ln/>
        </p:spPr>
        <p:txBody>
          <a:bodyPr wrap="square" rtlCol="0" anchor="ctr"/>
          <a:lstStyle/>
          <a:p>
            <a:pPr indent="0" marL="0">
              <a:lnSpc>
                <a:spcPts val="2000"/>
              </a:lnSpc>
              <a:buNone/>
            </a:pPr>
            <a:r>
              <a:rPr lang="en-US" sz="1100" dirty="0">
                <a:solidFill>
                  <a:srgbClr val="14532D"/>
                </a:solidFill>
                <a:latin typeface="Segoe UI" pitchFamily="34" charset="0"/>
                <a:ea typeface="Segoe UI" pitchFamily="34" charset="-122"/>
                <a:cs typeface="Segoe UI" pitchFamily="34" charset="-120"/>
              </a:rPr>
              <a:t>"Tell me about your household. Who's home during the day and what are they usually doing online?"</a:t>
            </a:r>
            <a:endParaRPr lang="en-US" sz="1100" dirty="0"/>
          </a:p>
        </p:txBody>
      </p:sp>
      <p:sp>
        <p:nvSpPr>
          <p:cNvPr id="14" name="Text 12"/>
          <p:cNvSpPr/>
          <p:nvPr/>
        </p:nvSpPr>
        <p:spPr>
          <a:xfrm>
            <a:off x="5029200" y="2468880"/>
            <a:ext cx="3566160" cy="914400"/>
          </a:xfrm>
          <a:prstGeom prst="rect">
            <a:avLst/>
          </a:prstGeom>
          <a:noFill/>
          <a:ln/>
        </p:spPr>
        <p:txBody>
          <a:bodyPr wrap="square" rtlCol="0" anchor="ctr"/>
          <a:lstStyle/>
          <a:p>
            <a:pPr indent="0" marL="0">
              <a:lnSpc>
                <a:spcPts val="1800"/>
              </a:lnSpc>
              <a:buNone/>
            </a:pPr>
            <a:r>
              <a:rPr lang="en-US" sz="1000" i="1" dirty="0">
                <a:solidFill>
                  <a:srgbClr val="166534"/>
                </a:solidFill>
                <a:latin typeface="Segoe UI" pitchFamily="34" charset="0"/>
                <a:ea typeface="Segoe UI" pitchFamily="34" charset="-122"/>
                <a:cs typeface="Segoe UI" pitchFamily="34" charset="-120"/>
              </a:rPr>
              <a:t>Result: One question uncovers 3 pillars - Users, Usage, Devices. Now you can pitch with specificity: "Since your daughter is doing virtual school and your husband works from home..."</a:t>
            </a:r>
            <a:endParaRPr lang="en-US" sz="1000" dirty="0"/>
          </a:p>
        </p:txBody>
      </p:sp>
      <p:sp>
        <p:nvSpPr>
          <p:cNvPr id="15" name="Text 13"/>
          <p:cNvSpPr/>
          <p:nvPr/>
        </p:nvSpPr>
        <p:spPr>
          <a:xfrm>
            <a:off x="457200" y="4389120"/>
            <a:ext cx="8229600" cy="640080"/>
          </a:xfrm>
          <a:prstGeom prst="rect">
            <a:avLst/>
          </a:prstGeom>
          <a:noFill/>
          <a:ln/>
        </p:spPr>
        <p:txBody>
          <a:bodyPr wrap="square" rtlCol="0" anchor="ctr"/>
          <a:lstStyle/>
          <a:p>
            <a:pPr indent="0" marL="0">
              <a:lnSpc>
                <a:spcPts val="2200"/>
              </a:lnSpc>
              <a:buNone/>
            </a:pPr>
            <a:r>
              <a:rPr lang="en-US" sz="1200" b="1" dirty="0">
                <a:solidFill>
                  <a:srgbClr val="8B5CF6"/>
                </a:solidFill>
                <a:latin typeface="Segoe UI" pitchFamily="34" charset="0"/>
                <a:ea typeface="Segoe UI" pitchFamily="34" charset="-122"/>
                <a:cs typeface="Segoe UI" pitchFamily="34" charset="-120"/>
              </a:rPr>
              <a:t>Remember: Discovery is the AGENT asking proactive questions about Users, Usage, Devices, and Cost.</a:t>
            </a:r>
            <a:endParaRPr lang="en-US" sz="1200" dirty="0"/>
          </a:p>
          <a:p>
            <a:pPr indent="0" marL="0">
              <a:lnSpc>
                <a:spcPts val="2200"/>
              </a:lnSpc>
              <a:buNone/>
            </a:pPr>
            <a:r>
              <a:rPr lang="en-US" sz="1200" b="1" dirty="0">
                <a:solidFill>
                  <a:srgbClr val="8B5CF6"/>
                </a:solidFill>
                <a:latin typeface="Segoe UI" pitchFamily="34" charset="0"/>
                <a:ea typeface="Segoe UI" pitchFamily="34" charset="-122"/>
                <a:cs typeface="Segoe UI" pitchFamily="34" charset="-120"/>
              </a:rPr>
              <a:t>Questions the customer asks you do NOT count as discovery.</a:t>
            </a:r>
            <a:endParaRPr lang="en-US" sz="1200" dirty="0"/>
          </a:p>
        </p:txBody>
      </p:sp>
      <p:sp>
        <p:nvSpPr>
          <p:cNvPr id="16" name="Text 14"/>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2 of 5  |  March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891B2"/>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Linking &amp; Being the Ambassador</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From Discovery to Recommendation</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3</a:t>
            </a:r>
            <a:endParaRPr lang="en-US" sz="1800" dirty="0"/>
          </a:p>
        </p:txBody>
      </p:sp>
      <p:sp>
        <p:nvSpPr>
          <p:cNvPr id="7" name="Text 5"/>
          <p:cNvSpPr/>
          <p:nvPr/>
        </p:nvSpPr>
        <p:spPr>
          <a:xfrm>
            <a:off x="457200" y="1188720"/>
            <a:ext cx="8229600" cy="320040"/>
          </a:xfrm>
          <a:prstGeom prst="rect">
            <a:avLst/>
          </a:prstGeom>
          <a:noFill/>
          <a:ln/>
        </p:spPr>
        <p:txBody>
          <a:bodyPr wrap="square" rtlCol="0" anchor="ctr"/>
          <a:lstStyle/>
          <a:p>
            <a:pPr indent="0" marL="0">
              <a:buNone/>
            </a:pPr>
            <a:r>
              <a:rPr lang="en-US" sz="1600" b="1" dirty="0">
                <a:solidFill>
                  <a:srgbClr val="1E293B"/>
                </a:solidFill>
                <a:latin typeface="Segoe UI" pitchFamily="34" charset="0"/>
                <a:ea typeface="Segoe UI" pitchFamily="34" charset="-122"/>
                <a:cs typeface="Segoe UI" pitchFamily="34" charset="-120"/>
              </a:rPr>
              <a:t>Why This Matters</a:t>
            </a:r>
            <a:endParaRPr lang="en-US" sz="1600" dirty="0"/>
          </a:p>
        </p:txBody>
      </p:sp>
      <p:sp>
        <p:nvSpPr>
          <p:cNvPr id="8" name="Text 6"/>
          <p:cNvSpPr/>
          <p:nvPr/>
        </p:nvSpPr>
        <p:spPr>
          <a:xfrm>
            <a:off x="457200" y="1554480"/>
            <a:ext cx="8229600" cy="640080"/>
          </a:xfrm>
          <a:prstGeom prst="rect">
            <a:avLst/>
          </a:prstGeom>
          <a:noFill/>
          <a:ln/>
        </p:spPr>
        <p:txBody>
          <a:bodyPr wrap="square" rtlCol="0" anchor="ctr"/>
          <a:lstStyle/>
          <a:p>
            <a:pPr indent="0" marL="0">
              <a:lnSpc>
                <a:spcPts val="2000"/>
              </a:lnSpc>
              <a:buNone/>
            </a:pPr>
            <a:r>
              <a:rPr lang="en-US" sz="1200" dirty="0">
                <a:solidFill>
                  <a:srgbClr val="475569"/>
                </a:solidFill>
                <a:latin typeface="Segoe UI" pitchFamily="34" charset="0"/>
                <a:ea typeface="Segoe UI" pitchFamily="34" charset="-122"/>
                <a:cs typeface="Segoe UI" pitchFamily="34" charset="-120"/>
              </a:rPr>
              <a:t>Discovery without a tailored pitch is wasted effort. Being an Ambassador means you don't just list features. You connect them to what the customer told you. The customer should hear their own words reflected back in your recommendation.</a:t>
            </a:r>
            <a:endParaRPr lang="en-US" sz="1200" dirty="0"/>
          </a:p>
        </p:txBody>
      </p:sp>
      <p:sp>
        <p:nvSpPr>
          <p:cNvPr id="9" name="Shape 7"/>
          <p:cNvSpPr/>
          <p:nvPr/>
        </p:nvSpPr>
        <p:spPr>
          <a:xfrm>
            <a:off x="365760" y="2286000"/>
            <a:ext cx="8412480" cy="347472"/>
          </a:xfrm>
          <a:prstGeom prst="roundRect">
            <a:avLst>
              <a:gd name="adj" fmla="val 13158"/>
            </a:avLst>
          </a:prstGeom>
          <a:solidFill>
            <a:srgbClr val="0891B2"/>
          </a:solidFill>
          <a:ln/>
        </p:spPr>
      </p:sp>
      <p:sp>
        <p:nvSpPr>
          <p:cNvPr id="10" name="Text 8"/>
          <p:cNvSpPr/>
          <p:nvPr/>
        </p:nvSpPr>
        <p:spPr>
          <a:xfrm>
            <a:off x="548640" y="2286000"/>
            <a:ext cx="822960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  The Logic Bridge</a:t>
            </a:r>
            <a:endParaRPr lang="en-US" sz="1100" dirty="0"/>
          </a:p>
        </p:txBody>
      </p:sp>
      <p:sp>
        <p:nvSpPr>
          <p:cNvPr id="11" name="Shape 9"/>
          <p:cNvSpPr/>
          <p:nvPr/>
        </p:nvSpPr>
        <p:spPr>
          <a:xfrm>
            <a:off x="457200" y="2697480"/>
            <a:ext cx="8229600" cy="1005840"/>
          </a:xfrm>
          <a:prstGeom prst="roundRect">
            <a:avLst>
              <a:gd name="adj" fmla="val 7273"/>
            </a:avLst>
          </a:prstGeom>
          <a:solidFill>
            <a:srgbClr val="F0F9FF"/>
          </a:solidFill>
          <a:ln w="12700">
            <a:solidFill>
              <a:srgbClr val="BAE6FD"/>
            </a:solidFill>
            <a:prstDash val="solid"/>
          </a:ln>
        </p:spPr>
      </p:sp>
      <p:sp>
        <p:nvSpPr>
          <p:cNvPr id="12" name="Text 10"/>
          <p:cNvSpPr/>
          <p:nvPr/>
        </p:nvSpPr>
        <p:spPr>
          <a:xfrm>
            <a:off x="640080" y="2697480"/>
            <a:ext cx="7863840" cy="1005840"/>
          </a:xfrm>
          <a:prstGeom prst="rect">
            <a:avLst/>
          </a:prstGeom>
          <a:noFill/>
          <a:ln/>
        </p:spPr>
        <p:txBody>
          <a:bodyPr wrap="square" rtlCol="0" anchor="ctr"/>
          <a:lstStyle/>
          <a:p>
            <a:pPr indent="0" marL="0">
              <a:buNone/>
            </a:pPr>
            <a:r>
              <a:rPr lang="en-US" sz="1100" i="1" dirty="0">
                <a:solidFill>
                  <a:srgbClr val="0C4A6E"/>
                </a:solidFill>
                <a:latin typeface="Segoe UI" pitchFamily="34" charset="0"/>
                <a:ea typeface="Segoe UI" pitchFamily="34" charset="-122"/>
                <a:cs typeface="Segoe UI" pitchFamily="34" charset="-120"/>
              </a:rPr>
              <a:t>"Based on what you told me, I think I have the perfect plan for you..."</a:t>
            </a:r>
            <a:endParaRPr lang="en-US" sz="1100" dirty="0"/>
          </a:p>
          <a:p>
            <a:pPr indent="0" marL="0">
              <a:buNone/>
            </a:pPr>
            <a:endParaRPr lang="en-US" sz="1100" dirty="0"/>
          </a:p>
          <a:p>
            <a:pPr indent="0" marL="0">
              <a:buNone/>
            </a:pPr>
            <a:r>
              <a:rPr lang="en-US" sz="1100" i="1" dirty="0">
                <a:solidFill>
                  <a:srgbClr val="0C4A6E"/>
                </a:solidFill>
                <a:latin typeface="Segoe UI" pitchFamily="34" charset="0"/>
                <a:ea typeface="Segoe UI" pitchFamily="34" charset="-122"/>
                <a:cs typeface="Segoe UI" pitchFamily="34" charset="-120"/>
              </a:rPr>
              <a:t>"I heard you say [what they told you], so I included [product] because [specific benefit for their household]."</a:t>
            </a:r>
            <a:endParaRPr lang="en-US" sz="1100" dirty="0"/>
          </a:p>
        </p:txBody>
      </p:sp>
      <p:sp>
        <p:nvSpPr>
          <p:cNvPr id="13" name="Shape 11"/>
          <p:cNvSpPr/>
          <p:nvPr/>
        </p:nvSpPr>
        <p:spPr>
          <a:xfrm>
            <a:off x="365760" y="3931920"/>
            <a:ext cx="4023360" cy="1645920"/>
          </a:xfrm>
          <a:prstGeom prst="roundRect">
            <a:avLst>
              <a:gd name="adj" fmla="val 5556"/>
            </a:avLst>
          </a:prstGeom>
          <a:solidFill>
            <a:srgbClr val="FEF2F2"/>
          </a:solidFill>
          <a:ln w="12700">
            <a:solidFill>
              <a:srgbClr val="FECACA"/>
            </a:solidFill>
            <a:prstDash val="solid"/>
          </a:ln>
        </p:spPr>
      </p:sp>
      <p:sp>
        <p:nvSpPr>
          <p:cNvPr id="14" name="Text 12"/>
          <p:cNvSpPr/>
          <p:nvPr/>
        </p:nvSpPr>
        <p:spPr>
          <a:xfrm>
            <a:off x="548640" y="4023360"/>
            <a:ext cx="3657600" cy="274320"/>
          </a:xfrm>
          <a:prstGeom prst="rect">
            <a:avLst/>
          </a:prstGeom>
          <a:noFill/>
          <a:ln/>
        </p:spPr>
        <p:txBody>
          <a:bodyPr wrap="square" rtlCol="0" anchor="ctr"/>
          <a:lstStyle/>
          <a:p>
            <a:pPr indent="0" marL="0">
              <a:buNone/>
            </a:pPr>
            <a:r>
              <a:rPr lang="en-US" sz="1000" b="1" dirty="0">
                <a:solidFill>
                  <a:srgbClr val="991B1B"/>
                </a:solidFill>
                <a:latin typeface="Segoe UI" pitchFamily="34" charset="0"/>
                <a:ea typeface="Segoe UI" pitchFamily="34" charset="-122"/>
                <a:cs typeface="Segoe UI" pitchFamily="34" charset="-120"/>
              </a:rPr>
              <a:t>Feature List (DND)</a:t>
            </a:r>
            <a:endParaRPr lang="en-US" sz="1000" dirty="0"/>
          </a:p>
        </p:txBody>
      </p:sp>
      <p:sp>
        <p:nvSpPr>
          <p:cNvPr id="15" name="Text 13"/>
          <p:cNvSpPr/>
          <p:nvPr/>
        </p:nvSpPr>
        <p:spPr>
          <a:xfrm>
            <a:off x="640080" y="4297680"/>
            <a:ext cx="3566160" cy="731520"/>
          </a:xfrm>
          <a:prstGeom prst="rect">
            <a:avLst/>
          </a:prstGeom>
          <a:noFill/>
          <a:ln/>
        </p:spPr>
        <p:txBody>
          <a:bodyPr wrap="square" rtlCol="0" anchor="ctr"/>
          <a:lstStyle/>
          <a:p>
            <a:pPr indent="0" marL="0">
              <a:lnSpc>
                <a:spcPts val="1800"/>
              </a:lnSpc>
              <a:buNone/>
            </a:pPr>
            <a:r>
              <a:rPr lang="en-US" sz="1000" i="1" dirty="0">
                <a:solidFill>
                  <a:srgbClr val="7F1D1D"/>
                </a:solidFill>
                <a:latin typeface="Segoe UI" pitchFamily="34" charset="0"/>
                <a:ea typeface="Segoe UI" pitchFamily="34" charset="-122"/>
                <a:cs typeface="Segoe UI" pitchFamily="34" charset="-120"/>
              </a:rPr>
              <a:t>"Our 1 Gig plan comes with unlimited data, a gateway, WiFi hotspot access, and Advanced Security. It's $60 a month with auto-pay."</a:t>
            </a:r>
            <a:endParaRPr lang="en-US" sz="1000" dirty="0"/>
          </a:p>
        </p:txBody>
      </p:sp>
      <p:sp>
        <p:nvSpPr>
          <p:cNvPr id="16" name="Text 14"/>
          <p:cNvSpPr/>
          <p:nvPr/>
        </p:nvSpPr>
        <p:spPr>
          <a:xfrm>
            <a:off x="640080" y="5029200"/>
            <a:ext cx="3566160" cy="274320"/>
          </a:xfrm>
          <a:prstGeom prst="rect">
            <a:avLst/>
          </a:prstGeom>
          <a:noFill/>
          <a:ln/>
        </p:spPr>
        <p:txBody>
          <a:bodyPr wrap="square" rtlCol="0" anchor="ctr"/>
          <a:lstStyle/>
          <a:p>
            <a:pPr indent="0" marL="0">
              <a:buNone/>
            </a:pPr>
            <a:r>
              <a:rPr lang="en-US" sz="900" dirty="0">
                <a:solidFill>
                  <a:srgbClr val="991B1B"/>
                </a:solidFill>
                <a:latin typeface="Segoe UI" pitchFamily="34" charset="0"/>
                <a:ea typeface="Segoe UI" pitchFamily="34" charset="-122"/>
                <a:cs typeface="Segoe UI" pitchFamily="34" charset="-120"/>
              </a:rPr>
              <a:t>Generic. Could be said to any customer.</a:t>
            </a:r>
            <a:endParaRPr lang="en-US" sz="900" dirty="0"/>
          </a:p>
        </p:txBody>
      </p:sp>
      <p:sp>
        <p:nvSpPr>
          <p:cNvPr id="17" name="Shape 15"/>
          <p:cNvSpPr/>
          <p:nvPr/>
        </p:nvSpPr>
        <p:spPr>
          <a:xfrm>
            <a:off x="4754880" y="3931920"/>
            <a:ext cx="4023360" cy="1645920"/>
          </a:xfrm>
          <a:prstGeom prst="roundRect">
            <a:avLst>
              <a:gd name="adj" fmla="val 5556"/>
            </a:avLst>
          </a:prstGeom>
          <a:solidFill>
            <a:srgbClr val="F0FDF4"/>
          </a:solidFill>
          <a:ln w="12700">
            <a:solidFill>
              <a:srgbClr val="BBF7D0"/>
            </a:solidFill>
            <a:prstDash val="solid"/>
          </a:ln>
        </p:spPr>
      </p:sp>
      <p:sp>
        <p:nvSpPr>
          <p:cNvPr id="18" name="Text 16"/>
          <p:cNvSpPr/>
          <p:nvPr/>
        </p:nvSpPr>
        <p:spPr>
          <a:xfrm>
            <a:off x="4937760" y="4023360"/>
            <a:ext cx="3657600" cy="274320"/>
          </a:xfrm>
          <a:prstGeom prst="rect">
            <a:avLst/>
          </a:prstGeom>
          <a:noFill/>
          <a:ln/>
        </p:spPr>
        <p:txBody>
          <a:bodyPr wrap="square" rtlCol="0" anchor="ctr"/>
          <a:lstStyle/>
          <a:p>
            <a:pPr indent="0" marL="0">
              <a:buNone/>
            </a:pPr>
            <a:r>
              <a:rPr lang="en-US" sz="1000" b="1" dirty="0">
                <a:solidFill>
                  <a:srgbClr val="166534"/>
                </a:solidFill>
                <a:latin typeface="Segoe UI" pitchFamily="34" charset="0"/>
                <a:ea typeface="Segoe UI" pitchFamily="34" charset="-122"/>
                <a:cs typeface="Segoe UI" pitchFamily="34" charset="-120"/>
              </a:rPr>
              <a:t>Tailored Recommendation (ED)</a:t>
            </a:r>
            <a:endParaRPr lang="en-US" sz="1000" dirty="0"/>
          </a:p>
        </p:txBody>
      </p:sp>
      <p:sp>
        <p:nvSpPr>
          <p:cNvPr id="19" name="Text 17"/>
          <p:cNvSpPr/>
          <p:nvPr/>
        </p:nvSpPr>
        <p:spPr>
          <a:xfrm>
            <a:off x="5029200" y="4297680"/>
            <a:ext cx="3566160" cy="914400"/>
          </a:xfrm>
          <a:prstGeom prst="rect">
            <a:avLst/>
          </a:prstGeom>
          <a:noFill/>
          <a:ln/>
        </p:spPr>
        <p:txBody>
          <a:bodyPr wrap="square" rtlCol="0" anchor="ctr"/>
          <a:lstStyle/>
          <a:p>
            <a:pPr indent="0" marL="0">
              <a:lnSpc>
                <a:spcPts val="1800"/>
              </a:lnSpc>
              <a:buNone/>
            </a:pPr>
            <a:r>
              <a:rPr lang="en-US" sz="1000" i="1" dirty="0">
                <a:solidFill>
                  <a:srgbClr val="14532D"/>
                </a:solidFill>
                <a:latin typeface="Segoe UI" pitchFamily="34" charset="0"/>
                <a:ea typeface="Segoe UI" pitchFamily="34" charset="-122"/>
                <a:cs typeface="Segoe UI" pitchFamily="34" charset="-120"/>
              </a:rPr>
              <a:t>"You mentioned your husband works from home and your kids stream constantly, so I'm recommending 1 Gig because your whole household can be online without lagging. And you said you're paying $80 now - this brings you to $60."</a:t>
            </a:r>
            <a:endParaRPr lang="en-US" sz="1000" dirty="0"/>
          </a:p>
        </p:txBody>
      </p:sp>
      <p:sp>
        <p:nvSpPr>
          <p:cNvPr id="20" name="Text 18"/>
          <p:cNvSpPr/>
          <p:nvPr/>
        </p:nvSpPr>
        <p:spPr>
          <a:xfrm>
            <a:off x="5029200" y="5212080"/>
            <a:ext cx="3566160" cy="274320"/>
          </a:xfrm>
          <a:prstGeom prst="rect">
            <a:avLst/>
          </a:prstGeom>
          <a:noFill/>
          <a:ln/>
        </p:spPr>
        <p:txBody>
          <a:bodyPr wrap="square" rtlCol="0" anchor="ctr"/>
          <a:lstStyle/>
          <a:p>
            <a:pPr indent="0" marL="0">
              <a:buNone/>
            </a:pPr>
            <a:r>
              <a:rPr lang="en-US" sz="900" dirty="0">
                <a:solidFill>
                  <a:srgbClr val="166534"/>
                </a:solidFill>
                <a:latin typeface="Segoe UI" pitchFamily="34" charset="0"/>
                <a:ea typeface="Segoe UI" pitchFamily="34" charset="-122"/>
                <a:cs typeface="Segoe UI" pitchFamily="34" charset="-120"/>
              </a:rPr>
              <a:t>Personal. References their household. Explains why.</a:t>
            </a:r>
            <a:endParaRPr lang="en-US" sz="900" dirty="0"/>
          </a:p>
        </p:txBody>
      </p:sp>
      <p:sp>
        <p:nvSpPr>
          <p:cNvPr id="21" name="Shape 19"/>
          <p:cNvSpPr/>
          <p:nvPr/>
        </p:nvSpPr>
        <p:spPr>
          <a:xfrm>
            <a:off x="457200" y="5806440"/>
            <a:ext cx="8229600" cy="411480"/>
          </a:xfrm>
          <a:prstGeom prst="roundRect">
            <a:avLst>
              <a:gd name="adj" fmla="val 17778"/>
            </a:avLst>
          </a:prstGeom>
          <a:solidFill>
            <a:srgbClr val="ECFEFF"/>
          </a:solidFill>
          <a:ln w="12700">
            <a:solidFill>
              <a:srgbClr val="22D3EE"/>
            </a:solidFill>
            <a:prstDash val="solid"/>
          </a:ln>
        </p:spPr>
      </p:sp>
      <p:sp>
        <p:nvSpPr>
          <p:cNvPr id="22" name="Text 20"/>
          <p:cNvSpPr/>
          <p:nvPr/>
        </p:nvSpPr>
        <p:spPr>
          <a:xfrm>
            <a:off x="640080" y="5806440"/>
            <a:ext cx="7863840" cy="411480"/>
          </a:xfrm>
          <a:prstGeom prst="rect">
            <a:avLst/>
          </a:prstGeom>
          <a:noFill/>
          <a:ln/>
        </p:spPr>
        <p:txBody>
          <a:bodyPr wrap="square" rtlCol="0" anchor="ctr"/>
          <a:lstStyle/>
          <a:p>
            <a:pPr indent="0" marL="0">
              <a:buNone/>
            </a:pPr>
            <a:r>
              <a:rPr lang="en-US" sz="1050" dirty="0">
                <a:solidFill>
                  <a:srgbClr val="1E293B"/>
                </a:solidFill>
                <a:latin typeface="Segoe UI" pitchFamily="34" charset="0"/>
                <a:ea typeface="Segoe UI" pitchFamily="34" charset="-122"/>
                <a:cs typeface="Segoe UI" pitchFamily="34" charset="-120"/>
              </a:rPr>
              <a:t>Compliance: Reference broadband labels on every Internet/Mobile offer: "You can also see this information at Xfinity.com/labels."</a:t>
            </a:r>
            <a:endParaRPr lang="en-US" sz="1050" dirty="0"/>
          </a:p>
        </p:txBody>
      </p:sp>
      <p:sp>
        <p:nvSpPr>
          <p:cNvPr id="23" name="Text 21"/>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3 of 5  |  March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DC2626"/>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Objections &amp; Overcoming Them</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The 4-Step Framework</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4</a:t>
            </a:r>
            <a:endParaRPr lang="en-US" sz="1800" dirty="0"/>
          </a:p>
        </p:txBody>
      </p:sp>
      <p:sp>
        <p:nvSpPr>
          <p:cNvPr id="7" name="Text 5"/>
          <p:cNvSpPr/>
          <p:nvPr/>
        </p:nvSpPr>
        <p:spPr>
          <a:xfrm>
            <a:off x="457200" y="1188720"/>
            <a:ext cx="8229600" cy="365760"/>
          </a:xfrm>
          <a:prstGeom prst="rect">
            <a:avLst/>
          </a:prstGeom>
          <a:noFill/>
          <a:ln/>
        </p:spPr>
        <p:txBody>
          <a:bodyPr wrap="square" rtlCol="0" anchor="ctr"/>
          <a:lstStyle/>
          <a:p>
            <a:pPr indent="0" marL="0">
              <a:buNone/>
            </a:pPr>
            <a:r>
              <a:rPr lang="en-US" sz="1400" b="1" dirty="0">
                <a:solidFill>
                  <a:srgbClr val="1E293B"/>
                </a:solidFill>
                <a:latin typeface="Segoe UI" pitchFamily="34" charset="0"/>
                <a:ea typeface="Segoe UI" pitchFamily="34" charset="-122"/>
                <a:cs typeface="Segoe UI" pitchFamily="34" charset="-120"/>
              </a:rPr>
              <a:t>An objection is not a rejection. It's the customer telling you they need more information.</a:t>
            </a:r>
            <a:endParaRPr lang="en-US" sz="1400" dirty="0"/>
          </a:p>
        </p:txBody>
      </p:sp>
      <p:sp>
        <p:nvSpPr>
          <p:cNvPr id="8" name="Shape 6"/>
          <p:cNvSpPr/>
          <p:nvPr/>
        </p:nvSpPr>
        <p:spPr>
          <a:xfrm>
            <a:off x="365760" y="1737360"/>
            <a:ext cx="8412480" cy="914400"/>
          </a:xfrm>
          <a:prstGeom prst="roundRect">
            <a:avLst>
              <a:gd name="adj" fmla="val 8000"/>
            </a:avLst>
          </a:prstGeom>
          <a:solidFill>
            <a:srgbClr val="FEF2F2"/>
          </a:solidFill>
          <a:ln w="12700">
            <a:solidFill>
              <a:srgbClr val="FECACA"/>
            </a:solidFill>
            <a:prstDash val="solid"/>
          </a:ln>
        </p:spPr>
      </p:sp>
      <p:sp>
        <p:nvSpPr>
          <p:cNvPr id="9" name="Shape 7"/>
          <p:cNvSpPr/>
          <p:nvPr/>
        </p:nvSpPr>
        <p:spPr>
          <a:xfrm>
            <a:off x="548640" y="1920240"/>
            <a:ext cx="502920" cy="502920"/>
          </a:xfrm>
          <a:prstGeom prst="ellipse">
            <a:avLst/>
          </a:prstGeom>
          <a:solidFill>
            <a:srgbClr val="DC2626"/>
          </a:solidFill>
          <a:ln/>
        </p:spPr>
      </p:sp>
      <p:sp>
        <p:nvSpPr>
          <p:cNvPr id="10" name="Text 8"/>
          <p:cNvSpPr/>
          <p:nvPr/>
        </p:nvSpPr>
        <p:spPr>
          <a:xfrm>
            <a:off x="548640" y="1920240"/>
            <a:ext cx="502920" cy="50292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11" name="Text 9"/>
          <p:cNvSpPr/>
          <p:nvPr/>
        </p:nvSpPr>
        <p:spPr>
          <a:xfrm>
            <a:off x="1234440" y="1810512"/>
            <a:ext cx="2743200" cy="274320"/>
          </a:xfrm>
          <a:prstGeom prst="rect">
            <a:avLst/>
          </a:prstGeom>
          <a:noFill/>
          <a:ln/>
        </p:spPr>
        <p:txBody>
          <a:bodyPr wrap="square" rtlCol="0" anchor="ctr"/>
          <a:lstStyle/>
          <a:p>
            <a:pPr indent="0" marL="0">
              <a:buNone/>
            </a:pPr>
            <a:r>
              <a:rPr lang="en-US" sz="1300" b="1" dirty="0">
                <a:solidFill>
                  <a:srgbClr val="1E293B"/>
                </a:solidFill>
                <a:latin typeface="Segoe UI" pitchFamily="34" charset="0"/>
                <a:ea typeface="Segoe UI" pitchFamily="34" charset="-122"/>
                <a:cs typeface="Segoe UI" pitchFamily="34" charset="-120"/>
              </a:rPr>
              <a:t>Understand</a:t>
            </a:r>
            <a:endParaRPr lang="en-US" sz="1300" dirty="0"/>
          </a:p>
        </p:txBody>
      </p:sp>
      <p:sp>
        <p:nvSpPr>
          <p:cNvPr id="12" name="Text 10"/>
          <p:cNvSpPr/>
          <p:nvPr/>
        </p:nvSpPr>
        <p:spPr>
          <a:xfrm>
            <a:off x="1234440" y="2103120"/>
            <a:ext cx="2743200" cy="27432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Don't assume. Probe.</a:t>
            </a:r>
            <a:endParaRPr lang="en-US" sz="1000" dirty="0"/>
          </a:p>
        </p:txBody>
      </p:sp>
      <p:sp>
        <p:nvSpPr>
          <p:cNvPr id="13" name="Text 11"/>
          <p:cNvSpPr/>
          <p:nvPr/>
        </p:nvSpPr>
        <p:spPr>
          <a:xfrm>
            <a:off x="4389120" y="1874520"/>
            <a:ext cx="4114800" cy="594360"/>
          </a:xfrm>
          <a:prstGeom prst="rect">
            <a:avLst/>
          </a:prstGeom>
          <a:noFill/>
          <a:ln/>
        </p:spPr>
        <p:txBody>
          <a:bodyPr wrap="square" rtlCol="0" anchor="ctr"/>
          <a:lstStyle/>
          <a:p>
            <a:pPr indent="0" marL="0">
              <a:buNone/>
            </a:pPr>
            <a:r>
              <a:rPr lang="en-US" sz="1050" i="1" dirty="0">
                <a:solidFill>
                  <a:srgbClr val="0C4A6E"/>
                </a:solidFill>
                <a:latin typeface="Segoe UI" pitchFamily="34" charset="0"/>
                <a:ea typeface="Segoe UI" pitchFamily="34" charset="-122"/>
                <a:cs typeface="Segoe UI" pitchFamily="34" charset="-120"/>
              </a:rPr>
              <a:t>"What specifically concerns you about that?"</a:t>
            </a:r>
            <a:endParaRPr lang="en-US" sz="1050" dirty="0"/>
          </a:p>
        </p:txBody>
      </p:sp>
      <p:sp>
        <p:nvSpPr>
          <p:cNvPr id="14" name="Shape 12"/>
          <p:cNvSpPr/>
          <p:nvPr/>
        </p:nvSpPr>
        <p:spPr>
          <a:xfrm>
            <a:off x="365760" y="2788920"/>
            <a:ext cx="8412480" cy="914400"/>
          </a:xfrm>
          <a:prstGeom prst="roundRect">
            <a:avLst>
              <a:gd name="adj" fmla="val 8000"/>
            </a:avLst>
          </a:prstGeom>
          <a:solidFill>
            <a:srgbClr val="FFFBEB"/>
          </a:solidFill>
          <a:ln w="12700">
            <a:solidFill>
              <a:srgbClr val="FDE68A"/>
            </a:solidFill>
            <a:prstDash val="solid"/>
          </a:ln>
        </p:spPr>
      </p:sp>
      <p:sp>
        <p:nvSpPr>
          <p:cNvPr id="15" name="Shape 13"/>
          <p:cNvSpPr/>
          <p:nvPr/>
        </p:nvSpPr>
        <p:spPr>
          <a:xfrm>
            <a:off x="548640" y="2971800"/>
            <a:ext cx="502920" cy="502920"/>
          </a:xfrm>
          <a:prstGeom prst="ellipse">
            <a:avLst/>
          </a:prstGeom>
          <a:solidFill>
            <a:srgbClr val="DC2626"/>
          </a:solidFill>
          <a:ln/>
        </p:spPr>
      </p:sp>
      <p:sp>
        <p:nvSpPr>
          <p:cNvPr id="16" name="Text 14"/>
          <p:cNvSpPr/>
          <p:nvPr/>
        </p:nvSpPr>
        <p:spPr>
          <a:xfrm>
            <a:off x="548640" y="2971800"/>
            <a:ext cx="502920" cy="50292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7" name="Text 15"/>
          <p:cNvSpPr/>
          <p:nvPr/>
        </p:nvSpPr>
        <p:spPr>
          <a:xfrm>
            <a:off x="1234440" y="2862072"/>
            <a:ext cx="2743200" cy="274320"/>
          </a:xfrm>
          <a:prstGeom prst="rect">
            <a:avLst/>
          </a:prstGeom>
          <a:noFill/>
          <a:ln/>
        </p:spPr>
        <p:txBody>
          <a:bodyPr wrap="square" rtlCol="0" anchor="ctr"/>
          <a:lstStyle/>
          <a:p>
            <a:pPr indent="0" marL="0">
              <a:buNone/>
            </a:pPr>
            <a:r>
              <a:rPr lang="en-US" sz="1300" b="1" dirty="0">
                <a:solidFill>
                  <a:srgbClr val="1E293B"/>
                </a:solidFill>
                <a:latin typeface="Segoe UI" pitchFamily="34" charset="0"/>
                <a:ea typeface="Segoe UI" pitchFamily="34" charset="-122"/>
                <a:cs typeface="Segoe UI" pitchFamily="34" charset="-120"/>
              </a:rPr>
              <a:t>Empathize &amp; Overcome</a:t>
            </a:r>
            <a:endParaRPr lang="en-US" sz="1300" dirty="0"/>
          </a:p>
        </p:txBody>
      </p:sp>
      <p:sp>
        <p:nvSpPr>
          <p:cNvPr id="18" name="Text 16"/>
          <p:cNvSpPr/>
          <p:nvPr/>
        </p:nvSpPr>
        <p:spPr>
          <a:xfrm>
            <a:off x="1234440" y="3154680"/>
            <a:ext cx="2743200" cy="27432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Show you heard them, then pivot.</a:t>
            </a:r>
            <a:endParaRPr lang="en-US" sz="1000" dirty="0"/>
          </a:p>
        </p:txBody>
      </p:sp>
      <p:sp>
        <p:nvSpPr>
          <p:cNvPr id="19" name="Text 17"/>
          <p:cNvSpPr/>
          <p:nvPr/>
        </p:nvSpPr>
        <p:spPr>
          <a:xfrm>
            <a:off x="4389120" y="2926080"/>
            <a:ext cx="4114800" cy="594360"/>
          </a:xfrm>
          <a:prstGeom prst="rect">
            <a:avLst/>
          </a:prstGeom>
          <a:noFill/>
          <a:ln/>
        </p:spPr>
        <p:txBody>
          <a:bodyPr wrap="square" rtlCol="0" anchor="ctr"/>
          <a:lstStyle/>
          <a:p>
            <a:pPr indent="0" marL="0">
              <a:buNone/>
            </a:pPr>
            <a:r>
              <a:rPr lang="en-US" sz="1050" i="1" dirty="0">
                <a:solidFill>
                  <a:srgbClr val="0C4A6E"/>
                </a:solidFill>
                <a:latin typeface="Segoe UI" pitchFamily="34" charset="0"/>
                <a:ea typeface="Segoe UI" pitchFamily="34" charset="-122"/>
                <a:cs typeface="Segoe UI" pitchFamily="34" charset="-120"/>
              </a:rPr>
              <a:t>"I completely understand that, however..."</a:t>
            </a:r>
            <a:endParaRPr lang="en-US" sz="1050" dirty="0"/>
          </a:p>
        </p:txBody>
      </p:sp>
      <p:sp>
        <p:nvSpPr>
          <p:cNvPr id="20" name="Shape 18"/>
          <p:cNvSpPr/>
          <p:nvPr/>
        </p:nvSpPr>
        <p:spPr>
          <a:xfrm>
            <a:off x="365760" y="3840480"/>
            <a:ext cx="8412480" cy="914400"/>
          </a:xfrm>
          <a:prstGeom prst="roundRect">
            <a:avLst>
              <a:gd name="adj" fmla="val 8000"/>
            </a:avLst>
          </a:prstGeom>
          <a:solidFill>
            <a:srgbClr val="F0FDF4"/>
          </a:solidFill>
          <a:ln w="12700">
            <a:solidFill>
              <a:srgbClr val="BBF7D0"/>
            </a:solidFill>
            <a:prstDash val="solid"/>
          </a:ln>
        </p:spPr>
      </p:sp>
      <p:sp>
        <p:nvSpPr>
          <p:cNvPr id="21" name="Shape 19"/>
          <p:cNvSpPr/>
          <p:nvPr/>
        </p:nvSpPr>
        <p:spPr>
          <a:xfrm>
            <a:off x="548640" y="4023360"/>
            <a:ext cx="502920" cy="502920"/>
          </a:xfrm>
          <a:prstGeom prst="ellipse">
            <a:avLst/>
          </a:prstGeom>
          <a:solidFill>
            <a:srgbClr val="DC2626"/>
          </a:solidFill>
          <a:ln/>
        </p:spPr>
      </p:sp>
      <p:sp>
        <p:nvSpPr>
          <p:cNvPr id="22" name="Text 20"/>
          <p:cNvSpPr/>
          <p:nvPr/>
        </p:nvSpPr>
        <p:spPr>
          <a:xfrm>
            <a:off x="548640" y="4023360"/>
            <a:ext cx="502920" cy="50292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23" name="Text 21"/>
          <p:cNvSpPr/>
          <p:nvPr/>
        </p:nvSpPr>
        <p:spPr>
          <a:xfrm>
            <a:off x="1234440" y="3913632"/>
            <a:ext cx="2743200" cy="274320"/>
          </a:xfrm>
          <a:prstGeom prst="rect">
            <a:avLst/>
          </a:prstGeom>
          <a:noFill/>
          <a:ln/>
        </p:spPr>
        <p:txBody>
          <a:bodyPr wrap="square" rtlCol="0" anchor="ctr"/>
          <a:lstStyle/>
          <a:p>
            <a:pPr indent="0" marL="0">
              <a:buNone/>
            </a:pPr>
            <a:r>
              <a:rPr lang="en-US" sz="1300" b="1" dirty="0">
                <a:solidFill>
                  <a:srgbClr val="1E293B"/>
                </a:solidFill>
                <a:latin typeface="Segoe UI" pitchFamily="34" charset="0"/>
                <a:ea typeface="Segoe UI" pitchFamily="34" charset="-122"/>
                <a:cs typeface="Segoe UI" pitchFamily="34" charset="-120"/>
              </a:rPr>
              <a:t>Restate Tie-Backs</a:t>
            </a:r>
            <a:endParaRPr lang="en-US" sz="1300" dirty="0"/>
          </a:p>
        </p:txBody>
      </p:sp>
      <p:sp>
        <p:nvSpPr>
          <p:cNvPr id="24" name="Text 22"/>
          <p:cNvSpPr/>
          <p:nvPr/>
        </p:nvSpPr>
        <p:spPr>
          <a:xfrm>
            <a:off x="1234440" y="4206240"/>
            <a:ext cx="2743200" cy="27432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Anchor to what they told you.</a:t>
            </a:r>
            <a:endParaRPr lang="en-US" sz="1000" dirty="0"/>
          </a:p>
        </p:txBody>
      </p:sp>
      <p:sp>
        <p:nvSpPr>
          <p:cNvPr id="25" name="Text 23"/>
          <p:cNvSpPr/>
          <p:nvPr/>
        </p:nvSpPr>
        <p:spPr>
          <a:xfrm>
            <a:off x="4389120" y="3977640"/>
            <a:ext cx="4114800" cy="594360"/>
          </a:xfrm>
          <a:prstGeom prst="rect">
            <a:avLst/>
          </a:prstGeom>
          <a:noFill/>
          <a:ln/>
        </p:spPr>
        <p:txBody>
          <a:bodyPr wrap="square" rtlCol="0" anchor="ctr"/>
          <a:lstStyle/>
          <a:p>
            <a:pPr indent="0" marL="0">
              <a:buNone/>
            </a:pPr>
            <a:r>
              <a:rPr lang="en-US" sz="1050" i="1" dirty="0">
                <a:solidFill>
                  <a:srgbClr val="0C4A6E"/>
                </a:solidFill>
                <a:latin typeface="Segoe UI" pitchFamily="34" charset="0"/>
                <a:ea typeface="Segoe UI" pitchFamily="34" charset="-122"/>
                <a:cs typeface="Segoe UI" pitchFamily="34" charset="-120"/>
              </a:rPr>
              <a:t>"I heard you say [X], so I wanted to make sure..."</a:t>
            </a:r>
            <a:endParaRPr lang="en-US" sz="1050" dirty="0"/>
          </a:p>
        </p:txBody>
      </p:sp>
      <p:sp>
        <p:nvSpPr>
          <p:cNvPr id="26" name="Shape 24"/>
          <p:cNvSpPr/>
          <p:nvPr/>
        </p:nvSpPr>
        <p:spPr>
          <a:xfrm>
            <a:off x="365760" y="4892040"/>
            <a:ext cx="8412480" cy="914400"/>
          </a:xfrm>
          <a:prstGeom prst="roundRect">
            <a:avLst>
              <a:gd name="adj" fmla="val 8000"/>
            </a:avLst>
          </a:prstGeom>
          <a:solidFill>
            <a:srgbClr val="EFF6FF"/>
          </a:solidFill>
          <a:ln w="12700">
            <a:solidFill>
              <a:srgbClr val="BFDBFE"/>
            </a:solidFill>
            <a:prstDash val="solid"/>
          </a:ln>
        </p:spPr>
      </p:sp>
      <p:sp>
        <p:nvSpPr>
          <p:cNvPr id="27" name="Shape 25"/>
          <p:cNvSpPr/>
          <p:nvPr/>
        </p:nvSpPr>
        <p:spPr>
          <a:xfrm>
            <a:off x="548640" y="5074920"/>
            <a:ext cx="502920" cy="502920"/>
          </a:xfrm>
          <a:prstGeom prst="ellipse">
            <a:avLst/>
          </a:prstGeom>
          <a:solidFill>
            <a:srgbClr val="DC2626"/>
          </a:solidFill>
          <a:ln/>
        </p:spPr>
      </p:sp>
      <p:sp>
        <p:nvSpPr>
          <p:cNvPr id="28" name="Text 26"/>
          <p:cNvSpPr/>
          <p:nvPr/>
        </p:nvSpPr>
        <p:spPr>
          <a:xfrm>
            <a:off x="548640" y="5074920"/>
            <a:ext cx="502920" cy="502920"/>
          </a:xfrm>
          <a:prstGeom prst="rect">
            <a:avLst/>
          </a:prstGeom>
          <a:noFill/>
          <a:ln/>
        </p:spPr>
        <p:txBody>
          <a:bodyPr wrap="square"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29" name="Text 27"/>
          <p:cNvSpPr/>
          <p:nvPr/>
        </p:nvSpPr>
        <p:spPr>
          <a:xfrm>
            <a:off x="1234440" y="4965192"/>
            <a:ext cx="2743200" cy="274320"/>
          </a:xfrm>
          <a:prstGeom prst="rect">
            <a:avLst/>
          </a:prstGeom>
          <a:noFill/>
          <a:ln/>
        </p:spPr>
        <p:txBody>
          <a:bodyPr wrap="square" rtlCol="0" anchor="ctr"/>
          <a:lstStyle/>
          <a:p>
            <a:pPr indent="0" marL="0">
              <a:buNone/>
            </a:pPr>
            <a:r>
              <a:rPr lang="en-US" sz="1300" b="1" dirty="0">
                <a:solidFill>
                  <a:srgbClr val="1E293B"/>
                </a:solidFill>
                <a:latin typeface="Segoe UI" pitchFamily="34" charset="0"/>
                <a:ea typeface="Segoe UI" pitchFamily="34" charset="-122"/>
                <a:cs typeface="Segoe UI" pitchFamily="34" charset="-120"/>
              </a:rPr>
              <a:t>Add Value</a:t>
            </a:r>
            <a:endParaRPr lang="en-US" sz="1300" dirty="0"/>
          </a:p>
        </p:txBody>
      </p:sp>
      <p:sp>
        <p:nvSpPr>
          <p:cNvPr id="30" name="Text 28"/>
          <p:cNvSpPr/>
          <p:nvPr/>
        </p:nvSpPr>
        <p:spPr>
          <a:xfrm>
            <a:off x="1234440" y="5257800"/>
            <a:ext cx="2743200" cy="27432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One new benefit they haven't heard.</a:t>
            </a:r>
            <a:endParaRPr lang="en-US" sz="1000" dirty="0"/>
          </a:p>
        </p:txBody>
      </p:sp>
      <p:sp>
        <p:nvSpPr>
          <p:cNvPr id="31" name="Text 29"/>
          <p:cNvSpPr/>
          <p:nvPr/>
        </p:nvSpPr>
        <p:spPr>
          <a:xfrm>
            <a:off x="4389120" y="5029200"/>
            <a:ext cx="4114800" cy="594360"/>
          </a:xfrm>
          <a:prstGeom prst="rect">
            <a:avLst/>
          </a:prstGeom>
          <a:noFill/>
          <a:ln/>
        </p:spPr>
        <p:txBody>
          <a:bodyPr wrap="square" rtlCol="0" anchor="ctr"/>
          <a:lstStyle/>
          <a:p>
            <a:pPr indent="0" marL="0">
              <a:buNone/>
            </a:pPr>
            <a:r>
              <a:rPr lang="en-US" sz="1050" i="1" dirty="0">
                <a:solidFill>
                  <a:srgbClr val="0C4A6E"/>
                </a:solidFill>
                <a:latin typeface="Segoe UI" pitchFamily="34" charset="0"/>
                <a:ea typeface="Segoe UI" pitchFamily="34" charset="-122"/>
                <a:cs typeface="Segoe UI" pitchFamily="34" charset="-120"/>
              </a:rPr>
              <a:t>"On top of that, this also includes [benefit]..."</a:t>
            </a:r>
            <a:endParaRPr lang="en-US" sz="1050" dirty="0"/>
          </a:p>
        </p:txBody>
      </p:sp>
      <p:sp>
        <p:nvSpPr>
          <p:cNvPr id="32" name="Shape 30"/>
          <p:cNvSpPr/>
          <p:nvPr/>
        </p:nvSpPr>
        <p:spPr>
          <a:xfrm>
            <a:off x="457200" y="5852160"/>
            <a:ext cx="8229600" cy="411480"/>
          </a:xfrm>
          <a:prstGeom prst="roundRect">
            <a:avLst>
              <a:gd name="adj" fmla="val 17778"/>
            </a:avLst>
          </a:prstGeom>
          <a:solidFill>
            <a:srgbClr val="FEF2F2"/>
          </a:solidFill>
          <a:ln w="12700">
            <a:solidFill>
              <a:srgbClr val="F87171"/>
            </a:solidFill>
            <a:prstDash val="solid"/>
          </a:ln>
        </p:spPr>
      </p:sp>
      <p:sp>
        <p:nvSpPr>
          <p:cNvPr id="33" name="Text 31"/>
          <p:cNvSpPr/>
          <p:nvPr/>
        </p:nvSpPr>
        <p:spPr>
          <a:xfrm>
            <a:off x="640080" y="5852160"/>
            <a:ext cx="7863840" cy="411480"/>
          </a:xfrm>
          <a:prstGeom prst="rect">
            <a:avLst/>
          </a:prstGeom>
          <a:noFill/>
          <a:ln/>
        </p:spPr>
        <p:txBody>
          <a:bodyPr wrap="square" rtlCol="0" anchor="ctr"/>
          <a:lstStyle/>
          <a:p>
            <a:pPr indent="0" marL="0">
              <a:buNone/>
            </a:pPr>
            <a:r>
              <a:rPr lang="en-US" sz="1050" dirty="0">
                <a:solidFill>
                  <a:srgbClr val="1E293B"/>
                </a:solidFill>
                <a:latin typeface="Segoe UI" pitchFamily="34" charset="0"/>
                <a:ea typeface="Segoe UI" pitchFamily="34" charset="-122"/>
                <a:cs typeface="Segoe UI" pitchFamily="34" charset="-120"/>
              </a:rPr>
              <a:t>Critical: Never speak negatively about competitors. "Our service is 99.9% reliable" is fine. "AT&amp;T is terrible" is a red flag (auto-fail).</a:t>
            </a:r>
            <a:endParaRPr lang="en-US" sz="1050" dirty="0"/>
          </a:p>
        </p:txBody>
      </p:sp>
      <p:sp>
        <p:nvSpPr>
          <p:cNvPr id="34" name="Text 32"/>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4 of 5  |  March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DC2626"/>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Objections &amp; Overcoming Them</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Common Objections</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4</a:t>
            </a:r>
            <a:endParaRPr lang="en-US" sz="1800" dirty="0"/>
          </a:p>
        </p:txBody>
      </p:sp>
      <p:sp>
        <p:nvSpPr>
          <p:cNvPr id="7" name="Shape 5"/>
          <p:cNvSpPr/>
          <p:nvPr/>
        </p:nvSpPr>
        <p:spPr>
          <a:xfrm>
            <a:off x="365760" y="1188720"/>
            <a:ext cx="8412480" cy="1097280"/>
          </a:xfrm>
          <a:prstGeom prst="roundRect">
            <a:avLst>
              <a:gd name="adj" fmla="val 6667"/>
            </a:avLst>
          </a:prstGeom>
          <a:solidFill>
            <a:srgbClr val="FEF2F2"/>
          </a:solidFill>
          <a:ln w="6350">
            <a:solidFill>
              <a:srgbClr val="E2E8F0"/>
            </a:solidFill>
            <a:prstDash val="solid"/>
          </a:ln>
        </p:spPr>
      </p:sp>
      <p:sp>
        <p:nvSpPr>
          <p:cNvPr id="8" name="Text 6"/>
          <p:cNvSpPr/>
          <p:nvPr/>
        </p:nvSpPr>
        <p:spPr>
          <a:xfrm>
            <a:off x="548640" y="1234440"/>
            <a:ext cx="2286000" cy="1005840"/>
          </a:xfrm>
          <a:prstGeom prst="rect">
            <a:avLst/>
          </a:prstGeom>
          <a:noFill/>
          <a:ln/>
        </p:spPr>
        <p:txBody>
          <a:bodyPr wrap="square" rtlCol="0" anchor="ctr"/>
          <a:lstStyle/>
          <a:p>
            <a:pPr indent="0" marL="0">
              <a:buNone/>
            </a:pPr>
            <a:r>
              <a:rPr lang="en-US" sz="1300" b="1" dirty="0">
                <a:solidFill>
                  <a:srgbClr val="DC2626"/>
                </a:solidFill>
                <a:latin typeface="Segoe UI" pitchFamily="34" charset="0"/>
                <a:ea typeface="Segoe UI" pitchFamily="34" charset="-122"/>
                <a:cs typeface="Segoe UI" pitchFamily="34" charset="-120"/>
              </a:rPr>
              <a:t>"I need to think about it"</a:t>
            </a:r>
            <a:endParaRPr lang="en-US" sz="1300" dirty="0"/>
          </a:p>
        </p:txBody>
      </p:sp>
      <p:sp>
        <p:nvSpPr>
          <p:cNvPr id="9" name="Text 7"/>
          <p:cNvSpPr/>
          <p:nvPr/>
        </p:nvSpPr>
        <p:spPr>
          <a:xfrm>
            <a:off x="3017520" y="1234440"/>
            <a:ext cx="5486400" cy="1005840"/>
          </a:xfrm>
          <a:prstGeom prst="rect">
            <a:avLst/>
          </a:prstGeom>
          <a:noFill/>
          <a:ln/>
        </p:spPr>
        <p:txBody>
          <a:bodyPr wrap="square" rtlCol="0" anchor="ctr"/>
          <a:lstStyle/>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Understand: "Absolutely. What part are you thinking over?"</a:t>
            </a:r>
            <a:endParaRPr lang="en-US" sz="1050" dirty="0"/>
          </a:p>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If price: Reframe value per day. "$60/mo is $2/day for your whole household."</a:t>
            </a:r>
            <a:endParaRPr lang="en-US" sz="1050" dirty="0"/>
          </a:p>
        </p:txBody>
      </p:sp>
      <p:sp>
        <p:nvSpPr>
          <p:cNvPr id="10" name="Shape 8"/>
          <p:cNvSpPr/>
          <p:nvPr/>
        </p:nvSpPr>
        <p:spPr>
          <a:xfrm>
            <a:off x="365760" y="2423160"/>
            <a:ext cx="8412480" cy="1097280"/>
          </a:xfrm>
          <a:prstGeom prst="roundRect">
            <a:avLst>
              <a:gd name="adj" fmla="val 6667"/>
            </a:avLst>
          </a:prstGeom>
          <a:solidFill>
            <a:srgbClr val="F8FAFC"/>
          </a:solidFill>
          <a:ln w="6350">
            <a:solidFill>
              <a:srgbClr val="E2E8F0"/>
            </a:solidFill>
            <a:prstDash val="solid"/>
          </a:ln>
        </p:spPr>
      </p:sp>
      <p:sp>
        <p:nvSpPr>
          <p:cNvPr id="11" name="Text 9"/>
          <p:cNvSpPr/>
          <p:nvPr/>
        </p:nvSpPr>
        <p:spPr>
          <a:xfrm>
            <a:off x="548640" y="2468880"/>
            <a:ext cx="2286000" cy="1005840"/>
          </a:xfrm>
          <a:prstGeom prst="rect">
            <a:avLst/>
          </a:prstGeom>
          <a:noFill/>
          <a:ln/>
        </p:spPr>
        <p:txBody>
          <a:bodyPr wrap="square" rtlCol="0" anchor="ctr"/>
          <a:lstStyle/>
          <a:p>
            <a:pPr indent="0" marL="0">
              <a:buNone/>
            </a:pPr>
            <a:r>
              <a:rPr lang="en-US" sz="1300" b="1" dirty="0">
                <a:solidFill>
                  <a:srgbClr val="DC2626"/>
                </a:solidFill>
                <a:latin typeface="Segoe UI" pitchFamily="34" charset="0"/>
                <a:ea typeface="Segoe UI" pitchFamily="34" charset="-122"/>
                <a:cs typeface="Segoe UI" pitchFamily="34" charset="-120"/>
              </a:rPr>
              <a:t>"Too expensive"</a:t>
            </a:r>
            <a:endParaRPr lang="en-US" sz="1300" dirty="0"/>
          </a:p>
        </p:txBody>
      </p:sp>
      <p:sp>
        <p:nvSpPr>
          <p:cNvPr id="12" name="Text 10"/>
          <p:cNvSpPr/>
          <p:nvPr/>
        </p:nvSpPr>
        <p:spPr>
          <a:xfrm>
            <a:off x="3017520" y="2468880"/>
            <a:ext cx="5486400" cy="1005840"/>
          </a:xfrm>
          <a:prstGeom prst="rect">
            <a:avLst/>
          </a:prstGeom>
          <a:noFill/>
          <a:ln/>
        </p:spPr>
        <p:txBody>
          <a:bodyPr wrap="square" rtlCol="0" anchor="ctr"/>
          <a:lstStyle/>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Empathize: "I completely understand budget is important."</a:t>
            </a:r>
            <a:endParaRPr lang="en-US" sz="1050" dirty="0"/>
          </a:p>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Restate: "You mentioned you're paying $80 now. This actually saves you $20/month."</a:t>
            </a:r>
            <a:endParaRPr lang="en-US" sz="1050" dirty="0"/>
          </a:p>
        </p:txBody>
      </p:sp>
      <p:sp>
        <p:nvSpPr>
          <p:cNvPr id="13" name="Shape 11"/>
          <p:cNvSpPr/>
          <p:nvPr/>
        </p:nvSpPr>
        <p:spPr>
          <a:xfrm>
            <a:off x="365760" y="3657600"/>
            <a:ext cx="8412480" cy="1097280"/>
          </a:xfrm>
          <a:prstGeom prst="roundRect">
            <a:avLst>
              <a:gd name="adj" fmla="val 6667"/>
            </a:avLst>
          </a:prstGeom>
          <a:solidFill>
            <a:srgbClr val="FEF2F2"/>
          </a:solidFill>
          <a:ln w="6350">
            <a:solidFill>
              <a:srgbClr val="E2E8F0"/>
            </a:solidFill>
            <a:prstDash val="solid"/>
          </a:ln>
        </p:spPr>
      </p:sp>
      <p:sp>
        <p:nvSpPr>
          <p:cNvPr id="14" name="Text 12"/>
          <p:cNvSpPr/>
          <p:nvPr/>
        </p:nvSpPr>
        <p:spPr>
          <a:xfrm>
            <a:off x="548640" y="3703320"/>
            <a:ext cx="2286000" cy="1005840"/>
          </a:xfrm>
          <a:prstGeom prst="rect">
            <a:avLst/>
          </a:prstGeom>
          <a:noFill/>
          <a:ln/>
        </p:spPr>
        <p:txBody>
          <a:bodyPr wrap="square" rtlCol="0" anchor="ctr"/>
          <a:lstStyle/>
          <a:p>
            <a:pPr indent="0" marL="0">
              <a:buNone/>
            </a:pPr>
            <a:r>
              <a:rPr lang="en-US" sz="1300" b="1" dirty="0">
                <a:solidFill>
                  <a:srgbClr val="DC2626"/>
                </a:solidFill>
                <a:latin typeface="Segoe UI" pitchFamily="34" charset="0"/>
                <a:ea typeface="Segoe UI" pitchFamily="34" charset="-122"/>
                <a:cs typeface="Segoe UI" pitchFamily="34" charset="-120"/>
              </a:rPr>
              <a:t>"I'm under contract"</a:t>
            </a:r>
            <a:endParaRPr lang="en-US" sz="1300" dirty="0"/>
          </a:p>
        </p:txBody>
      </p:sp>
      <p:sp>
        <p:nvSpPr>
          <p:cNvPr id="15" name="Text 13"/>
          <p:cNvSpPr/>
          <p:nvPr/>
        </p:nvSpPr>
        <p:spPr>
          <a:xfrm>
            <a:off x="3017520" y="3703320"/>
            <a:ext cx="5486400" cy="1005840"/>
          </a:xfrm>
          <a:prstGeom prst="rect">
            <a:avLst/>
          </a:prstGeom>
          <a:noFill/>
          <a:ln/>
        </p:spPr>
        <p:txBody>
          <a:bodyPr wrap="square" rtlCol="0" anchor="ctr"/>
          <a:lstStyle/>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Understand: "When does your contract end?"</a:t>
            </a:r>
            <a:endParaRPr lang="en-US" sz="1050" dirty="0"/>
          </a:p>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Value: "Even with an ETF, the savings over 12 months often exceed the fee."</a:t>
            </a:r>
            <a:endParaRPr lang="en-US" sz="1050" dirty="0"/>
          </a:p>
        </p:txBody>
      </p:sp>
      <p:sp>
        <p:nvSpPr>
          <p:cNvPr id="16" name="Shape 14"/>
          <p:cNvSpPr/>
          <p:nvPr/>
        </p:nvSpPr>
        <p:spPr>
          <a:xfrm>
            <a:off x="365760" y="4892040"/>
            <a:ext cx="8412480" cy="1097280"/>
          </a:xfrm>
          <a:prstGeom prst="roundRect">
            <a:avLst>
              <a:gd name="adj" fmla="val 6667"/>
            </a:avLst>
          </a:prstGeom>
          <a:solidFill>
            <a:srgbClr val="F8FAFC"/>
          </a:solidFill>
          <a:ln w="6350">
            <a:solidFill>
              <a:srgbClr val="E2E8F0"/>
            </a:solidFill>
            <a:prstDash val="solid"/>
          </a:ln>
        </p:spPr>
      </p:sp>
      <p:sp>
        <p:nvSpPr>
          <p:cNvPr id="17" name="Text 15"/>
          <p:cNvSpPr/>
          <p:nvPr/>
        </p:nvSpPr>
        <p:spPr>
          <a:xfrm>
            <a:off x="548640" y="4937760"/>
            <a:ext cx="2286000" cy="1005840"/>
          </a:xfrm>
          <a:prstGeom prst="rect">
            <a:avLst/>
          </a:prstGeom>
          <a:noFill/>
          <a:ln/>
        </p:spPr>
        <p:txBody>
          <a:bodyPr wrap="square" rtlCol="0" anchor="ctr"/>
          <a:lstStyle/>
          <a:p>
            <a:pPr indent="0" marL="0">
              <a:buNone/>
            </a:pPr>
            <a:r>
              <a:rPr lang="en-US" sz="1300" b="1" dirty="0">
                <a:solidFill>
                  <a:srgbClr val="DC2626"/>
                </a:solidFill>
                <a:latin typeface="Segoe UI" pitchFamily="34" charset="0"/>
                <a:ea typeface="Segoe UI" pitchFamily="34" charset="-122"/>
                <a:cs typeface="Segoe UI" pitchFamily="34" charset="-120"/>
              </a:rPr>
              <a:t>"Not interested"</a:t>
            </a:r>
            <a:endParaRPr lang="en-US" sz="1300" dirty="0"/>
          </a:p>
        </p:txBody>
      </p:sp>
      <p:sp>
        <p:nvSpPr>
          <p:cNvPr id="18" name="Text 16"/>
          <p:cNvSpPr/>
          <p:nvPr/>
        </p:nvSpPr>
        <p:spPr>
          <a:xfrm>
            <a:off x="3017520" y="4937760"/>
            <a:ext cx="5486400" cy="1005840"/>
          </a:xfrm>
          <a:prstGeom prst="rect">
            <a:avLst/>
          </a:prstGeom>
          <a:noFill/>
          <a:ln/>
        </p:spPr>
        <p:txBody>
          <a:bodyPr wrap="square" rtlCol="0" anchor="ctr"/>
          <a:lstStyle/>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Probe: "Is it the product itself, or is this just not a good time?"</a:t>
            </a:r>
            <a:endParaRPr lang="en-US" sz="1050" dirty="0"/>
          </a:p>
          <a:p>
            <a:pPr indent="0" marL="0">
              <a:lnSpc>
                <a:spcPts val="1800"/>
              </a:lnSpc>
              <a:buNone/>
            </a:pPr>
            <a:r>
              <a:rPr lang="en-US" sz="1050" dirty="0">
                <a:solidFill>
                  <a:srgbClr val="1E293B"/>
                </a:solidFill>
                <a:latin typeface="Segoe UI" pitchFamily="34" charset="0"/>
                <a:ea typeface="Segoe UI" pitchFamily="34" charset="-122"/>
                <a:cs typeface="Segoe UI" pitchFamily="34" charset="-120"/>
              </a:rPr>
              <a:t>If timing: Respect it, but plant the seed with one benefit they'll remember.</a:t>
            </a:r>
            <a:endParaRPr lang="en-US" sz="1050" dirty="0"/>
          </a:p>
        </p:txBody>
      </p:sp>
      <p:sp>
        <p:nvSpPr>
          <p:cNvPr id="19" name="Text 17"/>
          <p:cNvSpPr/>
          <p:nvPr/>
        </p:nvSpPr>
        <p:spPr>
          <a:xfrm>
            <a:off x="457200" y="6126480"/>
            <a:ext cx="8229600" cy="320040"/>
          </a:xfrm>
          <a:prstGeom prst="rect">
            <a:avLst/>
          </a:prstGeom>
          <a:noFill/>
          <a:ln/>
        </p:spPr>
        <p:txBody>
          <a:bodyPr wrap="square" rtlCol="0" anchor="ctr"/>
          <a:lstStyle/>
          <a:p>
            <a:pPr indent="0" marL="0">
              <a:buNone/>
            </a:pPr>
            <a:r>
              <a:rPr lang="en-US" sz="1200" b="1" dirty="0">
                <a:solidFill>
                  <a:srgbClr val="DC2626"/>
                </a:solidFill>
                <a:latin typeface="Segoe UI" pitchFamily="34" charset="0"/>
                <a:ea typeface="Segoe UI" pitchFamily="34" charset="-122"/>
                <a:cs typeface="Segoe UI" pitchFamily="34" charset="-120"/>
              </a:rPr>
              <a:t>Always re-close after overcoming. Don't leave the sale hanging. Ask again with confidence.</a:t>
            </a:r>
            <a:endParaRPr lang="en-US" sz="1200" dirty="0"/>
          </a:p>
        </p:txBody>
      </p:sp>
      <p:sp>
        <p:nvSpPr>
          <p:cNvPr id="20" name="Text 18"/>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4 of 5  |  March 2026</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059669"/>
          </a:solidFill>
          <a:ln/>
        </p:spPr>
      </p:sp>
      <p:sp>
        <p:nvSpPr>
          <p:cNvPr id="3" name="Text 1"/>
          <p:cNvSpPr/>
          <p:nvPr/>
        </p:nvSpPr>
        <p:spPr>
          <a:xfrm>
            <a:off x="457200" y="137160"/>
            <a:ext cx="7315200" cy="411480"/>
          </a:xfrm>
          <a:prstGeom prst="rect">
            <a:avLst/>
          </a:prstGeom>
          <a:noFill/>
          <a:ln/>
        </p:spPr>
        <p:txBody>
          <a:bodyPr wrap="square" rtlCol="0" anchor="ctr"/>
          <a:lstStyle/>
          <a:p>
            <a:pPr indent="0" marL="0">
              <a:buNone/>
            </a:pPr>
            <a:r>
              <a:rPr lang="en-US" sz="2400" b="1" dirty="0">
                <a:solidFill>
                  <a:srgbClr val="FFFFFF"/>
                </a:solidFill>
                <a:latin typeface="Segoe UI" pitchFamily="34" charset="0"/>
                <a:ea typeface="Segoe UI" pitchFamily="34" charset="-122"/>
                <a:cs typeface="Segoe UI" pitchFamily="34" charset="-120"/>
              </a:rPr>
              <a:t>Putting It All Together</a:t>
            </a:r>
            <a:endParaRPr lang="en-US" sz="2400" dirty="0"/>
          </a:p>
        </p:txBody>
      </p:sp>
      <p:sp>
        <p:nvSpPr>
          <p:cNvPr id="4" name="Text 2"/>
          <p:cNvSpPr/>
          <p:nvPr/>
        </p:nvSpPr>
        <p:spPr>
          <a:xfrm>
            <a:off x="457200" y="548640"/>
            <a:ext cx="7315200" cy="274320"/>
          </a:xfrm>
          <a:prstGeom prst="rect">
            <a:avLst/>
          </a:prstGeom>
          <a:noFill/>
          <a:ln/>
        </p:spPr>
        <p:txBody>
          <a:bodyPr wrap="square" rtlCol="0" anchor="ctr"/>
          <a:lstStyle/>
          <a:p>
            <a:pPr indent="0" marL="0">
              <a:buNone/>
            </a:pPr>
            <a:r>
              <a:rPr lang="en-US" sz="1300" i="1" dirty="0">
                <a:solidFill>
                  <a:srgbClr val="FFFFFF"/>
                </a:solidFill>
                <a:latin typeface="Segoe UI" pitchFamily="34" charset="0"/>
                <a:ea typeface="Segoe UI" pitchFamily="34" charset="-122"/>
                <a:cs typeface="Segoe UI" pitchFamily="34" charset="-120"/>
              </a:rPr>
              <a:t>Full Call Flow Mastery</a:t>
            </a:r>
            <a:endParaRPr lang="en-US" sz="1300" dirty="0"/>
          </a:p>
        </p:txBody>
      </p:sp>
      <p:sp>
        <p:nvSpPr>
          <p:cNvPr id="5" name="Shape 3"/>
          <p:cNvSpPr/>
          <p:nvPr/>
        </p:nvSpPr>
        <p:spPr>
          <a:xfrm>
            <a:off x="7772400" y="182880"/>
            <a:ext cx="1097280" cy="594360"/>
          </a:xfrm>
          <a:prstGeom prst="roundRect">
            <a:avLst>
              <a:gd name="adj" fmla="val 15385"/>
            </a:avLst>
          </a:prstGeom>
          <a:solidFill>
            <a:srgbClr val="FFFFFF">
              <a:alpha val="80000"/>
            </a:srgbClr>
          </a:solidFill>
          <a:ln/>
        </p:spPr>
      </p:sp>
      <p:sp>
        <p:nvSpPr>
          <p:cNvPr id="6" name="Text 4"/>
          <p:cNvSpPr/>
          <p:nvPr/>
        </p:nvSpPr>
        <p:spPr>
          <a:xfrm>
            <a:off x="7772400" y="182880"/>
            <a:ext cx="1097280" cy="594360"/>
          </a:xfrm>
          <a:prstGeom prst="rect">
            <a:avLst/>
          </a:prstGeom>
          <a:noFill/>
          <a:ln/>
        </p:spPr>
        <p:txBody>
          <a:bodyPr wrap="square" rtlCol="0" anchor="ctr"/>
          <a:lstStyle/>
          <a:p>
            <a:pPr algn="ctr" indent="0" marL="0">
              <a:buNone/>
            </a:pPr>
            <a:r>
              <a:rPr lang="en-US" sz="1800" b="1" dirty="0">
                <a:solidFill>
                  <a:srgbClr val="FFFFFF"/>
                </a:solidFill>
                <a:latin typeface="Segoe UI" pitchFamily="34" charset="0"/>
                <a:ea typeface="Segoe UI" pitchFamily="34" charset="-122"/>
                <a:cs typeface="Segoe UI" pitchFamily="34" charset="-120"/>
              </a:rPr>
              <a:t>Day 5</a:t>
            </a:r>
            <a:endParaRPr lang="en-US" sz="1800" dirty="0"/>
          </a:p>
        </p:txBody>
      </p:sp>
      <p:sp>
        <p:nvSpPr>
          <p:cNvPr id="7" name="Shape 5"/>
          <p:cNvSpPr/>
          <p:nvPr/>
        </p:nvSpPr>
        <p:spPr>
          <a:xfrm>
            <a:off x="274320" y="1188720"/>
            <a:ext cx="1600200" cy="1645920"/>
          </a:xfrm>
          <a:prstGeom prst="roundRect">
            <a:avLst>
              <a:gd name="adj" fmla="val 5714"/>
            </a:avLst>
          </a:prstGeom>
          <a:solidFill>
            <a:srgbClr val="FFF7ED"/>
          </a:solidFill>
          <a:ln w="19050">
            <a:solidFill>
              <a:srgbClr val="FB923C"/>
            </a:solidFill>
            <a:prstDash val="solid"/>
          </a:ln>
        </p:spPr>
      </p:sp>
      <p:sp>
        <p:nvSpPr>
          <p:cNvPr id="8" name="Text 6"/>
          <p:cNvSpPr/>
          <p:nvPr/>
        </p:nvSpPr>
        <p:spPr>
          <a:xfrm>
            <a:off x="274320" y="1280160"/>
            <a:ext cx="1600200" cy="365760"/>
          </a:xfrm>
          <a:prstGeom prst="rect">
            <a:avLst/>
          </a:prstGeom>
          <a:noFill/>
          <a:ln/>
        </p:spPr>
        <p:txBody>
          <a:bodyPr wrap="square" rtlCol="0" anchor="ctr"/>
          <a:lstStyle/>
          <a:p>
            <a:pPr algn="ctr" indent="0" marL="0">
              <a:buNone/>
            </a:pPr>
            <a:r>
              <a:rPr lang="en-US" sz="1300" b="1" dirty="0">
                <a:solidFill>
                  <a:srgbClr val="FB923C"/>
                </a:solidFill>
                <a:latin typeface="Segoe UI" pitchFamily="34" charset="0"/>
                <a:ea typeface="Segoe UI" pitchFamily="34" charset="-122"/>
                <a:cs typeface="Segoe UI" pitchFamily="34" charset="-120"/>
              </a:rPr>
              <a:t>Connect</a:t>
            </a:r>
            <a:endParaRPr lang="en-US" sz="1300" dirty="0"/>
          </a:p>
        </p:txBody>
      </p:sp>
      <p:sp>
        <p:nvSpPr>
          <p:cNvPr id="9" name="Text 7"/>
          <p:cNvSpPr/>
          <p:nvPr/>
        </p:nvSpPr>
        <p:spPr>
          <a:xfrm>
            <a:off x="274320" y="1691640"/>
            <a:ext cx="1600200" cy="914400"/>
          </a:xfrm>
          <a:prstGeom prst="rect">
            <a:avLst/>
          </a:prstGeom>
          <a:noFill/>
          <a:ln/>
        </p:spPr>
        <p:txBody>
          <a:bodyPr wrap="square" rtlCol="0" anchor="ctr"/>
          <a:lstStyle/>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Greeting</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Agenda</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Disclosure</a:t>
            </a:r>
            <a:endParaRPr lang="en-US" sz="1000" dirty="0"/>
          </a:p>
        </p:txBody>
      </p:sp>
      <p:sp>
        <p:nvSpPr>
          <p:cNvPr id="10" name="Shape 8"/>
          <p:cNvSpPr/>
          <p:nvPr/>
        </p:nvSpPr>
        <p:spPr>
          <a:xfrm>
            <a:off x="2011680" y="1188720"/>
            <a:ext cx="1600200" cy="1645920"/>
          </a:xfrm>
          <a:prstGeom prst="roundRect">
            <a:avLst>
              <a:gd name="adj" fmla="val 5714"/>
            </a:avLst>
          </a:prstGeom>
          <a:solidFill>
            <a:srgbClr val="FAF5FF"/>
          </a:solidFill>
          <a:ln w="19050">
            <a:solidFill>
              <a:srgbClr val="A78BFA"/>
            </a:solidFill>
            <a:prstDash val="solid"/>
          </a:ln>
        </p:spPr>
      </p:sp>
      <p:sp>
        <p:nvSpPr>
          <p:cNvPr id="11" name="Text 9"/>
          <p:cNvSpPr/>
          <p:nvPr/>
        </p:nvSpPr>
        <p:spPr>
          <a:xfrm>
            <a:off x="2011680" y="1280160"/>
            <a:ext cx="1600200" cy="365760"/>
          </a:xfrm>
          <a:prstGeom prst="rect">
            <a:avLst/>
          </a:prstGeom>
          <a:noFill/>
          <a:ln/>
        </p:spPr>
        <p:txBody>
          <a:bodyPr wrap="square" rtlCol="0" anchor="ctr"/>
          <a:lstStyle/>
          <a:p>
            <a:pPr algn="ctr" indent="0" marL="0">
              <a:buNone/>
            </a:pPr>
            <a:r>
              <a:rPr lang="en-US" sz="1300" b="1" dirty="0">
                <a:solidFill>
                  <a:srgbClr val="A78BFA"/>
                </a:solidFill>
                <a:latin typeface="Segoe UI" pitchFamily="34" charset="0"/>
                <a:ea typeface="Segoe UI" pitchFamily="34" charset="-122"/>
                <a:cs typeface="Segoe UI" pitchFamily="34" charset="-120"/>
              </a:rPr>
              <a:t>Explore</a:t>
            </a:r>
            <a:endParaRPr lang="en-US" sz="1300" dirty="0"/>
          </a:p>
        </p:txBody>
      </p:sp>
      <p:sp>
        <p:nvSpPr>
          <p:cNvPr id="12" name="Text 10"/>
          <p:cNvSpPr/>
          <p:nvPr/>
        </p:nvSpPr>
        <p:spPr>
          <a:xfrm>
            <a:off x="2011680" y="1691640"/>
            <a:ext cx="1600200" cy="914400"/>
          </a:xfrm>
          <a:prstGeom prst="rect">
            <a:avLst/>
          </a:prstGeom>
          <a:noFill/>
          <a:ln/>
        </p:spPr>
        <p:txBody>
          <a:bodyPr wrap="square" rtlCol="0" anchor="ctr"/>
          <a:lstStyle/>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Users</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Usage</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Devices | Cost</a:t>
            </a:r>
            <a:endParaRPr lang="en-US" sz="1000" dirty="0"/>
          </a:p>
        </p:txBody>
      </p:sp>
      <p:sp>
        <p:nvSpPr>
          <p:cNvPr id="13" name="Shape 11"/>
          <p:cNvSpPr/>
          <p:nvPr/>
        </p:nvSpPr>
        <p:spPr>
          <a:xfrm>
            <a:off x="3749040" y="1188720"/>
            <a:ext cx="1600200" cy="1645920"/>
          </a:xfrm>
          <a:prstGeom prst="roundRect">
            <a:avLst>
              <a:gd name="adj" fmla="val 5714"/>
            </a:avLst>
          </a:prstGeom>
          <a:solidFill>
            <a:srgbClr val="F0FDF4"/>
          </a:solidFill>
          <a:ln w="19050">
            <a:solidFill>
              <a:srgbClr val="4ADE80"/>
            </a:solidFill>
            <a:prstDash val="solid"/>
          </a:ln>
        </p:spPr>
      </p:sp>
      <p:sp>
        <p:nvSpPr>
          <p:cNvPr id="14" name="Text 12"/>
          <p:cNvSpPr/>
          <p:nvPr/>
        </p:nvSpPr>
        <p:spPr>
          <a:xfrm>
            <a:off x="3749040" y="1280160"/>
            <a:ext cx="1600200" cy="365760"/>
          </a:xfrm>
          <a:prstGeom prst="rect">
            <a:avLst/>
          </a:prstGeom>
          <a:noFill/>
          <a:ln/>
        </p:spPr>
        <p:txBody>
          <a:bodyPr wrap="square" rtlCol="0" anchor="ctr"/>
          <a:lstStyle/>
          <a:p>
            <a:pPr algn="ctr" indent="0" marL="0">
              <a:buNone/>
            </a:pPr>
            <a:r>
              <a:rPr lang="en-US" sz="1300" b="1" dirty="0">
                <a:solidFill>
                  <a:srgbClr val="4ADE80"/>
                </a:solidFill>
                <a:latin typeface="Segoe UI" pitchFamily="34" charset="0"/>
                <a:ea typeface="Segoe UI" pitchFamily="34" charset="-122"/>
                <a:cs typeface="Segoe UI" pitchFamily="34" charset="-120"/>
              </a:rPr>
              <a:t>Consult</a:t>
            </a:r>
            <a:endParaRPr lang="en-US" sz="1300" dirty="0"/>
          </a:p>
        </p:txBody>
      </p:sp>
      <p:sp>
        <p:nvSpPr>
          <p:cNvPr id="15" name="Text 13"/>
          <p:cNvSpPr/>
          <p:nvPr/>
        </p:nvSpPr>
        <p:spPr>
          <a:xfrm>
            <a:off x="3749040" y="1691640"/>
            <a:ext cx="1600200" cy="914400"/>
          </a:xfrm>
          <a:prstGeom prst="rect">
            <a:avLst/>
          </a:prstGeom>
          <a:noFill/>
          <a:ln/>
        </p:spPr>
        <p:txBody>
          <a:bodyPr wrap="square" rtlCol="0" anchor="ctr"/>
          <a:lstStyle/>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Tie-backs</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Recommendation</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Labels</a:t>
            </a:r>
            <a:endParaRPr lang="en-US" sz="1000" dirty="0"/>
          </a:p>
        </p:txBody>
      </p:sp>
      <p:sp>
        <p:nvSpPr>
          <p:cNvPr id="16" name="Shape 14"/>
          <p:cNvSpPr/>
          <p:nvPr/>
        </p:nvSpPr>
        <p:spPr>
          <a:xfrm>
            <a:off x="5486400" y="1188720"/>
            <a:ext cx="1600200" cy="1645920"/>
          </a:xfrm>
          <a:prstGeom prst="roundRect">
            <a:avLst>
              <a:gd name="adj" fmla="val 5714"/>
            </a:avLst>
          </a:prstGeom>
          <a:solidFill>
            <a:srgbClr val="FFF1F2"/>
          </a:solidFill>
          <a:ln w="19050">
            <a:solidFill>
              <a:srgbClr val="FB7185"/>
            </a:solidFill>
            <a:prstDash val="solid"/>
          </a:ln>
        </p:spPr>
      </p:sp>
      <p:sp>
        <p:nvSpPr>
          <p:cNvPr id="17" name="Text 15"/>
          <p:cNvSpPr/>
          <p:nvPr/>
        </p:nvSpPr>
        <p:spPr>
          <a:xfrm>
            <a:off x="5486400" y="1280160"/>
            <a:ext cx="1600200" cy="365760"/>
          </a:xfrm>
          <a:prstGeom prst="rect">
            <a:avLst/>
          </a:prstGeom>
          <a:noFill/>
          <a:ln/>
        </p:spPr>
        <p:txBody>
          <a:bodyPr wrap="square" rtlCol="0" anchor="ctr"/>
          <a:lstStyle/>
          <a:p>
            <a:pPr algn="ctr" indent="0" marL="0">
              <a:buNone/>
            </a:pPr>
            <a:r>
              <a:rPr lang="en-US" sz="1300" b="1" dirty="0">
                <a:solidFill>
                  <a:srgbClr val="FB7185"/>
                </a:solidFill>
                <a:latin typeface="Segoe UI" pitchFamily="34" charset="0"/>
                <a:ea typeface="Segoe UI" pitchFamily="34" charset="-122"/>
                <a:cs typeface="Segoe UI" pitchFamily="34" charset="-120"/>
              </a:rPr>
              <a:t>Overcome</a:t>
            </a:r>
            <a:endParaRPr lang="en-US" sz="1300" dirty="0"/>
          </a:p>
        </p:txBody>
      </p:sp>
      <p:sp>
        <p:nvSpPr>
          <p:cNvPr id="18" name="Text 16"/>
          <p:cNvSpPr/>
          <p:nvPr/>
        </p:nvSpPr>
        <p:spPr>
          <a:xfrm>
            <a:off x="5486400" y="1691640"/>
            <a:ext cx="1600200" cy="914400"/>
          </a:xfrm>
          <a:prstGeom prst="rect">
            <a:avLst/>
          </a:prstGeom>
          <a:noFill/>
          <a:ln/>
        </p:spPr>
        <p:txBody>
          <a:bodyPr wrap="square" rtlCol="0" anchor="ctr"/>
          <a:lstStyle/>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Understand</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Empathize</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Restate | Value</a:t>
            </a:r>
            <a:endParaRPr lang="en-US" sz="1000" dirty="0"/>
          </a:p>
        </p:txBody>
      </p:sp>
      <p:sp>
        <p:nvSpPr>
          <p:cNvPr id="19" name="Shape 17"/>
          <p:cNvSpPr/>
          <p:nvPr/>
        </p:nvSpPr>
        <p:spPr>
          <a:xfrm>
            <a:off x="7223760" y="1188720"/>
            <a:ext cx="1600200" cy="1645920"/>
          </a:xfrm>
          <a:prstGeom prst="roundRect">
            <a:avLst>
              <a:gd name="adj" fmla="val 5714"/>
            </a:avLst>
          </a:prstGeom>
          <a:solidFill>
            <a:srgbClr val="F0FDFA"/>
          </a:solidFill>
          <a:ln w="19050">
            <a:solidFill>
              <a:srgbClr val="2DD4BF"/>
            </a:solidFill>
            <a:prstDash val="solid"/>
          </a:ln>
        </p:spPr>
      </p:sp>
      <p:sp>
        <p:nvSpPr>
          <p:cNvPr id="20" name="Text 18"/>
          <p:cNvSpPr/>
          <p:nvPr/>
        </p:nvSpPr>
        <p:spPr>
          <a:xfrm>
            <a:off x="7223760" y="1280160"/>
            <a:ext cx="1600200" cy="365760"/>
          </a:xfrm>
          <a:prstGeom prst="rect">
            <a:avLst/>
          </a:prstGeom>
          <a:noFill/>
          <a:ln/>
        </p:spPr>
        <p:txBody>
          <a:bodyPr wrap="square" rtlCol="0" anchor="ctr"/>
          <a:lstStyle/>
          <a:p>
            <a:pPr algn="ctr" indent="0" marL="0">
              <a:buNone/>
            </a:pPr>
            <a:r>
              <a:rPr lang="en-US" sz="1300" b="1" dirty="0">
                <a:solidFill>
                  <a:srgbClr val="2DD4BF"/>
                </a:solidFill>
                <a:latin typeface="Segoe UI" pitchFamily="34" charset="0"/>
                <a:ea typeface="Segoe UI" pitchFamily="34" charset="-122"/>
                <a:cs typeface="Segoe UI" pitchFamily="34" charset="-120"/>
              </a:rPr>
              <a:t>Review</a:t>
            </a:r>
            <a:endParaRPr lang="en-US" sz="1300" dirty="0"/>
          </a:p>
        </p:txBody>
      </p:sp>
      <p:sp>
        <p:nvSpPr>
          <p:cNvPr id="21" name="Text 19"/>
          <p:cNvSpPr/>
          <p:nvPr/>
        </p:nvSpPr>
        <p:spPr>
          <a:xfrm>
            <a:off x="7223760" y="1691640"/>
            <a:ext cx="1600200" cy="914400"/>
          </a:xfrm>
          <a:prstGeom prst="rect">
            <a:avLst/>
          </a:prstGeom>
          <a:noFill/>
          <a:ln/>
        </p:spPr>
        <p:txBody>
          <a:bodyPr wrap="square" rtlCol="0" anchor="ctr"/>
          <a:lstStyle/>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Reaffirm</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Summarize</a:t>
            </a:r>
            <a:endParaRPr lang="en-US" sz="1000" dirty="0"/>
          </a:p>
          <a:p>
            <a:pPr algn="ctr" indent="0" marL="0">
              <a:lnSpc>
                <a:spcPts val="1700"/>
              </a:lnSpc>
              <a:buNone/>
            </a:pPr>
            <a:r>
              <a:rPr lang="en-US" sz="1000" dirty="0">
                <a:solidFill>
                  <a:srgbClr val="475569"/>
                </a:solidFill>
                <a:latin typeface="Segoe UI" pitchFamily="34" charset="0"/>
                <a:ea typeface="Segoe UI" pitchFamily="34" charset="-122"/>
                <a:cs typeface="Segoe UI" pitchFamily="34" charset="-120"/>
              </a:rPr>
              <a:t>Close</a:t>
            </a:r>
            <a:endParaRPr lang="en-US" sz="1000" dirty="0"/>
          </a:p>
        </p:txBody>
      </p:sp>
      <p:sp>
        <p:nvSpPr>
          <p:cNvPr id="22" name="Shape 20"/>
          <p:cNvSpPr/>
          <p:nvPr/>
        </p:nvSpPr>
        <p:spPr>
          <a:xfrm>
            <a:off x="365760" y="3108960"/>
            <a:ext cx="8412480" cy="347472"/>
          </a:xfrm>
          <a:prstGeom prst="roundRect">
            <a:avLst>
              <a:gd name="adj" fmla="val 13158"/>
            </a:avLst>
          </a:prstGeom>
          <a:solidFill>
            <a:srgbClr val="059669"/>
          </a:solidFill>
          <a:ln/>
        </p:spPr>
      </p:sp>
      <p:sp>
        <p:nvSpPr>
          <p:cNvPr id="23" name="Text 21"/>
          <p:cNvSpPr/>
          <p:nvPr/>
        </p:nvSpPr>
        <p:spPr>
          <a:xfrm>
            <a:off x="548640" y="3108960"/>
            <a:ext cx="822960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  This Week's Journey</a:t>
            </a:r>
            <a:endParaRPr lang="en-US" sz="1100" dirty="0"/>
          </a:p>
        </p:txBody>
      </p:sp>
      <p:sp>
        <p:nvSpPr>
          <p:cNvPr id="24" name="Text 22"/>
          <p:cNvSpPr/>
          <p:nvPr/>
        </p:nvSpPr>
        <p:spPr>
          <a:xfrm>
            <a:off x="548640" y="3566160"/>
            <a:ext cx="731520" cy="320040"/>
          </a:xfrm>
          <a:prstGeom prst="rect">
            <a:avLst/>
          </a:prstGeom>
          <a:noFill/>
          <a:ln/>
        </p:spPr>
        <p:txBody>
          <a:bodyPr wrap="square" rtlCol="0" anchor="ctr"/>
          <a:lstStyle/>
          <a:p>
            <a:pPr indent="0" marL="0">
              <a:buNone/>
            </a:pPr>
            <a:r>
              <a:rPr lang="en-US" sz="1100" b="1" dirty="0">
                <a:solidFill>
                  <a:srgbClr val="6366F1"/>
                </a:solidFill>
                <a:latin typeface="Segoe UI" pitchFamily="34" charset="0"/>
                <a:ea typeface="Segoe UI" pitchFamily="34" charset="-122"/>
                <a:cs typeface="Segoe UI" pitchFamily="34" charset="-120"/>
              </a:rPr>
              <a:t>Day 1</a:t>
            </a:r>
            <a:endParaRPr lang="en-US" sz="1100" dirty="0"/>
          </a:p>
        </p:txBody>
      </p:sp>
      <p:sp>
        <p:nvSpPr>
          <p:cNvPr id="25" name="Text 23"/>
          <p:cNvSpPr/>
          <p:nvPr/>
        </p:nvSpPr>
        <p:spPr>
          <a:xfrm>
            <a:off x="1371600" y="3566160"/>
            <a:ext cx="7315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First 30 seconds. Smile, name, connection, disclosure.</a:t>
            </a:r>
            <a:endParaRPr lang="en-US" sz="1100" dirty="0"/>
          </a:p>
        </p:txBody>
      </p:sp>
      <p:sp>
        <p:nvSpPr>
          <p:cNvPr id="26" name="Text 24"/>
          <p:cNvSpPr/>
          <p:nvPr/>
        </p:nvSpPr>
        <p:spPr>
          <a:xfrm>
            <a:off x="548640" y="3977640"/>
            <a:ext cx="731520" cy="320040"/>
          </a:xfrm>
          <a:prstGeom prst="rect">
            <a:avLst/>
          </a:prstGeom>
          <a:noFill/>
          <a:ln/>
        </p:spPr>
        <p:txBody>
          <a:bodyPr wrap="square" rtlCol="0" anchor="ctr"/>
          <a:lstStyle/>
          <a:p>
            <a:pPr indent="0" marL="0">
              <a:buNone/>
            </a:pPr>
            <a:r>
              <a:rPr lang="en-US" sz="1100" b="1" dirty="0">
                <a:solidFill>
                  <a:srgbClr val="8B5CF6"/>
                </a:solidFill>
                <a:latin typeface="Segoe UI" pitchFamily="34" charset="0"/>
                <a:ea typeface="Segoe UI" pitchFamily="34" charset="-122"/>
                <a:cs typeface="Segoe UI" pitchFamily="34" charset="-120"/>
              </a:rPr>
              <a:t>Day 2</a:t>
            </a:r>
            <a:endParaRPr lang="en-US" sz="1100" dirty="0"/>
          </a:p>
        </p:txBody>
      </p:sp>
      <p:sp>
        <p:nvSpPr>
          <p:cNvPr id="27" name="Text 25"/>
          <p:cNvSpPr/>
          <p:nvPr/>
        </p:nvSpPr>
        <p:spPr>
          <a:xfrm>
            <a:off x="1371600" y="3977640"/>
            <a:ext cx="7315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Discovery. Open-ended. 4 pillars. Conversation, not interrogation.</a:t>
            </a:r>
            <a:endParaRPr lang="en-US" sz="1100" dirty="0"/>
          </a:p>
        </p:txBody>
      </p:sp>
      <p:sp>
        <p:nvSpPr>
          <p:cNvPr id="28" name="Text 26"/>
          <p:cNvSpPr/>
          <p:nvPr/>
        </p:nvSpPr>
        <p:spPr>
          <a:xfrm>
            <a:off x="548640" y="4389120"/>
            <a:ext cx="731520" cy="320040"/>
          </a:xfrm>
          <a:prstGeom prst="rect">
            <a:avLst/>
          </a:prstGeom>
          <a:noFill/>
          <a:ln/>
        </p:spPr>
        <p:txBody>
          <a:bodyPr wrap="square" rtlCol="0" anchor="ctr"/>
          <a:lstStyle/>
          <a:p>
            <a:pPr indent="0" marL="0">
              <a:buNone/>
            </a:pPr>
            <a:r>
              <a:rPr lang="en-US" sz="1100" b="1" dirty="0">
                <a:solidFill>
                  <a:srgbClr val="0891B2"/>
                </a:solidFill>
                <a:latin typeface="Segoe UI" pitchFamily="34" charset="0"/>
                <a:ea typeface="Segoe UI" pitchFamily="34" charset="-122"/>
                <a:cs typeface="Segoe UI" pitchFamily="34" charset="-120"/>
              </a:rPr>
              <a:t>Day 3</a:t>
            </a:r>
            <a:endParaRPr lang="en-US" sz="1100" dirty="0"/>
          </a:p>
        </p:txBody>
      </p:sp>
      <p:sp>
        <p:nvSpPr>
          <p:cNvPr id="29" name="Text 27"/>
          <p:cNvSpPr/>
          <p:nvPr/>
        </p:nvSpPr>
        <p:spPr>
          <a:xfrm>
            <a:off x="1371600" y="4389120"/>
            <a:ext cx="7315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Linking. Tie-backs. "Because." Benefits over features.</a:t>
            </a:r>
            <a:endParaRPr lang="en-US" sz="1100" dirty="0"/>
          </a:p>
        </p:txBody>
      </p:sp>
      <p:sp>
        <p:nvSpPr>
          <p:cNvPr id="30" name="Text 28"/>
          <p:cNvSpPr/>
          <p:nvPr/>
        </p:nvSpPr>
        <p:spPr>
          <a:xfrm>
            <a:off x="548640" y="4800600"/>
            <a:ext cx="731520" cy="320040"/>
          </a:xfrm>
          <a:prstGeom prst="rect">
            <a:avLst/>
          </a:prstGeom>
          <a:noFill/>
          <a:ln/>
        </p:spPr>
        <p:txBody>
          <a:bodyPr wrap="square" rtlCol="0" anchor="ctr"/>
          <a:lstStyle/>
          <a:p>
            <a:pPr indent="0" marL="0">
              <a:buNone/>
            </a:pPr>
            <a:r>
              <a:rPr lang="en-US" sz="1100" b="1" dirty="0">
                <a:solidFill>
                  <a:srgbClr val="DC2626"/>
                </a:solidFill>
                <a:latin typeface="Segoe UI" pitchFamily="34" charset="0"/>
                <a:ea typeface="Segoe UI" pitchFamily="34" charset="-122"/>
                <a:cs typeface="Segoe UI" pitchFamily="34" charset="-120"/>
              </a:rPr>
              <a:t>Day 4</a:t>
            </a:r>
            <a:endParaRPr lang="en-US" sz="1100" dirty="0"/>
          </a:p>
        </p:txBody>
      </p:sp>
      <p:sp>
        <p:nvSpPr>
          <p:cNvPr id="31" name="Text 29"/>
          <p:cNvSpPr/>
          <p:nvPr/>
        </p:nvSpPr>
        <p:spPr>
          <a:xfrm>
            <a:off x="1371600" y="4800600"/>
            <a:ext cx="7315200" cy="32004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Objections. Understand first. Empathize. Restate. Add value. Re-close.</a:t>
            </a:r>
            <a:endParaRPr lang="en-US" sz="1100" dirty="0"/>
          </a:p>
        </p:txBody>
      </p:sp>
      <p:sp>
        <p:nvSpPr>
          <p:cNvPr id="32" name="Shape 30"/>
          <p:cNvSpPr/>
          <p:nvPr/>
        </p:nvSpPr>
        <p:spPr>
          <a:xfrm>
            <a:off x="365760" y="5303520"/>
            <a:ext cx="8412480" cy="347472"/>
          </a:xfrm>
          <a:prstGeom prst="roundRect">
            <a:avLst>
              <a:gd name="adj" fmla="val 13158"/>
            </a:avLst>
          </a:prstGeom>
          <a:solidFill>
            <a:srgbClr val="059669"/>
          </a:solidFill>
          <a:ln/>
        </p:spPr>
      </p:sp>
      <p:sp>
        <p:nvSpPr>
          <p:cNvPr id="33" name="Text 31"/>
          <p:cNvSpPr/>
          <p:nvPr/>
        </p:nvSpPr>
        <p:spPr>
          <a:xfrm>
            <a:off x="548640" y="5303520"/>
            <a:ext cx="8229600" cy="347472"/>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  The 6 Catalyst Behaviors - Self Check</a:t>
            </a:r>
            <a:endParaRPr lang="en-US" sz="1100" dirty="0"/>
          </a:p>
        </p:txBody>
      </p:sp>
      <p:sp>
        <p:nvSpPr>
          <p:cNvPr id="34" name="Shape 32"/>
          <p:cNvSpPr/>
          <p:nvPr/>
        </p:nvSpPr>
        <p:spPr>
          <a:xfrm>
            <a:off x="274320" y="5715000"/>
            <a:ext cx="1371600" cy="777240"/>
          </a:xfrm>
          <a:prstGeom prst="roundRect">
            <a:avLst>
              <a:gd name="adj" fmla="val 7059"/>
            </a:avLst>
          </a:prstGeom>
          <a:solidFill>
            <a:srgbClr val="CFFAFE"/>
          </a:solidFill>
          <a:ln/>
        </p:spPr>
      </p:sp>
      <p:sp>
        <p:nvSpPr>
          <p:cNvPr id="35" name="Text 33"/>
          <p:cNvSpPr/>
          <p:nvPr/>
        </p:nvSpPr>
        <p:spPr>
          <a:xfrm>
            <a:off x="274320" y="5742432"/>
            <a:ext cx="1371600" cy="320040"/>
          </a:xfrm>
          <a:prstGeom prst="rect">
            <a:avLst/>
          </a:prstGeom>
          <a:noFill/>
          <a:ln/>
        </p:spPr>
        <p:txBody>
          <a:bodyPr wrap="square" rtlCol="0" anchor="ctr"/>
          <a:lstStyle/>
          <a:p>
            <a:pPr algn="ctr" indent="0" marL="0">
              <a:buNone/>
            </a:pPr>
            <a:r>
              <a:rPr lang="en-US" sz="850" b="1" dirty="0">
                <a:solidFill>
                  <a:srgbClr val="0891B2"/>
                </a:solidFill>
                <a:latin typeface="Segoe UI" pitchFamily="34" charset="0"/>
                <a:ea typeface="Segoe UI" pitchFamily="34" charset="-122"/>
                <a:cs typeface="Segoe UI" pitchFamily="34" charset="-120"/>
              </a:rPr>
              <a:t>Engage Actively</a:t>
            </a:r>
            <a:endParaRPr lang="en-US" sz="850" dirty="0"/>
          </a:p>
        </p:txBody>
      </p:sp>
      <p:sp>
        <p:nvSpPr>
          <p:cNvPr id="36" name="Text 34"/>
          <p:cNvSpPr/>
          <p:nvPr/>
        </p:nvSpPr>
        <p:spPr>
          <a:xfrm>
            <a:off x="274320" y="6035040"/>
            <a:ext cx="1371600" cy="365760"/>
          </a:xfrm>
          <a:prstGeom prst="rect">
            <a:avLst/>
          </a:prstGeom>
          <a:noFill/>
          <a:ln/>
        </p:spPr>
        <p:txBody>
          <a:bodyPr wrap="square" rtlCol="0" anchor="ctr"/>
          <a:lstStyle/>
          <a:p>
            <a:pPr algn="ctr" indent="0" marL="0">
              <a:buNone/>
            </a:pPr>
            <a:r>
              <a:rPr lang="en-US" sz="750" dirty="0">
                <a:solidFill>
                  <a:srgbClr val="475569"/>
                </a:solidFill>
                <a:latin typeface="Segoe UI" pitchFamily="34" charset="0"/>
                <a:ea typeface="Segoe UI" pitchFamily="34" charset="-122"/>
                <a:cs typeface="Segoe UI" pitchFamily="34" charset="-120"/>
              </a:rPr>
              <a:t>Conversation or transaction?</a:t>
            </a:r>
            <a:endParaRPr lang="en-US" sz="750" dirty="0"/>
          </a:p>
        </p:txBody>
      </p:sp>
      <p:sp>
        <p:nvSpPr>
          <p:cNvPr id="37" name="Shape 35"/>
          <p:cNvSpPr/>
          <p:nvPr/>
        </p:nvSpPr>
        <p:spPr>
          <a:xfrm>
            <a:off x="1737360" y="5715000"/>
            <a:ext cx="1371600" cy="777240"/>
          </a:xfrm>
          <a:prstGeom prst="roundRect">
            <a:avLst>
              <a:gd name="adj" fmla="val 7059"/>
            </a:avLst>
          </a:prstGeom>
          <a:solidFill>
            <a:srgbClr val="DBEAFE"/>
          </a:solidFill>
          <a:ln/>
        </p:spPr>
      </p:sp>
      <p:sp>
        <p:nvSpPr>
          <p:cNvPr id="38" name="Text 36"/>
          <p:cNvSpPr/>
          <p:nvPr/>
        </p:nvSpPr>
        <p:spPr>
          <a:xfrm>
            <a:off x="1737360" y="5742432"/>
            <a:ext cx="1371600" cy="320040"/>
          </a:xfrm>
          <a:prstGeom prst="rect">
            <a:avLst/>
          </a:prstGeom>
          <a:noFill/>
          <a:ln/>
        </p:spPr>
        <p:txBody>
          <a:bodyPr wrap="square" rtlCol="0" anchor="ctr"/>
          <a:lstStyle/>
          <a:p>
            <a:pPr algn="ctr" indent="0" marL="0">
              <a:buNone/>
            </a:pPr>
            <a:r>
              <a:rPr lang="en-US" sz="850" b="1" dirty="0">
                <a:solidFill>
                  <a:srgbClr val="1D4ED8"/>
                </a:solidFill>
                <a:latin typeface="Segoe UI" pitchFamily="34" charset="0"/>
                <a:ea typeface="Segoe UI" pitchFamily="34" charset="-122"/>
                <a:cs typeface="Segoe UI" pitchFamily="34" charset="-120"/>
              </a:rPr>
              <a:t>Own It</a:t>
            </a:r>
            <a:endParaRPr lang="en-US" sz="850" dirty="0"/>
          </a:p>
        </p:txBody>
      </p:sp>
      <p:sp>
        <p:nvSpPr>
          <p:cNvPr id="39" name="Text 37"/>
          <p:cNvSpPr/>
          <p:nvPr/>
        </p:nvSpPr>
        <p:spPr>
          <a:xfrm>
            <a:off x="1737360" y="6035040"/>
            <a:ext cx="1371600" cy="365760"/>
          </a:xfrm>
          <a:prstGeom prst="rect">
            <a:avLst/>
          </a:prstGeom>
          <a:noFill/>
          <a:ln/>
        </p:spPr>
        <p:txBody>
          <a:bodyPr wrap="square" rtlCol="0" anchor="ctr"/>
          <a:lstStyle/>
          <a:p>
            <a:pPr algn="ctr" indent="0" marL="0">
              <a:buNone/>
            </a:pPr>
            <a:r>
              <a:rPr lang="en-US" sz="750" dirty="0">
                <a:solidFill>
                  <a:srgbClr val="475569"/>
                </a:solidFill>
                <a:latin typeface="Segoe UI" pitchFamily="34" charset="0"/>
                <a:ea typeface="Segoe UI" pitchFamily="34" charset="-122"/>
                <a:cs typeface="Segoe UI" pitchFamily="34" charset="-120"/>
              </a:rPr>
              <a:t>Expertise + keeping them informed?</a:t>
            </a:r>
            <a:endParaRPr lang="en-US" sz="750" dirty="0"/>
          </a:p>
        </p:txBody>
      </p:sp>
      <p:sp>
        <p:nvSpPr>
          <p:cNvPr id="40" name="Shape 38"/>
          <p:cNvSpPr/>
          <p:nvPr/>
        </p:nvSpPr>
        <p:spPr>
          <a:xfrm>
            <a:off x="3200400" y="5715000"/>
            <a:ext cx="1371600" cy="777240"/>
          </a:xfrm>
          <a:prstGeom prst="roundRect">
            <a:avLst>
              <a:gd name="adj" fmla="val 7059"/>
            </a:avLst>
          </a:prstGeom>
          <a:solidFill>
            <a:srgbClr val="FEF3C7"/>
          </a:solidFill>
          <a:ln/>
        </p:spPr>
      </p:sp>
      <p:sp>
        <p:nvSpPr>
          <p:cNvPr id="41" name="Text 39"/>
          <p:cNvSpPr/>
          <p:nvPr/>
        </p:nvSpPr>
        <p:spPr>
          <a:xfrm>
            <a:off x="3200400" y="5742432"/>
            <a:ext cx="1371600" cy="320040"/>
          </a:xfrm>
          <a:prstGeom prst="rect">
            <a:avLst/>
          </a:prstGeom>
          <a:noFill/>
          <a:ln/>
        </p:spPr>
        <p:txBody>
          <a:bodyPr wrap="square" rtlCol="0" anchor="ctr"/>
          <a:lstStyle/>
          <a:p>
            <a:pPr algn="ctr" indent="0" marL="0">
              <a:buNone/>
            </a:pPr>
            <a:r>
              <a:rPr lang="en-US" sz="850" b="1" dirty="0">
                <a:solidFill>
                  <a:srgbClr val="D97706"/>
                </a:solidFill>
                <a:latin typeface="Segoe UI" pitchFamily="34" charset="0"/>
                <a:ea typeface="Segoe UI" pitchFamily="34" charset="-122"/>
                <a:cs typeface="Segoe UI" pitchFamily="34" charset="-120"/>
              </a:rPr>
              <a:t>Make It Effortless</a:t>
            </a:r>
            <a:endParaRPr lang="en-US" sz="850" dirty="0"/>
          </a:p>
        </p:txBody>
      </p:sp>
      <p:sp>
        <p:nvSpPr>
          <p:cNvPr id="42" name="Text 40"/>
          <p:cNvSpPr/>
          <p:nvPr/>
        </p:nvSpPr>
        <p:spPr>
          <a:xfrm>
            <a:off x="3200400" y="6035040"/>
            <a:ext cx="1371600" cy="365760"/>
          </a:xfrm>
          <a:prstGeom prst="rect">
            <a:avLst/>
          </a:prstGeom>
          <a:noFill/>
          <a:ln/>
        </p:spPr>
        <p:txBody>
          <a:bodyPr wrap="square" rtlCol="0" anchor="ctr"/>
          <a:lstStyle/>
          <a:p>
            <a:pPr algn="ctr" indent="0" marL="0">
              <a:buNone/>
            </a:pPr>
            <a:r>
              <a:rPr lang="en-US" sz="750" dirty="0">
                <a:solidFill>
                  <a:srgbClr val="475569"/>
                </a:solidFill>
                <a:latin typeface="Segoe UI" pitchFamily="34" charset="0"/>
                <a:ea typeface="Segoe UI" pitchFamily="34" charset="-122"/>
                <a:cs typeface="Segoe UI" pitchFamily="34" charset="-120"/>
              </a:rPr>
              <a:t>Digestible pieces?</a:t>
            </a:r>
            <a:endParaRPr lang="en-US" sz="750" dirty="0"/>
          </a:p>
        </p:txBody>
      </p:sp>
      <p:sp>
        <p:nvSpPr>
          <p:cNvPr id="43" name="Shape 41"/>
          <p:cNvSpPr/>
          <p:nvPr/>
        </p:nvSpPr>
        <p:spPr>
          <a:xfrm>
            <a:off x="4663440" y="5715000"/>
            <a:ext cx="1371600" cy="777240"/>
          </a:xfrm>
          <a:prstGeom prst="roundRect">
            <a:avLst>
              <a:gd name="adj" fmla="val 7059"/>
            </a:avLst>
          </a:prstGeom>
          <a:solidFill>
            <a:srgbClr val="EDE9FE"/>
          </a:solidFill>
          <a:ln/>
        </p:spPr>
      </p:sp>
      <p:sp>
        <p:nvSpPr>
          <p:cNvPr id="44" name="Text 42"/>
          <p:cNvSpPr/>
          <p:nvPr/>
        </p:nvSpPr>
        <p:spPr>
          <a:xfrm>
            <a:off x="4663440" y="5742432"/>
            <a:ext cx="1371600" cy="320040"/>
          </a:xfrm>
          <a:prstGeom prst="rect">
            <a:avLst/>
          </a:prstGeom>
          <a:noFill/>
          <a:ln/>
        </p:spPr>
        <p:txBody>
          <a:bodyPr wrap="square" rtlCol="0" anchor="ctr"/>
          <a:lstStyle/>
          <a:p>
            <a:pPr algn="ctr" indent="0" marL="0">
              <a:buNone/>
            </a:pPr>
            <a:r>
              <a:rPr lang="en-US" sz="850" b="1" dirty="0">
                <a:solidFill>
                  <a:srgbClr val="7C3AED"/>
                </a:solidFill>
                <a:latin typeface="Segoe UI" pitchFamily="34" charset="0"/>
                <a:ea typeface="Segoe UI" pitchFamily="34" charset="-122"/>
                <a:cs typeface="Segoe UI" pitchFamily="34" charset="-120"/>
              </a:rPr>
              <a:t>Discover Needs</a:t>
            </a:r>
            <a:endParaRPr lang="en-US" sz="850" dirty="0"/>
          </a:p>
        </p:txBody>
      </p:sp>
      <p:sp>
        <p:nvSpPr>
          <p:cNvPr id="45" name="Text 43"/>
          <p:cNvSpPr/>
          <p:nvPr/>
        </p:nvSpPr>
        <p:spPr>
          <a:xfrm>
            <a:off x="4663440" y="6035040"/>
            <a:ext cx="1371600" cy="365760"/>
          </a:xfrm>
          <a:prstGeom prst="rect">
            <a:avLst/>
          </a:prstGeom>
          <a:noFill/>
          <a:ln/>
        </p:spPr>
        <p:txBody>
          <a:bodyPr wrap="square" rtlCol="0" anchor="ctr"/>
          <a:lstStyle/>
          <a:p>
            <a:pPr algn="ctr" indent="0" marL="0">
              <a:buNone/>
            </a:pPr>
            <a:r>
              <a:rPr lang="en-US" sz="750" dirty="0">
                <a:solidFill>
                  <a:srgbClr val="475569"/>
                </a:solidFill>
                <a:latin typeface="Segoe UI" pitchFamily="34" charset="0"/>
                <a:ea typeface="Segoe UI" pitchFamily="34" charset="-122"/>
                <a:cs typeface="Segoe UI" pitchFamily="34" charset="-120"/>
              </a:rPr>
              <a:t>Questions that reveal something?</a:t>
            </a:r>
            <a:endParaRPr lang="en-US" sz="750" dirty="0"/>
          </a:p>
        </p:txBody>
      </p:sp>
      <p:sp>
        <p:nvSpPr>
          <p:cNvPr id="46" name="Shape 44"/>
          <p:cNvSpPr/>
          <p:nvPr/>
        </p:nvSpPr>
        <p:spPr>
          <a:xfrm>
            <a:off x="6126480" y="5715000"/>
            <a:ext cx="1371600" cy="777240"/>
          </a:xfrm>
          <a:prstGeom prst="roundRect">
            <a:avLst>
              <a:gd name="adj" fmla="val 7059"/>
            </a:avLst>
          </a:prstGeom>
          <a:solidFill>
            <a:srgbClr val="DCFCE7"/>
          </a:solidFill>
          <a:ln/>
        </p:spPr>
      </p:sp>
      <p:sp>
        <p:nvSpPr>
          <p:cNvPr id="47" name="Text 45"/>
          <p:cNvSpPr/>
          <p:nvPr/>
        </p:nvSpPr>
        <p:spPr>
          <a:xfrm>
            <a:off x="6126480" y="5742432"/>
            <a:ext cx="1371600" cy="320040"/>
          </a:xfrm>
          <a:prstGeom prst="rect">
            <a:avLst/>
          </a:prstGeom>
          <a:noFill/>
          <a:ln/>
        </p:spPr>
        <p:txBody>
          <a:bodyPr wrap="square" rtlCol="0" anchor="ctr"/>
          <a:lstStyle/>
          <a:p>
            <a:pPr algn="ctr" indent="0" marL="0">
              <a:buNone/>
            </a:pPr>
            <a:r>
              <a:rPr lang="en-US" sz="850" b="1" dirty="0">
                <a:solidFill>
                  <a:srgbClr val="16A34A"/>
                </a:solidFill>
                <a:latin typeface="Segoe UI" pitchFamily="34" charset="0"/>
                <a:ea typeface="Segoe UI" pitchFamily="34" charset="-122"/>
                <a:cs typeface="Segoe UI" pitchFamily="34" charset="-120"/>
              </a:rPr>
              <a:t>Be an Ambassador</a:t>
            </a:r>
            <a:endParaRPr lang="en-US" sz="850" dirty="0"/>
          </a:p>
        </p:txBody>
      </p:sp>
      <p:sp>
        <p:nvSpPr>
          <p:cNvPr id="48" name="Text 46"/>
          <p:cNvSpPr/>
          <p:nvPr/>
        </p:nvSpPr>
        <p:spPr>
          <a:xfrm>
            <a:off x="6126480" y="6035040"/>
            <a:ext cx="1371600" cy="365760"/>
          </a:xfrm>
          <a:prstGeom prst="rect">
            <a:avLst/>
          </a:prstGeom>
          <a:noFill/>
          <a:ln/>
        </p:spPr>
        <p:txBody>
          <a:bodyPr wrap="square" rtlCol="0" anchor="ctr"/>
          <a:lstStyle/>
          <a:p>
            <a:pPr algn="ctr" indent="0" marL="0">
              <a:buNone/>
            </a:pPr>
            <a:r>
              <a:rPr lang="en-US" sz="750" dirty="0">
                <a:solidFill>
                  <a:srgbClr val="475569"/>
                </a:solidFill>
                <a:latin typeface="Segoe UI" pitchFamily="34" charset="0"/>
                <a:ea typeface="Segoe UI" pitchFamily="34" charset="-122"/>
                <a:cs typeface="Segoe UI" pitchFamily="34" charset="-120"/>
              </a:rPr>
              <a:t>Products to this life?</a:t>
            </a:r>
            <a:endParaRPr lang="en-US" sz="750" dirty="0"/>
          </a:p>
        </p:txBody>
      </p:sp>
      <p:sp>
        <p:nvSpPr>
          <p:cNvPr id="49" name="Shape 47"/>
          <p:cNvSpPr/>
          <p:nvPr/>
        </p:nvSpPr>
        <p:spPr>
          <a:xfrm>
            <a:off x="7589520" y="5715000"/>
            <a:ext cx="1371600" cy="777240"/>
          </a:xfrm>
          <a:prstGeom prst="roundRect">
            <a:avLst>
              <a:gd name="adj" fmla="val 7059"/>
            </a:avLst>
          </a:prstGeom>
          <a:solidFill>
            <a:srgbClr val="FCE7F3"/>
          </a:solidFill>
          <a:ln/>
        </p:spPr>
      </p:sp>
      <p:sp>
        <p:nvSpPr>
          <p:cNvPr id="50" name="Text 48"/>
          <p:cNvSpPr/>
          <p:nvPr/>
        </p:nvSpPr>
        <p:spPr>
          <a:xfrm>
            <a:off x="7589520" y="5742432"/>
            <a:ext cx="1371600" cy="320040"/>
          </a:xfrm>
          <a:prstGeom prst="rect">
            <a:avLst/>
          </a:prstGeom>
          <a:noFill/>
          <a:ln/>
        </p:spPr>
        <p:txBody>
          <a:bodyPr wrap="square" rtlCol="0" anchor="ctr"/>
          <a:lstStyle/>
          <a:p>
            <a:pPr algn="ctr" indent="0" marL="0">
              <a:buNone/>
            </a:pPr>
            <a:r>
              <a:rPr lang="en-US" sz="850" b="1" dirty="0">
                <a:solidFill>
                  <a:srgbClr val="BE185D"/>
                </a:solidFill>
                <a:latin typeface="Segoe UI" pitchFamily="34" charset="0"/>
                <a:ea typeface="Segoe UI" pitchFamily="34" charset="-122"/>
                <a:cs typeface="Segoe UI" pitchFamily="34" charset="-120"/>
              </a:rPr>
              <a:t>Show Appreciation</a:t>
            </a:r>
            <a:endParaRPr lang="en-US" sz="850" dirty="0"/>
          </a:p>
        </p:txBody>
      </p:sp>
      <p:sp>
        <p:nvSpPr>
          <p:cNvPr id="51" name="Text 49"/>
          <p:cNvSpPr/>
          <p:nvPr/>
        </p:nvSpPr>
        <p:spPr>
          <a:xfrm>
            <a:off x="7589520" y="6035040"/>
            <a:ext cx="1371600" cy="365760"/>
          </a:xfrm>
          <a:prstGeom prst="rect">
            <a:avLst/>
          </a:prstGeom>
          <a:noFill/>
          <a:ln/>
        </p:spPr>
        <p:txBody>
          <a:bodyPr wrap="square" rtlCol="0" anchor="ctr"/>
          <a:lstStyle/>
          <a:p>
            <a:pPr algn="ctr" indent="0" marL="0">
              <a:buNone/>
            </a:pPr>
            <a:r>
              <a:rPr lang="en-US" sz="750" dirty="0">
                <a:solidFill>
                  <a:srgbClr val="475569"/>
                </a:solidFill>
                <a:latin typeface="Segoe UI" pitchFamily="34" charset="0"/>
                <a:ea typeface="Segoe UI" pitchFamily="34" charset="-122"/>
                <a:cs typeface="Segoe UI" pitchFamily="34" charset="-120"/>
              </a:rPr>
              <a:t>Valued, not processed?</a:t>
            </a:r>
            <a:endParaRPr lang="en-US" sz="750" dirty="0"/>
          </a:p>
        </p:txBody>
      </p:sp>
      <p:sp>
        <p:nvSpPr>
          <p:cNvPr id="52" name="Text 50"/>
          <p:cNvSpPr/>
          <p:nvPr/>
        </p:nvSpPr>
        <p:spPr>
          <a:xfrm>
            <a:off x="0" y="6583680"/>
            <a:ext cx="12192000" cy="274320"/>
          </a:xfrm>
          <a:prstGeom prst="rect">
            <a:avLst/>
          </a:prstGeom>
          <a:noFill/>
          <a:ln/>
        </p:spPr>
        <p:txBody>
          <a:bodyPr wrap="square" rtlCol="0" anchor="ctr"/>
          <a:lstStyle/>
          <a:p>
            <a:pPr algn="ctr" indent="0" marL="0">
              <a:buNone/>
            </a:pPr>
            <a:r>
              <a:rPr lang="en-US" sz="750" dirty="0">
                <a:solidFill>
                  <a:srgbClr val="64748B"/>
                </a:solidFill>
                <a:latin typeface="Segoe UI" pitchFamily="34" charset="0"/>
                <a:ea typeface="Segoe UI" pitchFamily="34" charset="-122"/>
                <a:cs typeface="Segoe UI" pitchFamily="34" charset="-120"/>
              </a:rPr>
              <a:t>Catalyst Coaching Bootcamp  |  DR Site  |  Day 5 of 5  |  March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Catalyst Coaching Bootcamp</dc:subject>
  <dc:creator>Performance Analytics</dc:creator>
  <cp:lastModifiedBy>Performance Analytics</cp:lastModifiedBy>
  <cp:revision>1</cp:revision>
  <dcterms:created xsi:type="dcterms:W3CDTF">2026-03-28T17:05:01Z</dcterms:created>
  <dcterms:modified xsi:type="dcterms:W3CDTF">2026-03-28T17:05:01Z</dcterms:modified>
</cp:coreProperties>
</file>