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6" d="100"/>
          <a:sy n="96" d="100"/>
        </p:scale>
        <p:origin x="86" y="2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2805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72A"/>
          </a:solidFill>
          <a:ln/>
        </p:spPr>
        <p:txBody>
          <a:bodyPr/>
          <a:lstStyle/>
          <a:p>
            <a:endParaRPr lang="en-US"/>
          </a:p>
        </p:txBody>
      </p:sp>
      <p:sp>
        <p:nvSpPr>
          <p:cNvPr id="3" name="Shape 1"/>
          <p:cNvSpPr/>
          <p:nvPr/>
        </p:nvSpPr>
        <p:spPr>
          <a:xfrm>
            <a:off x="0" y="3108960"/>
            <a:ext cx="12188952" cy="73152"/>
          </a:xfrm>
          <a:prstGeom prst="rect">
            <a:avLst/>
          </a:prstGeom>
          <a:solidFill>
            <a:srgbClr val="818CF8"/>
          </a:solidFill>
          <a:ln/>
        </p:spPr>
        <p:txBody>
          <a:bodyPr/>
          <a:lstStyle/>
          <a:p>
            <a:endParaRPr lang="en-US"/>
          </a:p>
        </p:txBody>
      </p:sp>
      <p:sp>
        <p:nvSpPr>
          <p:cNvPr id="4" name="Text 2"/>
          <p:cNvSpPr/>
          <p:nvPr/>
        </p:nvSpPr>
        <p:spPr>
          <a:xfrm>
            <a:off x="1097280" y="1097280"/>
            <a:ext cx="10058400" cy="1645920"/>
          </a:xfrm>
          <a:prstGeom prst="rect">
            <a:avLst/>
          </a:prstGeom>
          <a:noFill/>
          <a:ln/>
        </p:spPr>
        <p:txBody>
          <a:bodyPr wrap="square" rtlCol="0" anchor="ctr"/>
          <a:lstStyle/>
          <a:p>
            <a:pPr marL="0" indent="0">
              <a:lnSpc>
                <a:spcPts val="5400"/>
              </a:lnSpc>
              <a:buNone/>
            </a:pPr>
            <a:r>
              <a:rPr lang="en-US" sz="4400" b="1" dirty="0">
                <a:solidFill>
                  <a:srgbClr val="FFFFFF"/>
                </a:solidFill>
                <a:latin typeface="Segoe UI" pitchFamily="34" charset="0"/>
                <a:ea typeface="Segoe UI" pitchFamily="34" charset="-122"/>
                <a:cs typeface="Segoe UI" pitchFamily="34" charset="-120"/>
              </a:rPr>
              <a:t>Catalyst Coaching</a:t>
            </a:r>
            <a:endParaRPr lang="en-US" sz="4400" dirty="0"/>
          </a:p>
          <a:p>
            <a:pPr marL="0" indent="0">
              <a:lnSpc>
                <a:spcPts val="5400"/>
              </a:lnSpc>
              <a:buNone/>
            </a:pPr>
            <a:r>
              <a:rPr lang="en-US" sz="4400" b="1" dirty="0">
                <a:solidFill>
                  <a:srgbClr val="FFFFFF"/>
                </a:solidFill>
                <a:latin typeface="Segoe UI" pitchFamily="34" charset="0"/>
                <a:ea typeface="Segoe UI" pitchFamily="34" charset="-122"/>
                <a:cs typeface="Segoe UI" pitchFamily="34" charset="-120"/>
              </a:rPr>
              <a:t>Bootcamp</a:t>
            </a:r>
            <a:endParaRPr lang="en-US" sz="4400" dirty="0"/>
          </a:p>
        </p:txBody>
      </p:sp>
      <p:sp>
        <p:nvSpPr>
          <p:cNvPr id="5" name="Text 3"/>
          <p:cNvSpPr/>
          <p:nvPr/>
        </p:nvSpPr>
        <p:spPr>
          <a:xfrm>
            <a:off x="1097280" y="3383280"/>
            <a:ext cx="10058400" cy="457200"/>
          </a:xfrm>
          <a:prstGeom prst="rect">
            <a:avLst/>
          </a:prstGeom>
          <a:noFill/>
          <a:ln/>
        </p:spPr>
        <p:txBody>
          <a:bodyPr wrap="square" rtlCol="0" anchor="ctr"/>
          <a:lstStyle/>
          <a:p>
            <a:pPr marL="0" indent="0">
              <a:buNone/>
            </a:pPr>
            <a:r>
              <a:rPr lang="en-US" sz="2000" dirty="0">
                <a:solidFill>
                  <a:srgbClr val="94A3B8"/>
                </a:solidFill>
                <a:latin typeface="Segoe UI" pitchFamily="34" charset="0"/>
                <a:ea typeface="Segoe UI" pitchFamily="34" charset="-122"/>
                <a:cs typeface="Segoe UI" pitchFamily="34" charset="-120"/>
              </a:rPr>
              <a:t>5-Day Intensive  |  Santo Domingo, Dominican Republic</a:t>
            </a:r>
          </a:p>
        </p:txBody>
      </p:sp>
      <p:sp>
        <p:nvSpPr>
          <p:cNvPr id="6" name="Text 4"/>
          <p:cNvSpPr/>
          <p:nvPr/>
        </p:nvSpPr>
        <p:spPr>
          <a:xfrm>
            <a:off x="1097280" y="4114800"/>
            <a:ext cx="10058400" cy="1645920"/>
          </a:xfrm>
          <a:prstGeom prst="rect">
            <a:avLst/>
          </a:prstGeom>
          <a:noFill/>
          <a:ln/>
        </p:spPr>
        <p:txBody>
          <a:bodyPr wrap="square" rtlCol="0" anchor="ctr"/>
          <a:lstStyle/>
          <a:p>
            <a:pPr marL="0" indent="0">
              <a:lnSpc>
                <a:spcPts val="2400"/>
              </a:lnSpc>
              <a:buNone/>
            </a:pPr>
            <a:r>
              <a:rPr lang="en-US" sz="1400" dirty="0">
                <a:solidFill>
                  <a:srgbClr val="64748B"/>
                </a:solidFill>
                <a:latin typeface="Segoe UI" pitchFamily="34" charset="0"/>
                <a:ea typeface="Segoe UI" pitchFamily="34" charset="-122"/>
                <a:cs typeface="Segoe UI" pitchFamily="34" charset="-120"/>
              </a:rPr>
              <a:t>Xfinity Outbound Telesales</a:t>
            </a:r>
            <a:endParaRPr lang="en-US" sz="1400" dirty="0"/>
          </a:p>
          <a:p>
            <a:pPr marL="0" indent="0">
              <a:lnSpc>
                <a:spcPts val="2400"/>
              </a:lnSpc>
              <a:buNone/>
            </a:pPr>
            <a:r>
              <a:rPr lang="en-US" sz="1400" dirty="0">
                <a:solidFill>
                  <a:srgbClr val="64748B"/>
                </a:solidFill>
                <a:latin typeface="Segoe UI" pitchFamily="34" charset="0"/>
                <a:ea typeface="Segoe UI" pitchFamily="34" charset="-122"/>
                <a:cs typeface="Segoe UI" pitchFamily="34" charset="-120"/>
              </a:rPr>
              <a:t>Compass Navigator  |  Catalyst Quality Behaviors</a:t>
            </a:r>
            <a:endParaRPr lang="en-US" sz="1400" dirty="0"/>
          </a:p>
          <a:p>
            <a:pPr marL="0" indent="0">
              <a:lnSpc>
                <a:spcPts val="2400"/>
              </a:lnSpc>
              <a:buNone/>
            </a:pPr>
            <a:endParaRPr lang="en-US" sz="1400" dirty="0"/>
          </a:p>
          <a:p>
            <a:pPr marL="0" indent="0">
              <a:lnSpc>
                <a:spcPts val="2400"/>
              </a:lnSpc>
              <a:buNone/>
            </a:pPr>
            <a:r>
              <a:rPr lang="en-US" sz="1400" dirty="0">
                <a:solidFill>
                  <a:srgbClr val="64748B"/>
                </a:solidFill>
                <a:latin typeface="Segoe UI" pitchFamily="34" charset="0"/>
                <a:ea typeface="Segoe UI" pitchFamily="34" charset="-122"/>
                <a:cs typeface="Segoe UI" pitchFamily="34" charset="-120"/>
              </a:rPr>
              <a:t>March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6366F1"/>
          </a:solidFill>
          <a:ln/>
        </p:spPr>
        <p:txBody>
          <a:bodyPr/>
          <a:lstStyle/>
          <a:p>
            <a:endParaRPr lang="en-US"/>
          </a:p>
        </p:txBody>
      </p:sp>
      <p:sp>
        <p:nvSpPr>
          <p:cNvPr id="3" name="Shape 1"/>
          <p:cNvSpPr/>
          <p:nvPr/>
        </p:nvSpPr>
        <p:spPr>
          <a:xfrm>
            <a:off x="0" y="0"/>
            <a:ext cx="12188952" cy="1051560"/>
          </a:xfrm>
          <a:prstGeom prst="rect">
            <a:avLst/>
          </a:prstGeom>
          <a:solidFill>
            <a:srgbClr val="4F46E5">
              <a:alpha val="40000"/>
            </a:srgbClr>
          </a:solidFill>
          <a:ln/>
        </p:spPr>
        <p:txBody>
          <a:bodyPr/>
          <a:lstStyle/>
          <a:p>
            <a:endParaRPr lang="en-US"/>
          </a:p>
        </p:txBody>
      </p:sp>
      <p:sp>
        <p:nvSpPr>
          <p:cNvPr id="4" name="Text 2"/>
          <p:cNvSpPr/>
          <p:nvPr/>
        </p:nvSpPr>
        <p:spPr>
          <a:xfrm>
            <a:off x="457200" y="137160"/>
            <a:ext cx="9445752" cy="457200"/>
          </a:xfrm>
          <a:prstGeom prst="rect">
            <a:avLst/>
          </a:prstGeom>
          <a:noFill/>
          <a:ln/>
        </p:spPr>
        <p:txBody>
          <a:bodyPr wrap="square" rtlCol="0" anchor="ctr"/>
          <a:lstStyle/>
          <a:p>
            <a:pPr marL="0" indent="0">
              <a:buNone/>
            </a:pPr>
            <a:r>
              <a:rPr lang="en-US" sz="2800" b="1" dirty="0">
                <a:solidFill>
                  <a:srgbClr val="FFFFFF"/>
                </a:solidFill>
                <a:latin typeface="Segoe UI" pitchFamily="34" charset="0"/>
                <a:ea typeface="Segoe UI" pitchFamily="34" charset="-122"/>
                <a:cs typeface="Segoe UI" pitchFamily="34" charset="-120"/>
              </a:rPr>
              <a:t>The Power of the First 30 Seconds</a:t>
            </a:r>
            <a:endParaRPr lang="en-US" sz="2800" dirty="0"/>
          </a:p>
        </p:txBody>
      </p:sp>
      <p:sp>
        <p:nvSpPr>
          <p:cNvPr id="5" name="Text 3"/>
          <p:cNvSpPr/>
          <p:nvPr/>
        </p:nvSpPr>
        <p:spPr>
          <a:xfrm>
            <a:off x="457200" y="594360"/>
            <a:ext cx="9445752" cy="274320"/>
          </a:xfrm>
          <a:prstGeom prst="rect">
            <a:avLst/>
          </a:prstGeom>
          <a:noFill/>
          <a:ln/>
        </p:spPr>
        <p:txBody>
          <a:bodyPr wrap="square" rtlCol="0" anchor="ctr"/>
          <a:lstStyle/>
          <a:p>
            <a:pPr marL="0" indent="0">
              <a:buNone/>
            </a:pPr>
            <a:r>
              <a:rPr lang="en-US" sz="1400" i="1" dirty="0">
                <a:solidFill>
                  <a:srgbClr val="FFFFFF">
                    <a:alpha val="85000"/>
                  </a:srgbClr>
                </a:solidFill>
                <a:latin typeface="Segoe UI" pitchFamily="34" charset="0"/>
                <a:ea typeface="Segoe UI" pitchFamily="34" charset="-122"/>
                <a:cs typeface="Segoe UI" pitchFamily="34" charset="-120"/>
              </a:rPr>
              <a:t>Positive Introduction</a:t>
            </a:r>
            <a:endParaRPr lang="en-US" sz="1400" dirty="0"/>
          </a:p>
        </p:txBody>
      </p:sp>
      <p:sp>
        <p:nvSpPr>
          <p:cNvPr id="6" name="Shape 4"/>
          <p:cNvSpPr/>
          <p:nvPr/>
        </p:nvSpPr>
        <p:spPr>
          <a:xfrm>
            <a:off x="10543032" y="182880"/>
            <a:ext cx="1188720" cy="685800"/>
          </a:xfrm>
          <a:prstGeom prst="roundRect">
            <a:avLst>
              <a:gd name="adj" fmla="val 13333"/>
            </a:avLst>
          </a:prstGeom>
          <a:solidFill>
            <a:srgbClr val="FFFFFF">
              <a:alpha val="20000"/>
            </a:srgbClr>
          </a:solidFill>
          <a:ln/>
        </p:spPr>
        <p:txBody>
          <a:bodyPr/>
          <a:lstStyle/>
          <a:p>
            <a:endParaRPr lang="en-US"/>
          </a:p>
        </p:txBody>
      </p:sp>
      <p:sp>
        <p:nvSpPr>
          <p:cNvPr id="7" name="Text 5"/>
          <p:cNvSpPr/>
          <p:nvPr/>
        </p:nvSpPr>
        <p:spPr>
          <a:xfrm>
            <a:off x="10543032" y="182880"/>
            <a:ext cx="1188720" cy="68580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Day 1</a:t>
            </a:r>
            <a:endParaRPr lang="en-US" sz="2000" dirty="0"/>
          </a:p>
        </p:txBody>
      </p:sp>
      <p:sp>
        <p:nvSpPr>
          <p:cNvPr id="8" name="Text 6"/>
          <p:cNvSpPr/>
          <p:nvPr/>
        </p:nvSpPr>
        <p:spPr>
          <a:xfrm>
            <a:off x="457200" y="1188720"/>
            <a:ext cx="5500116" cy="274320"/>
          </a:xfrm>
          <a:prstGeom prst="rect">
            <a:avLst/>
          </a:prstGeom>
          <a:noFill/>
          <a:ln/>
        </p:spPr>
        <p:txBody>
          <a:bodyPr wrap="square" rtlCol="0" anchor="ctr"/>
          <a:lstStyle/>
          <a:p>
            <a:pPr marL="0" indent="0">
              <a:buNone/>
            </a:pPr>
            <a:r>
              <a:rPr lang="en-US" sz="1600" b="1" dirty="0">
                <a:solidFill>
                  <a:srgbClr val="1E293B"/>
                </a:solidFill>
                <a:latin typeface="Segoe UI" pitchFamily="34" charset="0"/>
                <a:ea typeface="Segoe UI" pitchFamily="34" charset="-122"/>
                <a:cs typeface="Segoe UI" pitchFamily="34" charset="-120"/>
              </a:rPr>
              <a:t>Why This Matters</a:t>
            </a:r>
            <a:endParaRPr lang="en-US" sz="1600" dirty="0"/>
          </a:p>
        </p:txBody>
      </p:sp>
      <p:sp>
        <p:nvSpPr>
          <p:cNvPr id="9" name="Text 7"/>
          <p:cNvSpPr/>
          <p:nvPr/>
        </p:nvSpPr>
        <p:spPr>
          <a:xfrm>
            <a:off x="457200" y="1463040"/>
            <a:ext cx="5500116" cy="457200"/>
          </a:xfrm>
          <a:prstGeom prst="rect">
            <a:avLst/>
          </a:prstGeom>
          <a:noFill/>
          <a:ln/>
        </p:spPr>
        <p:txBody>
          <a:bodyPr wrap="square" rtlCol="0" anchor="ctr"/>
          <a:lstStyle/>
          <a:p>
            <a:pPr marL="0" indent="0">
              <a:lnSpc>
                <a:spcPts val="2000"/>
              </a:lnSpc>
              <a:buNone/>
            </a:pPr>
            <a:r>
              <a:rPr lang="en-US" sz="1100" dirty="0">
                <a:solidFill>
                  <a:srgbClr val="475569"/>
                </a:solidFill>
                <a:latin typeface="Segoe UI" pitchFamily="34" charset="0"/>
                <a:ea typeface="Segoe UI" pitchFamily="34" charset="-122"/>
                <a:cs typeface="Segoe UI" pitchFamily="34" charset="-120"/>
              </a:rPr>
              <a:t>Outbound telesales is an interruption. You have 30 seconds to earn their willingness to stay on the line.</a:t>
            </a:r>
            <a:endParaRPr lang="en-US" sz="1100" dirty="0"/>
          </a:p>
        </p:txBody>
      </p:sp>
      <p:sp>
        <p:nvSpPr>
          <p:cNvPr id="10" name="Shape 8"/>
          <p:cNvSpPr/>
          <p:nvPr/>
        </p:nvSpPr>
        <p:spPr>
          <a:xfrm>
            <a:off x="457200" y="1965960"/>
            <a:ext cx="11274552" cy="365760"/>
          </a:xfrm>
          <a:prstGeom prst="roundRect">
            <a:avLst>
              <a:gd name="adj" fmla="val 15000"/>
            </a:avLst>
          </a:prstGeom>
          <a:solidFill>
            <a:srgbClr val="6366F1"/>
          </a:solidFill>
          <a:ln/>
        </p:spPr>
        <p:txBody>
          <a:bodyPr/>
          <a:lstStyle/>
          <a:p>
            <a:endParaRPr lang="en-US"/>
          </a:p>
        </p:txBody>
      </p:sp>
      <p:sp>
        <p:nvSpPr>
          <p:cNvPr id="11" name="Text 9"/>
          <p:cNvSpPr/>
          <p:nvPr/>
        </p:nvSpPr>
        <p:spPr>
          <a:xfrm>
            <a:off x="640080" y="1965960"/>
            <a:ext cx="10908792" cy="36576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What "Effectively Demonstrated" Looks Like</a:t>
            </a:r>
            <a:endParaRPr lang="en-US" sz="1200" dirty="0"/>
          </a:p>
        </p:txBody>
      </p:sp>
      <p:sp>
        <p:nvSpPr>
          <p:cNvPr id="12" name="Text 10"/>
          <p:cNvSpPr/>
          <p:nvPr/>
        </p:nvSpPr>
        <p:spPr>
          <a:xfrm>
            <a:off x="640080" y="2423160"/>
            <a:ext cx="5225796" cy="320040"/>
          </a:xfrm>
          <a:prstGeom prst="rect">
            <a:avLst/>
          </a:prstGeom>
          <a:noFill/>
          <a:ln/>
        </p:spPr>
        <p:txBody>
          <a:bodyPr wrap="square" rtlCol="0" anchor="ctr"/>
          <a:lstStyle/>
          <a:p>
            <a:pPr marL="0" indent="0">
              <a:buNone/>
            </a:pPr>
            <a:r>
              <a:rPr lang="en-US" sz="1100" dirty="0">
                <a:solidFill>
                  <a:srgbClr val="4F46E5"/>
                </a:solidFill>
                <a:latin typeface="Segoe UI" pitchFamily="34" charset="0"/>
                <a:ea typeface="Segoe UI" pitchFamily="34" charset="-122"/>
                <a:cs typeface="Segoe UI" pitchFamily="34" charset="-120"/>
              </a:rPr>
              <a:t>•  </a:t>
            </a:r>
            <a:r>
              <a:rPr lang="en-US" sz="1100" b="1" dirty="0">
                <a:solidFill>
                  <a:srgbClr val="4F46E5"/>
                </a:solidFill>
                <a:latin typeface="Segoe UI" pitchFamily="34" charset="0"/>
                <a:ea typeface="Segoe UI" pitchFamily="34" charset="-122"/>
                <a:cs typeface="Segoe UI" pitchFamily="34" charset="-120"/>
              </a:rPr>
              <a:t>Genuine warmth</a:t>
            </a:r>
            <a:r>
              <a:rPr lang="en-US" sz="1100" dirty="0">
                <a:solidFill>
                  <a:srgbClr val="1E293B"/>
                </a:solidFill>
                <a:latin typeface="Segoe UI" pitchFamily="34" charset="0"/>
                <a:ea typeface="Segoe UI" pitchFamily="34" charset="-122"/>
                <a:cs typeface="Segoe UI" pitchFamily="34" charset="-120"/>
              </a:rPr>
              <a:t>  the customer hears a smile, not a script</a:t>
            </a:r>
            <a:endParaRPr lang="en-US" sz="1100" dirty="0"/>
          </a:p>
        </p:txBody>
      </p:sp>
      <p:sp>
        <p:nvSpPr>
          <p:cNvPr id="13" name="Text 11"/>
          <p:cNvSpPr/>
          <p:nvPr/>
        </p:nvSpPr>
        <p:spPr>
          <a:xfrm>
            <a:off x="640080" y="2743200"/>
            <a:ext cx="5225796" cy="320040"/>
          </a:xfrm>
          <a:prstGeom prst="rect">
            <a:avLst/>
          </a:prstGeom>
          <a:noFill/>
          <a:ln/>
        </p:spPr>
        <p:txBody>
          <a:bodyPr wrap="square" rtlCol="0" anchor="ctr"/>
          <a:lstStyle/>
          <a:p>
            <a:pPr marL="0" indent="0">
              <a:buNone/>
            </a:pPr>
            <a:r>
              <a:rPr lang="en-US" sz="1100" dirty="0">
                <a:solidFill>
                  <a:srgbClr val="4F46E5"/>
                </a:solidFill>
                <a:latin typeface="Segoe UI" pitchFamily="34" charset="0"/>
                <a:ea typeface="Segoe UI" pitchFamily="34" charset="-122"/>
                <a:cs typeface="Segoe UI" pitchFamily="34" charset="-120"/>
              </a:rPr>
              <a:t>•  </a:t>
            </a:r>
            <a:r>
              <a:rPr lang="en-US" sz="1100" b="1" dirty="0">
                <a:solidFill>
                  <a:srgbClr val="4F46E5"/>
                </a:solidFill>
                <a:latin typeface="Segoe UI" pitchFamily="34" charset="0"/>
                <a:ea typeface="Segoe UI" pitchFamily="34" charset="-122"/>
                <a:cs typeface="Segoe UI" pitchFamily="34" charset="-120"/>
              </a:rPr>
              <a:t>Natural pace</a:t>
            </a:r>
            <a:r>
              <a:rPr lang="en-US" sz="1100" dirty="0">
                <a:solidFill>
                  <a:srgbClr val="1E293B"/>
                </a:solidFill>
                <a:latin typeface="Segoe UI" pitchFamily="34" charset="0"/>
                <a:ea typeface="Segoe UI" pitchFamily="34" charset="-122"/>
                <a:cs typeface="Segoe UI" pitchFamily="34" charset="-120"/>
              </a:rPr>
              <a:t>  not rushed, not robotic</a:t>
            </a:r>
            <a:endParaRPr lang="en-US" sz="1100" dirty="0"/>
          </a:p>
        </p:txBody>
      </p:sp>
      <p:sp>
        <p:nvSpPr>
          <p:cNvPr id="14" name="Text 12"/>
          <p:cNvSpPr/>
          <p:nvPr/>
        </p:nvSpPr>
        <p:spPr>
          <a:xfrm>
            <a:off x="640080" y="3063240"/>
            <a:ext cx="5225796" cy="320040"/>
          </a:xfrm>
          <a:prstGeom prst="rect">
            <a:avLst/>
          </a:prstGeom>
          <a:noFill/>
          <a:ln/>
        </p:spPr>
        <p:txBody>
          <a:bodyPr wrap="square" rtlCol="0" anchor="ctr"/>
          <a:lstStyle/>
          <a:p>
            <a:pPr marL="0" indent="0">
              <a:buNone/>
            </a:pPr>
            <a:r>
              <a:rPr lang="en-US" sz="1100" dirty="0">
                <a:solidFill>
                  <a:srgbClr val="4F46E5"/>
                </a:solidFill>
                <a:latin typeface="Segoe UI" pitchFamily="34" charset="0"/>
                <a:ea typeface="Segoe UI" pitchFamily="34" charset="-122"/>
                <a:cs typeface="Segoe UI" pitchFamily="34" charset="-120"/>
              </a:rPr>
              <a:t>•  </a:t>
            </a:r>
            <a:r>
              <a:rPr lang="en-US" sz="1100" b="1" dirty="0">
                <a:solidFill>
                  <a:srgbClr val="4F46E5"/>
                </a:solidFill>
                <a:latin typeface="Segoe UI" pitchFamily="34" charset="0"/>
                <a:ea typeface="Segoe UI" pitchFamily="34" charset="-122"/>
                <a:cs typeface="Segoe UI" pitchFamily="34" charset="-120"/>
              </a:rPr>
              <a:t>Personal connection</a:t>
            </a:r>
            <a:r>
              <a:rPr lang="en-US" sz="1100" dirty="0">
                <a:solidFill>
                  <a:srgbClr val="1E293B"/>
                </a:solidFill>
                <a:latin typeface="Segoe UI" pitchFamily="34" charset="0"/>
                <a:ea typeface="Segoe UI" pitchFamily="34" charset="-122"/>
                <a:cs typeface="Segoe UI" pitchFamily="34" charset="-120"/>
              </a:rPr>
              <a:t>  pause between their name and the pitch</a:t>
            </a:r>
            <a:endParaRPr lang="en-US" sz="1100" dirty="0"/>
          </a:p>
        </p:txBody>
      </p:sp>
      <p:sp>
        <p:nvSpPr>
          <p:cNvPr id="15" name="Text 13"/>
          <p:cNvSpPr/>
          <p:nvPr/>
        </p:nvSpPr>
        <p:spPr>
          <a:xfrm>
            <a:off x="640080" y="3383280"/>
            <a:ext cx="5225796" cy="320040"/>
          </a:xfrm>
          <a:prstGeom prst="rect">
            <a:avLst/>
          </a:prstGeom>
          <a:noFill/>
          <a:ln/>
        </p:spPr>
        <p:txBody>
          <a:bodyPr wrap="square" rtlCol="0" anchor="ctr"/>
          <a:lstStyle/>
          <a:p>
            <a:pPr marL="0" indent="0">
              <a:buNone/>
            </a:pPr>
            <a:r>
              <a:rPr lang="en-US" sz="1100" dirty="0">
                <a:solidFill>
                  <a:srgbClr val="4F46E5"/>
                </a:solidFill>
                <a:latin typeface="Segoe UI" pitchFamily="34" charset="0"/>
                <a:ea typeface="Segoe UI" pitchFamily="34" charset="-122"/>
                <a:cs typeface="Segoe UI" pitchFamily="34" charset="-120"/>
              </a:rPr>
              <a:t>•  </a:t>
            </a:r>
            <a:r>
              <a:rPr lang="en-US" sz="1100" b="1" dirty="0">
                <a:solidFill>
                  <a:srgbClr val="4F46E5"/>
                </a:solidFill>
                <a:latin typeface="Segoe UI" pitchFamily="34" charset="0"/>
                <a:ea typeface="Segoe UI" pitchFamily="34" charset="-122"/>
                <a:cs typeface="Segoe UI" pitchFamily="34" charset="-120"/>
              </a:rPr>
              <a:t>Pre-call prep</a:t>
            </a:r>
            <a:r>
              <a:rPr lang="en-US" sz="1100" dirty="0">
                <a:solidFill>
                  <a:srgbClr val="1E293B"/>
                </a:solidFill>
                <a:latin typeface="Segoe UI" pitchFamily="34" charset="0"/>
                <a:ea typeface="Segoe UI" pitchFamily="34" charset="-122"/>
                <a:cs typeface="Segoe UI" pitchFamily="34" charset="-120"/>
              </a:rPr>
              <a:t>  use their name early (existing customers)</a:t>
            </a:r>
            <a:endParaRPr lang="en-US" sz="1100" dirty="0"/>
          </a:p>
        </p:txBody>
      </p:sp>
      <p:sp>
        <p:nvSpPr>
          <p:cNvPr id="16" name="Text 14"/>
          <p:cNvSpPr/>
          <p:nvPr/>
        </p:nvSpPr>
        <p:spPr>
          <a:xfrm>
            <a:off x="640080" y="3703320"/>
            <a:ext cx="5225796" cy="320040"/>
          </a:xfrm>
          <a:prstGeom prst="rect">
            <a:avLst/>
          </a:prstGeom>
          <a:noFill/>
          <a:ln/>
        </p:spPr>
        <p:txBody>
          <a:bodyPr wrap="square" rtlCol="0" anchor="ctr"/>
          <a:lstStyle/>
          <a:p>
            <a:pPr marL="0" indent="0">
              <a:buNone/>
            </a:pPr>
            <a:r>
              <a:rPr lang="en-US" sz="1100" dirty="0">
                <a:solidFill>
                  <a:srgbClr val="4F46E5"/>
                </a:solidFill>
                <a:latin typeface="Segoe UI" pitchFamily="34" charset="0"/>
                <a:ea typeface="Segoe UI" pitchFamily="34" charset="-122"/>
                <a:cs typeface="Segoe UI" pitchFamily="34" charset="-120"/>
              </a:rPr>
              <a:t>•  </a:t>
            </a:r>
            <a:r>
              <a:rPr lang="en-US" sz="1100" b="1" dirty="0">
                <a:solidFill>
                  <a:srgbClr val="4F46E5"/>
                </a:solidFill>
                <a:latin typeface="Segoe UI" pitchFamily="34" charset="0"/>
                <a:ea typeface="Segoe UI" pitchFamily="34" charset="-122"/>
                <a:cs typeface="Segoe UI" pitchFamily="34" charset="-120"/>
              </a:rPr>
              <a:t>Recording disclosure</a:t>
            </a:r>
            <a:r>
              <a:rPr lang="en-US" sz="1100" dirty="0">
                <a:solidFill>
                  <a:srgbClr val="1E293B"/>
                </a:solidFill>
                <a:latin typeface="Segoe UI" pitchFamily="34" charset="0"/>
                <a:ea typeface="Segoe UI" pitchFamily="34" charset="-122"/>
                <a:cs typeface="Segoe UI" pitchFamily="34" charset="-120"/>
              </a:rPr>
              <a:t>  delivered naturally before discovery</a:t>
            </a:r>
            <a:endParaRPr lang="en-US" sz="1100" dirty="0"/>
          </a:p>
        </p:txBody>
      </p:sp>
      <p:sp>
        <p:nvSpPr>
          <p:cNvPr id="17" name="Text 15"/>
          <p:cNvSpPr/>
          <p:nvPr/>
        </p:nvSpPr>
        <p:spPr>
          <a:xfrm>
            <a:off x="6231636" y="1188720"/>
            <a:ext cx="5500116" cy="274320"/>
          </a:xfrm>
          <a:prstGeom prst="rect">
            <a:avLst/>
          </a:prstGeom>
          <a:noFill/>
          <a:ln/>
        </p:spPr>
        <p:txBody>
          <a:bodyPr wrap="square" rtlCol="0" anchor="ctr"/>
          <a:lstStyle/>
          <a:p>
            <a:pPr marL="0" indent="0">
              <a:buNone/>
            </a:pPr>
            <a:r>
              <a:rPr lang="en-US" sz="1600" b="1" dirty="0">
                <a:solidFill>
                  <a:srgbClr val="1E293B"/>
                </a:solidFill>
                <a:latin typeface="Segoe UI" pitchFamily="34" charset="0"/>
                <a:ea typeface="Segoe UI" pitchFamily="34" charset="-122"/>
                <a:cs typeface="Segoe UI" pitchFamily="34" charset="-120"/>
              </a:rPr>
              <a:t>The Compass Navigator Opening</a:t>
            </a:r>
            <a:endParaRPr lang="en-US" sz="1600" dirty="0"/>
          </a:p>
        </p:txBody>
      </p:sp>
      <p:sp>
        <p:nvSpPr>
          <p:cNvPr id="18" name="Shape 16"/>
          <p:cNvSpPr/>
          <p:nvPr/>
        </p:nvSpPr>
        <p:spPr>
          <a:xfrm>
            <a:off x="6231636" y="1554480"/>
            <a:ext cx="5500116" cy="2011680"/>
          </a:xfrm>
          <a:prstGeom prst="roundRect">
            <a:avLst>
              <a:gd name="adj" fmla="val 3636"/>
            </a:avLst>
          </a:prstGeom>
          <a:solidFill>
            <a:srgbClr val="F0F9FF"/>
          </a:solidFill>
          <a:ln w="12700">
            <a:solidFill>
              <a:srgbClr val="BAE6FD"/>
            </a:solidFill>
            <a:prstDash val="solid"/>
          </a:ln>
        </p:spPr>
        <p:txBody>
          <a:bodyPr/>
          <a:lstStyle/>
          <a:p>
            <a:endParaRPr lang="en-US"/>
          </a:p>
        </p:txBody>
      </p:sp>
      <p:sp>
        <p:nvSpPr>
          <p:cNvPr id="19" name="Text 17"/>
          <p:cNvSpPr/>
          <p:nvPr/>
        </p:nvSpPr>
        <p:spPr>
          <a:xfrm>
            <a:off x="6414516" y="1554480"/>
            <a:ext cx="5134356" cy="2011680"/>
          </a:xfrm>
          <a:prstGeom prst="rect">
            <a:avLst/>
          </a:prstGeom>
          <a:noFill/>
          <a:ln/>
        </p:spPr>
        <p:txBody>
          <a:bodyPr wrap="square" rtlCol="0" anchor="ctr"/>
          <a:lstStyle/>
          <a:p>
            <a:pPr marL="0" indent="0">
              <a:lnSpc>
                <a:spcPts val="2200"/>
              </a:lnSpc>
              <a:buNone/>
            </a:pPr>
            <a:r>
              <a:rPr lang="en-US" sz="1200" i="1" dirty="0">
                <a:solidFill>
                  <a:srgbClr val="0C4A6E"/>
                </a:solidFill>
                <a:latin typeface="Segoe UI" pitchFamily="34" charset="0"/>
                <a:ea typeface="Segoe UI" pitchFamily="34" charset="-122"/>
                <a:cs typeface="Segoe UI" pitchFamily="34" charset="-120"/>
              </a:rPr>
              <a:t>"Hello! My name is [First Last], and I'm calling from Xfinity. May I speak with [Customer Name]?"</a:t>
            </a:r>
            <a:endParaRPr lang="en-US" sz="1200" dirty="0"/>
          </a:p>
          <a:p>
            <a:pPr marL="0" indent="0">
              <a:lnSpc>
                <a:spcPts val="2200"/>
              </a:lnSpc>
              <a:buNone/>
            </a:pPr>
            <a:endParaRPr lang="en-US" sz="1200" dirty="0"/>
          </a:p>
          <a:p>
            <a:pPr marL="0" indent="0">
              <a:lnSpc>
                <a:spcPts val="2200"/>
              </a:lnSpc>
              <a:buNone/>
            </a:pPr>
            <a:r>
              <a:rPr lang="en-US" sz="1200" i="1" dirty="0">
                <a:solidFill>
                  <a:srgbClr val="0C4A6E"/>
                </a:solidFill>
                <a:latin typeface="Segoe UI" pitchFamily="34" charset="0"/>
                <a:ea typeface="Segoe UI" pitchFamily="34" charset="-122"/>
                <a:cs typeface="Segoe UI" pitchFamily="34" charset="-120"/>
              </a:rPr>
              <a:t>[Confirm identity, ask how their day is going]</a:t>
            </a:r>
            <a:endParaRPr lang="en-US" sz="1200" dirty="0"/>
          </a:p>
          <a:p>
            <a:pPr marL="0" indent="0">
              <a:lnSpc>
                <a:spcPts val="2200"/>
              </a:lnSpc>
              <a:buNone/>
            </a:pPr>
            <a:endParaRPr lang="en-US" sz="1200" dirty="0"/>
          </a:p>
          <a:p>
            <a:pPr marL="0" indent="0">
              <a:lnSpc>
                <a:spcPts val="2200"/>
              </a:lnSpc>
              <a:buNone/>
            </a:pPr>
            <a:r>
              <a:rPr lang="en-US" sz="1200" i="1" dirty="0">
                <a:solidFill>
                  <a:srgbClr val="0C4A6E"/>
                </a:solidFill>
                <a:latin typeface="Segoe UI" pitchFamily="34" charset="0"/>
                <a:ea typeface="Segoe UI" pitchFamily="34" charset="-122"/>
                <a:cs typeface="Segoe UI" pitchFamily="34" charset="-120"/>
              </a:rPr>
              <a:t>"Before we continue, I need to inform you that the call is being recorded and monitored..."</a:t>
            </a:r>
            <a:endParaRPr lang="en-US" sz="1200" dirty="0"/>
          </a:p>
        </p:txBody>
      </p:sp>
      <p:sp>
        <p:nvSpPr>
          <p:cNvPr id="20" name="Shape 18"/>
          <p:cNvSpPr/>
          <p:nvPr/>
        </p:nvSpPr>
        <p:spPr>
          <a:xfrm>
            <a:off x="6231636" y="3749040"/>
            <a:ext cx="5500116" cy="640080"/>
          </a:xfrm>
          <a:prstGeom prst="roundRect">
            <a:avLst>
              <a:gd name="adj" fmla="val 11429"/>
            </a:avLst>
          </a:prstGeom>
          <a:solidFill>
            <a:srgbClr val="EEF2FF"/>
          </a:solidFill>
          <a:ln w="12700">
            <a:solidFill>
              <a:srgbClr val="818CF8"/>
            </a:solidFill>
            <a:prstDash val="solid"/>
          </a:ln>
        </p:spPr>
        <p:txBody>
          <a:bodyPr/>
          <a:lstStyle/>
          <a:p>
            <a:endParaRPr lang="en-US"/>
          </a:p>
        </p:txBody>
      </p:sp>
      <p:sp>
        <p:nvSpPr>
          <p:cNvPr id="21" name="Text 19"/>
          <p:cNvSpPr/>
          <p:nvPr/>
        </p:nvSpPr>
        <p:spPr>
          <a:xfrm>
            <a:off x="6414516" y="3749040"/>
            <a:ext cx="5134356" cy="640080"/>
          </a:xfrm>
          <a:prstGeom prst="rect">
            <a:avLst/>
          </a:prstGeom>
          <a:noFill/>
          <a:ln/>
        </p:spPr>
        <p:txBody>
          <a:bodyPr wrap="square" rtlCol="0" anchor="ctr"/>
          <a:lstStyle/>
          <a:p>
            <a:pPr marL="0" indent="0">
              <a:lnSpc>
                <a:spcPts val="1800"/>
              </a:lnSpc>
              <a:buNone/>
            </a:pPr>
            <a:r>
              <a:rPr lang="en-US" sz="1050" dirty="0">
                <a:solidFill>
                  <a:srgbClr val="4F46E5"/>
                </a:solidFill>
                <a:latin typeface="Segoe UI" pitchFamily="34" charset="0"/>
                <a:ea typeface="Segoe UI" pitchFamily="34" charset="-122"/>
                <a:cs typeface="Segoe UI" pitchFamily="34" charset="-120"/>
              </a:rPr>
              <a:t>Existing Customer Bonus: Using their name early shows you prepped. "I see you've been with us for 3 years" is a power move.</a:t>
            </a:r>
            <a:endParaRPr lang="en-US" sz="1050" dirty="0"/>
          </a:p>
        </p:txBody>
      </p:sp>
      <p:sp>
        <p:nvSpPr>
          <p:cNvPr id="22" name="Shape 20"/>
          <p:cNvSpPr/>
          <p:nvPr/>
        </p:nvSpPr>
        <p:spPr>
          <a:xfrm>
            <a:off x="457200" y="4663440"/>
            <a:ext cx="11274552" cy="411480"/>
          </a:xfrm>
          <a:prstGeom prst="roundRect">
            <a:avLst>
              <a:gd name="adj" fmla="val 17778"/>
            </a:avLst>
          </a:prstGeom>
          <a:solidFill>
            <a:srgbClr val="EEF2FF"/>
          </a:solidFill>
          <a:ln w="12700">
            <a:solidFill>
              <a:srgbClr val="818CF8"/>
            </a:solidFill>
            <a:prstDash val="solid"/>
          </a:ln>
        </p:spPr>
        <p:txBody>
          <a:bodyPr/>
          <a:lstStyle/>
          <a:p>
            <a:endParaRPr lang="en-US"/>
          </a:p>
        </p:txBody>
      </p:sp>
      <p:sp>
        <p:nvSpPr>
          <p:cNvPr id="23" name="Text 21"/>
          <p:cNvSpPr/>
          <p:nvPr/>
        </p:nvSpPr>
        <p:spPr>
          <a:xfrm>
            <a:off x="640080" y="4663440"/>
            <a:ext cx="10908792" cy="411480"/>
          </a:xfrm>
          <a:prstGeom prst="rect">
            <a:avLst/>
          </a:prstGeom>
          <a:noFill/>
          <a:ln/>
        </p:spPr>
        <p:txBody>
          <a:bodyPr wrap="square" rtlCol="0" anchor="ctr"/>
          <a:lstStyle/>
          <a:p>
            <a:pPr marL="0" indent="0">
              <a:buNone/>
            </a:pPr>
            <a:r>
              <a:rPr lang="en-US" sz="1100" dirty="0">
                <a:solidFill>
                  <a:srgbClr val="4F46E5"/>
                </a:solidFill>
                <a:latin typeface="Segoe UI" pitchFamily="34" charset="0"/>
                <a:ea typeface="Segoe UI" pitchFamily="34" charset="-122"/>
                <a:cs typeface="Segoe UI" pitchFamily="34" charset="-120"/>
              </a:rPr>
              <a:t>Catalyst Behaviors:  Engage Actively + Own It  -  Warmth and competence from the first word.</a:t>
            </a:r>
            <a:endParaRPr lang="en-US" sz="1100" dirty="0"/>
          </a:p>
        </p:txBody>
      </p:sp>
      <p:sp>
        <p:nvSpPr>
          <p:cNvPr id="24" name="Text 22"/>
          <p:cNvSpPr/>
          <p:nvPr/>
        </p:nvSpPr>
        <p:spPr>
          <a:xfrm>
            <a:off x="0" y="6537960"/>
            <a:ext cx="12188952" cy="274320"/>
          </a:xfrm>
          <a:prstGeom prst="rect">
            <a:avLst/>
          </a:prstGeom>
          <a:noFill/>
          <a:ln/>
        </p:spPr>
        <p:txBody>
          <a:bodyPr wrap="square" rtlCol="0" anchor="ctr"/>
          <a:lstStyle/>
          <a:p>
            <a:pPr marL="0" indent="0" algn="ctr">
              <a:buNone/>
            </a:pPr>
            <a:r>
              <a:rPr lang="en-US" sz="800" dirty="0">
                <a:solidFill>
                  <a:srgbClr val="64748B"/>
                </a:solidFill>
                <a:latin typeface="Segoe UI" pitchFamily="34" charset="0"/>
                <a:ea typeface="Segoe UI" pitchFamily="34" charset="-122"/>
                <a:cs typeface="Segoe UI" pitchFamily="34" charset="-120"/>
              </a:rPr>
              <a:t>Catalyst Coaching Bootcamp  |  DR Site  |  Day 1 of 5  |  March 2026</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6366F1"/>
          </a:solidFill>
          <a:ln/>
        </p:spPr>
        <p:txBody>
          <a:bodyPr/>
          <a:lstStyle/>
          <a:p>
            <a:endParaRPr lang="en-US"/>
          </a:p>
        </p:txBody>
      </p:sp>
      <p:sp>
        <p:nvSpPr>
          <p:cNvPr id="3" name="Shape 1"/>
          <p:cNvSpPr/>
          <p:nvPr/>
        </p:nvSpPr>
        <p:spPr>
          <a:xfrm>
            <a:off x="0" y="0"/>
            <a:ext cx="12188952" cy="1051560"/>
          </a:xfrm>
          <a:prstGeom prst="rect">
            <a:avLst/>
          </a:prstGeom>
          <a:solidFill>
            <a:srgbClr val="4F46E5">
              <a:alpha val="40000"/>
            </a:srgbClr>
          </a:solidFill>
          <a:ln/>
        </p:spPr>
        <p:txBody>
          <a:bodyPr/>
          <a:lstStyle/>
          <a:p>
            <a:endParaRPr lang="en-US"/>
          </a:p>
        </p:txBody>
      </p:sp>
      <p:sp>
        <p:nvSpPr>
          <p:cNvPr id="4" name="Text 2"/>
          <p:cNvSpPr/>
          <p:nvPr/>
        </p:nvSpPr>
        <p:spPr>
          <a:xfrm>
            <a:off x="457200" y="137160"/>
            <a:ext cx="9445752" cy="457200"/>
          </a:xfrm>
          <a:prstGeom prst="rect">
            <a:avLst/>
          </a:prstGeom>
          <a:noFill/>
          <a:ln/>
        </p:spPr>
        <p:txBody>
          <a:bodyPr wrap="square" rtlCol="0" anchor="ctr"/>
          <a:lstStyle/>
          <a:p>
            <a:pPr marL="0" indent="0">
              <a:buNone/>
            </a:pPr>
            <a:r>
              <a:rPr lang="en-US" sz="2800" b="1" dirty="0">
                <a:solidFill>
                  <a:srgbClr val="FFFFFF"/>
                </a:solidFill>
                <a:latin typeface="Segoe UI" pitchFamily="34" charset="0"/>
                <a:ea typeface="Segoe UI" pitchFamily="34" charset="-122"/>
                <a:cs typeface="Segoe UI" pitchFamily="34" charset="-120"/>
              </a:rPr>
              <a:t>The Power of the First 30 Seconds</a:t>
            </a:r>
            <a:endParaRPr lang="en-US" sz="2800" dirty="0"/>
          </a:p>
        </p:txBody>
      </p:sp>
      <p:sp>
        <p:nvSpPr>
          <p:cNvPr id="5" name="Text 3"/>
          <p:cNvSpPr/>
          <p:nvPr/>
        </p:nvSpPr>
        <p:spPr>
          <a:xfrm>
            <a:off x="457200" y="594360"/>
            <a:ext cx="9445752" cy="274320"/>
          </a:xfrm>
          <a:prstGeom prst="rect">
            <a:avLst/>
          </a:prstGeom>
          <a:noFill/>
          <a:ln/>
        </p:spPr>
        <p:txBody>
          <a:bodyPr wrap="square" rtlCol="0" anchor="ctr"/>
          <a:lstStyle/>
          <a:p>
            <a:pPr marL="0" indent="0">
              <a:buNone/>
            </a:pPr>
            <a:r>
              <a:rPr lang="en-US" sz="1400" i="1" dirty="0">
                <a:solidFill>
                  <a:srgbClr val="FFFFFF">
                    <a:alpha val="85000"/>
                  </a:srgbClr>
                </a:solidFill>
                <a:latin typeface="Segoe UI" pitchFamily="34" charset="0"/>
                <a:ea typeface="Segoe UI" pitchFamily="34" charset="-122"/>
                <a:cs typeface="Segoe UI" pitchFamily="34" charset="-120"/>
              </a:rPr>
              <a:t>What to Avoid vs. What to Do</a:t>
            </a:r>
            <a:endParaRPr lang="en-US" sz="1400" dirty="0"/>
          </a:p>
        </p:txBody>
      </p:sp>
      <p:sp>
        <p:nvSpPr>
          <p:cNvPr id="6" name="Shape 4"/>
          <p:cNvSpPr/>
          <p:nvPr/>
        </p:nvSpPr>
        <p:spPr>
          <a:xfrm>
            <a:off x="10543032" y="182880"/>
            <a:ext cx="1188720" cy="685800"/>
          </a:xfrm>
          <a:prstGeom prst="roundRect">
            <a:avLst>
              <a:gd name="adj" fmla="val 13333"/>
            </a:avLst>
          </a:prstGeom>
          <a:solidFill>
            <a:srgbClr val="FFFFFF">
              <a:alpha val="20000"/>
            </a:srgbClr>
          </a:solidFill>
          <a:ln/>
        </p:spPr>
        <p:txBody>
          <a:bodyPr/>
          <a:lstStyle/>
          <a:p>
            <a:endParaRPr lang="en-US"/>
          </a:p>
        </p:txBody>
      </p:sp>
      <p:sp>
        <p:nvSpPr>
          <p:cNvPr id="7" name="Text 5"/>
          <p:cNvSpPr/>
          <p:nvPr/>
        </p:nvSpPr>
        <p:spPr>
          <a:xfrm>
            <a:off x="10543032" y="182880"/>
            <a:ext cx="1188720" cy="68580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Day 1</a:t>
            </a:r>
            <a:endParaRPr lang="en-US" sz="2000" dirty="0"/>
          </a:p>
        </p:txBody>
      </p:sp>
      <p:sp>
        <p:nvSpPr>
          <p:cNvPr id="8" name="Shape 6"/>
          <p:cNvSpPr/>
          <p:nvPr/>
        </p:nvSpPr>
        <p:spPr>
          <a:xfrm>
            <a:off x="457200" y="1280160"/>
            <a:ext cx="5500116" cy="2926080"/>
          </a:xfrm>
          <a:prstGeom prst="roundRect">
            <a:avLst>
              <a:gd name="adj" fmla="val 3750"/>
            </a:avLst>
          </a:prstGeom>
          <a:solidFill>
            <a:srgbClr val="FEF2F2"/>
          </a:solidFill>
          <a:ln w="19050">
            <a:solidFill>
              <a:srgbClr val="FECACA"/>
            </a:solidFill>
            <a:prstDash val="solid"/>
          </a:ln>
        </p:spPr>
        <p:txBody>
          <a:bodyPr/>
          <a:lstStyle/>
          <a:p>
            <a:endParaRPr lang="en-US"/>
          </a:p>
        </p:txBody>
      </p:sp>
      <p:sp>
        <p:nvSpPr>
          <p:cNvPr id="9" name="Text 7"/>
          <p:cNvSpPr/>
          <p:nvPr/>
        </p:nvSpPr>
        <p:spPr>
          <a:xfrm>
            <a:off x="640080" y="1371600"/>
            <a:ext cx="5134356" cy="320040"/>
          </a:xfrm>
          <a:prstGeom prst="rect">
            <a:avLst/>
          </a:prstGeom>
          <a:noFill/>
          <a:ln/>
        </p:spPr>
        <p:txBody>
          <a:bodyPr wrap="square" rtlCol="0" anchor="ctr"/>
          <a:lstStyle/>
          <a:p>
            <a:pPr marL="0" indent="0">
              <a:buNone/>
            </a:pPr>
            <a:r>
              <a:rPr lang="en-US" sz="1500" b="1" dirty="0">
                <a:solidFill>
                  <a:srgbClr val="991B1B"/>
                </a:solidFill>
                <a:latin typeface="Segoe UI" pitchFamily="34" charset="0"/>
                <a:ea typeface="Segoe UI" pitchFamily="34" charset="-122"/>
                <a:cs typeface="Segoe UI" pitchFamily="34" charset="-120"/>
              </a:rPr>
              <a:t>Did Not Demonstrate</a:t>
            </a:r>
            <a:endParaRPr lang="en-US" sz="1500" dirty="0"/>
          </a:p>
        </p:txBody>
      </p:sp>
      <p:sp>
        <p:nvSpPr>
          <p:cNvPr id="10" name="Text 8"/>
          <p:cNvSpPr/>
          <p:nvPr/>
        </p:nvSpPr>
        <p:spPr>
          <a:xfrm>
            <a:off x="731520" y="1828800"/>
            <a:ext cx="4951476" cy="347472"/>
          </a:xfrm>
          <a:prstGeom prst="rect">
            <a:avLst/>
          </a:prstGeom>
          <a:noFill/>
          <a:ln/>
        </p:spPr>
        <p:txBody>
          <a:bodyPr wrap="square" rtlCol="0" anchor="ctr"/>
          <a:lstStyle/>
          <a:p>
            <a:pPr marL="0" indent="0">
              <a:buNone/>
            </a:pPr>
            <a:r>
              <a:rPr lang="en-US" sz="1100" dirty="0">
                <a:solidFill>
                  <a:srgbClr val="991B1B"/>
                </a:solidFill>
                <a:latin typeface="Segoe UI" pitchFamily="34" charset="0"/>
                <a:ea typeface="Segoe UI" pitchFamily="34" charset="-122"/>
                <a:cs typeface="Segoe UI" pitchFamily="34" charset="-120"/>
              </a:rPr>
              <a:t>•  </a:t>
            </a:r>
            <a:r>
              <a:rPr lang="en-US" sz="1100" b="1" dirty="0">
                <a:solidFill>
                  <a:srgbClr val="991B1B"/>
                </a:solidFill>
                <a:latin typeface="Segoe UI" pitchFamily="34" charset="0"/>
                <a:ea typeface="Segoe UI" pitchFamily="34" charset="-122"/>
                <a:cs typeface="Segoe UI" pitchFamily="34" charset="-120"/>
              </a:rPr>
              <a:t>Robotic delivery</a:t>
            </a:r>
            <a:r>
              <a:rPr lang="en-US" sz="1100" dirty="0">
                <a:solidFill>
                  <a:srgbClr val="7F1D1D"/>
                </a:solidFill>
                <a:latin typeface="Segoe UI" pitchFamily="34" charset="0"/>
                <a:ea typeface="Segoe UI" pitchFamily="34" charset="-122"/>
                <a:cs typeface="Segoe UI" pitchFamily="34" charset="-120"/>
              </a:rPr>
              <a:t>  reading a script word for word</a:t>
            </a:r>
            <a:endParaRPr lang="en-US" sz="1100" dirty="0"/>
          </a:p>
        </p:txBody>
      </p:sp>
      <p:sp>
        <p:nvSpPr>
          <p:cNvPr id="11" name="Text 9"/>
          <p:cNvSpPr/>
          <p:nvPr/>
        </p:nvSpPr>
        <p:spPr>
          <a:xfrm>
            <a:off x="731520" y="2176272"/>
            <a:ext cx="4951476" cy="347472"/>
          </a:xfrm>
          <a:prstGeom prst="rect">
            <a:avLst/>
          </a:prstGeom>
          <a:noFill/>
          <a:ln/>
        </p:spPr>
        <p:txBody>
          <a:bodyPr wrap="square" rtlCol="0" anchor="ctr"/>
          <a:lstStyle/>
          <a:p>
            <a:pPr marL="0" indent="0">
              <a:buNone/>
            </a:pPr>
            <a:r>
              <a:rPr lang="en-US" sz="1100" dirty="0">
                <a:solidFill>
                  <a:srgbClr val="991B1B"/>
                </a:solidFill>
                <a:latin typeface="Segoe UI" pitchFamily="34" charset="0"/>
                <a:ea typeface="Segoe UI" pitchFamily="34" charset="-122"/>
                <a:cs typeface="Segoe UI" pitchFamily="34" charset="-120"/>
              </a:rPr>
              <a:t>•  </a:t>
            </a:r>
            <a:r>
              <a:rPr lang="en-US" sz="1100" b="1" dirty="0">
                <a:solidFill>
                  <a:srgbClr val="991B1B"/>
                </a:solidFill>
                <a:latin typeface="Segoe UI" pitchFamily="34" charset="0"/>
                <a:ea typeface="Segoe UI" pitchFamily="34" charset="-122"/>
                <a:cs typeface="Segoe UI" pitchFamily="34" charset="-120"/>
              </a:rPr>
              <a:t>Flat tone</a:t>
            </a:r>
            <a:r>
              <a:rPr lang="en-US" sz="1100" dirty="0">
                <a:solidFill>
                  <a:srgbClr val="7F1D1D"/>
                </a:solidFill>
                <a:latin typeface="Segoe UI" pitchFamily="34" charset="0"/>
                <a:ea typeface="Segoe UI" pitchFamily="34" charset="-122"/>
                <a:cs typeface="Segoe UI" pitchFamily="34" charset="-120"/>
              </a:rPr>
              <a:t>  no warmth, no energy, no smile</a:t>
            </a:r>
            <a:endParaRPr lang="en-US" sz="1100" dirty="0"/>
          </a:p>
        </p:txBody>
      </p:sp>
      <p:sp>
        <p:nvSpPr>
          <p:cNvPr id="12" name="Text 10"/>
          <p:cNvSpPr/>
          <p:nvPr/>
        </p:nvSpPr>
        <p:spPr>
          <a:xfrm>
            <a:off x="731520" y="2523744"/>
            <a:ext cx="4951476" cy="347472"/>
          </a:xfrm>
          <a:prstGeom prst="rect">
            <a:avLst/>
          </a:prstGeom>
          <a:noFill/>
          <a:ln/>
        </p:spPr>
        <p:txBody>
          <a:bodyPr wrap="square" rtlCol="0" anchor="ctr"/>
          <a:lstStyle/>
          <a:p>
            <a:pPr marL="0" indent="0">
              <a:buNone/>
            </a:pPr>
            <a:r>
              <a:rPr lang="en-US" sz="1100" dirty="0">
                <a:solidFill>
                  <a:srgbClr val="991B1B"/>
                </a:solidFill>
                <a:latin typeface="Segoe UI" pitchFamily="34" charset="0"/>
                <a:ea typeface="Segoe UI" pitchFamily="34" charset="-122"/>
                <a:cs typeface="Segoe UI" pitchFamily="34" charset="-120"/>
              </a:rPr>
              <a:t>•  </a:t>
            </a:r>
            <a:r>
              <a:rPr lang="en-US" sz="1100" b="1" dirty="0">
                <a:solidFill>
                  <a:srgbClr val="991B1B"/>
                </a:solidFill>
                <a:latin typeface="Segoe UI" pitchFamily="34" charset="0"/>
                <a:ea typeface="Segoe UI" pitchFamily="34" charset="-122"/>
                <a:cs typeface="Segoe UI" pitchFamily="34" charset="-120"/>
              </a:rPr>
              <a:t>No pause</a:t>
            </a:r>
            <a:r>
              <a:rPr lang="en-US" sz="1100" dirty="0">
                <a:solidFill>
                  <a:srgbClr val="7F1D1D"/>
                </a:solidFill>
                <a:latin typeface="Segoe UI" pitchFamily="34" charset="0"/>
                <a:ea typeface="Segoe UI" pitchFamily="34" charset="-122"/>
                <a:cs typeface="Segoe UI" pitchFamily="34" charset="-120"/>
              </a:rPr>
              <a:t>  jumped from "Nice to meet you" into the pitch</a:t>
            </a:r>
            <a:endParaRPr lang="en-US" sz="1100" dirty="0"/>
          </a:p>
        </p:txBody>
      </p:sp>
      <p:sp>
        <p:nvSpPr>
          <p:cNvPr id="13" name="Text 11"/>
          <p:cNvSpPr/>
          <p:nvPr/>
        </p:nvSpPr>
        <p:spPr>
          <a:xfrm>
            <a:off x="731520" y="2871216"/>
            <a:ext cx="4951476" cy="347472"/>
          </a:xfrm>
          <a:prstGeom prst="rect">
            <a:avLst/>
          </a:prstGeom>
          <a:noFill/>
          <a:ln/>
        </p:spPr>
        <p:txBody>
          <a:bodyPr wrap="square" rtlCol="0" anchor="ctr"/>
          <a:lstStyle/>
          <a:p>
            <a:pPr marL="0" indent="0">
              <a:buNone/>
            </a:pPr>
            <a:r>
              <a:rPr lang="en-US" sz="1100" dirty="0">
                <a:solidFill>
                  <a:srgbClr val="991B1B"/>
                </a:solidFill>
                <a:latin typeface="Segoe UI" pitchFamily="34" charset="0"/>
                <a:ea typeface="Segoe UI" pitchFamily="34" charset="-122"/>
                <a:cs typeface="Segoe UI" pitchFamily="34" charset="-120"/>
              </a:rPr>
              <a:t>•  </a:t>
            </a:r>
            <a:r>
              <a:rPr lang="en-US" sz="1100" b="1" dirty="0">
                <a:solidFill>
                  <a:srgbClr val="991B1B"/>
                </a:solidFill>
                <a:latin typeface="Segoe UI" pitchFamily="34" charset="0"/>
                <a:ea typeface="Segoe UI" pitchFamily="34" charset="-122"/>
                <a:cs typeface="Segoe UI" pitchFamily="34" charset="-120"/>
              </a:rPr>
              <a:t>Disclosure missed</a:t>
            </a:r>
            <a:r>
              <a:rPr lang="en-US" sz="1100" dirty="0">
                <a:solidFill>
                  <a:srgbClr val="7F1D1D"/>
                </a:solidFill>
                <a:latin typeface="Segoe UI" pitchFamily="34" charset="0"/>
                <a:ea typeface="Segoe UI" pitchFamily="34" charset="-122"/>
                <a:cs typeface="Segoe UI" pitchFamily="34" charset="-120"/>
              </a:rPr>
              <a:t>  skipped or delivered after discovery</a:t>
            </a:r>
            <a:endParaRPr lang="en-US" sz="1100" dirty="0"/>
          </a:p>
        </p:txBody>
      </p:sp>
      <p:sp>
        <p:nvSpPr>
          <p:cNvPr id="14" name="Text 12"/>
          <p:cNvSpPr/>
          <p:nvPr/>
        </p:nvSpPr>
        <p:spPr>
          <a:xfrm>
            <a:off x="731520" y="3218688"/>
            <a:ext cx="4951476" cy="347472"/>
          </a:xfrm>
          <a:prstGeom prst="rect">
            <a:avLst/>
          </a:prstGeom>
          <a:noFill/>
          <a:ln/>
        </p:spPr>
        <p:txBody>
          <a:bodyPr wrap="square" rtlCol="0" anchor="ctr"/>
          <a:lstStyle/>
          <a:p>
            <a:pPr marL="0" indent="0">
              <a:buNone/>
            </a:pPr>
            <a:r>
              <a:rPr lang="en-US" sz="1100" dirty="0">
                <a:solidFill>
                  <a:srgbClr val="991B1B"/>
                </a:solidFill>
                <a:latin typeface="Segoe UI" pitchFamily="34" charset="0"/>
                <a:ea typeface="Segoe UI" pitchFamily="34" charset="-122"/>
                <a:cs typeface="Segoe UI" pitchFamily="34" charset="-120"/>
              </a:rPr>
              <a:t>•  </a:t>
            </a:r>
            <a:r>
              <a:rPr lang="en-US" sz="1100" b="1" dirty="0">
                <a:solidFill>
                  <a:srgbClr val="991B1B"/>
                </a:solidFill>
                <a:latin typeface="Segoe UI" pitchFamily="34" charset="0"/>
                <a:ea typeface="Segoe UI" pitchFamily="34" charset="-122"/>
                <a:cs typeface="Segoe UI" pitchFamily="34" charset="-120"/>
              </a:rPr>
              <a:t>No personalization</a:t>
            </a:r>
            <a:r>
              <a:rPr lang="en-US" sz="1100" dirty="0">
                <a:solidFill>
                  <a:srgbClr val="7F1D1D"/>
                </a:solidFill>
                <a:latin typeface="Segoe UI" pitchFamily="34" charset="0"/>
                <a:ea typeface="Segoe UI" pitchFamily="34" charset="-122"/>
                <a:cs typeface="Segoe UI" pitchFamily="34" charset="-120"/>
              </a:rPr>
              <a:t>  generic opening for anyone</a:t>
            </a:r>
            <a:endParaRPr lang="en-US" sz="1100" dirty="0"/>
          </a:p>
        </p:txBody>
      </p:sp>
      <p:sp>
        <p:nvSpPr>
          <p:cNvPr id="15" name="Shape 13"/>
          <p:cNvSpPr/>
          <p:nvPr/>
        </p:nvSpPr>
        <p:spPr>
          <a:xfrm>
            <a:off x="6231636" y="1280160"/>
            <a:ext cx="5500116" cy="2926080"/>
          </a:xfrm>
          <a:prstGeom prst="roundRect">
            <a:avLst>
              <a:gd name="adj" fmla="val 3750"/>
            </a:avLst>
          </a:prstGeom>
          <a:solidFill>
            <a:srgbClr val="F0FDF4"/>
          </a:solidFill>
          <a:ln w="19050">
            <a:solidFill>
              <a:srgbClr val="BBF7D0"/>
            </a:solidFill>
            <a:prstDash val="solid"/>
          </a:ln>
        </p:spPr>
        <p:txBody>
          <a:bodyPr/>
          <a:lstStyle/>
          <a:p>
            <a:endParaRPr lang="en-US"/>
          </a:p>
        </p:txBody>
      </p:sp>
      <p:sp>
        <p:nvSpPr>
          <p:cNvPr id="16" name="Text 14"/>
          <p:cNvSpPr/>
          <p:nvPr/>
        </p:nvSpPr>
        <p:spPr>
          <a:xfrm>
            <a:off x="6414516" y="1371600"/>
            <a:ext cx="5134356" cy="320040"/>
          </a:xfrm>
          <a:prstGeom prst="rect">
            <a:avLst/>
          </a:prstGeom>
          <a:noFill/>
          <a:ln/>
        </p:spPr>
        <p:txBody>
          <a:bodyPr wrap="square" rtlCol="0" anchor="ctr"/>
          <a:lstStyle/>
          <a:p>
            <a:pPr marL="0" indent="0">
              <a:buNone/>
            </a:pPr>
            <a:r>
              <a:rPr lang="en-US" sz="1500" b="1" dirty="0">
                <a:solidFill>
                  <a:srgbClr val="166534"/>
                </a:solidFill>
                <a:latin typeface="Segoe UI" pitchFamily="34" charset="0"/>
                <a:ea typeface="Segoe UI" pitchFamily="34" charset="-122"/>
                <a:cs typeface="Segoe UI" pitchFamily="34" charset="-120"/>
              </a:rPr>
              <a:t>Effectively Demonstrated</a:t>
            </a:r>
            <a:endParaRPr lang="en-US" sz="1500" dirty="0"/>
          </a:p>
        </p:txBody>
      </p:sp>
      <p:sp>
        <p:nvSpPr>
          <p:cNvPr id="17" name="Text 15"/>
          <p:cNvSpPr/>
          <p:nvPr/>
        </p:nvSpPr>
        <p:spPr>
          <a:xfrm>
            <a:off x="6505956" y="1828800"/>
            <a:ext cx="4951476" cy="347472"/>
          </a:xfrm>
          <a:prstGeom prst="rect">
            <a:avLst/>
          </a:prstGeom>
          <a:noFill/>
          <a:ln/>
        </p:spPr>
        <p:txBody>
          <a:bodyPr wrap="square" rtlCol="0" anchor="ctr"/>
          <a:lstStyle/>
          <a:p>
            <a:pPr marL="0" indent="0">
              <a:buNone/>
            </a:pPr>
            <a:r>
              <a:rPr lang="en-US" sz="1100" dirty="0">
                <a:solidFill>
                  <a:srgbClr val="166534"/>
                </a:solidFill>
                <a:latin typeface="Segoe UI" pitchFamily="34" charset="0"/>
                <a:ea typeface="Segoe UI" pitchFamily="34" charset="-122"/>
                <a:cs typeface="Segoe UI" pitchFamily="34" charset="-120"/>
              </a:rPr>
              <a:t>•  </a:t>
            </a:r>
            <a:r>
              <a:rPr lang="en-US" sz="1100" b="1" dirty="0">
                <a:solidFill>
                  <a:srgbClr val="166534"/>
                </a:solidFill>
                <a:latin typeface="Segoe UI" pitchFamily="34" charset="0"/>
                <a:ea typeface="Segoe UI" pitchFamily="34" charset="-122"/>
                <a:cs typeface="Segoe UI" pitchFamily="34" charset="-120"/>
              </a:rPr>
              <a:t>Real conversation</a:t>
            </a:r>
            <a:r>
              <a:rPr lang="en-US" sz="1100" dirty="0">
                <a:solidFill>
                  <a:srgbClr val="14532D"/>
                </a:solidFill>
                <a:latin typeface="Segoe UI" pitchFamily="34" charset="0"/>
                <a:ea typeface="Segoe UI" pitchFamily="34" charset="-122"/>
                <a:cs typeface="Segoe UI" pitchFamily="34" charset="-120"/>
              </a:rPr>
              <a:t>  sounds like a person, not a screen</a:t>
            </a:r>
            <a:endParaRPr lang="en-US" sz="1100" dirty="0"/>
          </a:p>
        </p:txBody>
      </p:sp>
      <p:sp>
        <p:nvSpPr>
          <p:cNvPr id="18" name="Text 16"/>
          <p:cNvSpPr/>
          <p:nvPr/>
        </p:nvSpPr>
        <p:spPr>
          <a:xfrm>
            <a:off x="6505956" y="2176272"/>
            <a:ext cx="4951476" cy="347472"/>
          </a:xfrm>
          <a:prstGeom prst="rect">
            <a:avLst/>
          </a:prstGeom>
          <a:noFill/>
          <a:ln/>
        </p:spPr>
        <p:txBody>
          <a:bodyPr wrap="square" rtlCol="0" anchor="ctr"/>
          <a:lstStyle/>
          <a:p>
            <a:pPr marL="0" indent="0">
              <a:buNone/>
            </a:pPr>
            <a:r>
              <a:rPr lang="en-US" sz="1100" dirty="0">
                <a:solidFill>
                  <a:srgbClr val="166534"/>
                </a:solidFill>
                <a:latin typeface="Segoe UI" pitchFamily="34" charset="0"/>
                <a:ea typeface="Segoe UI" pitchFamily="34" charset="-122"/>
                <a:cs typeface="Segoe UI" pitchFamily="34" charset="-120"/>
              </a:rPr>
              <a:t>•  </a:t>
            </a:r>
            <a:r>
              <a:rPr lang="en-US" sz="1100" b="1" dirty="0">
                <a:solidFill>
                  <a:srgbClr val="166534"/>
                </a:solidFill>
                <a:latin typeface="Segoe UI" pitchFamily="34" charset="0"/>
                <a:ea typeface="Segoe UI" pitchFamily="34" charset="-122"/>
                <a:cs typeface="Segoe UI" pitchFamily="34" charset="-120"/>
              </a:rPr>
              <a:t>Natural pauses</a:t>
            </a:r>
            <a:r>
              <a:rPr lang="en-US" sz="1100" dirty="0">
                <a:solidFill>
                  <a:srgbClr val="14532D"/>
                </a:solidFill>
                <a:latin typeface="Segoe UI" pitchFamily="34" charset="0"/>
                <a:ea typeface="Segoe UI" pitchFamily="34" charset="-122"/>
                <a:cs typeface="Segoe UI" pitchFamily="34" charset="-120"/>
              </a:rPr>
              <a:t>  lets customer respond, reacts to them</a:t>
            </a:r>
            <a:endParaRPr lang="en-US" sz="1100" dirty="0"/>
          </a:p>
        </p:txBody>
      </p:sp>
      <p:sp>
        <p:nvSpPr>
          <p:cNvPr id="19" name="Text 17"/>
          <p:cNvSpPr/>
          <p:nvPr/>
        </p:nvSpPr>
        <p:spPr>
          <a:xfrm>
            <a:off x="6505956" y="2523744"/>
            <a:ext cx="4951476" cy="347472"/>
          </a:xfrm>
          <a:prstGeom prst="rect">
            <a:avLst/>
          </a:prstGeom>
          <a:noFill/>
          <a:ln/>
        </p:spPr>
        <p:txBody>
          <a:bodyPr wrap="square" rtlCol="0" anchor="ctr"/>
          <a:lstStyle/>
          <a:p>
            <a:pPr marL="0" indent="0">
              <a:buNone/>
            </a:pPr>
            <a:r>
              <a:rPr lang="en-US" sz="1100" dirty="0">
                <a:solidFill>
                  <a:srgbClr val="166534"/>
                </a:solidFill>
                <a:latin typeface="Segoe UI" pitchFamily="34" charset="0"/>
                <a:ea typeface="Segoe UI" pitchFamily="34" charset="-122"/>
                <a:cs typeface="Segoe UI" pitchFamily="34" charset="-120"/>
              </a:rPr>
              <a:t>•  </a:t>
            </a:r>
            <a:r>
              <a:rPr lang="en-US" sz="1100" b="1" dirty="0">
                <a:solidFill>
                  <a:srgbClr val="166534"/>
                </a:solidFill>
                <a:latin typeface="Segoe UI" pitchFamily="34" charset="0"/>
                <a:ea typeface="Segoe UI" pitchFamily="34" charset="-122"/>
                <a:cs typeface="Segoe UI" pitchFamily="34" charset="-120"/>
              </a:rPr>
              <a:t>Genuine question</a:t>
            </a:r>
            <a:r>
              <a:rPr lang="en-US" sz="1100" dirty="0">
                <a:solidFill>
                  <a:srgbClr val="14532D"/>
                </a:solidFill>
                <a:latin typeface="Segoe UI" pitchFamily="34" charset="0"/>
                <a:ea typeface="Segoe UI" pitchFamily="34" charset="-122"/>
                <a:cs typeface="Segoe UI" pitchFamily="34" charset="-120"/>
              </a:rPr>
              <a:t>  asks "How are you?" and listens</a:t>
            </a:r>
            <a:endParaRPr lang="en-US" sz="1100" dirty="0"/>
          </a:p>
        </p:txBody>
      </p:sp>
      <p:sp>
        <p:nvSpPr>
          <p:cNvPr id="20" name="Text 18"/>
          <p:cNvSpPr/>
          <p:nvPr/>
        </p:nvSpPr>
        <p:spPr>
          <a:xfrm>
            <a:off x="6505956" y="2871216"/>
            <a:ext cx="4951476" cy="347472"/>
          </a:xfrm>
          <a:prstGeom prst="rect">
            <a:avLst/>
          </a:prstGeom>
          <a:noFill/>
          <a:ln/>
        </p:spPr>
        <p:txBody>
          <a:bodyPr wrap="square" rtlCol="0" anchor="ctr"/>
          <a:lstStyle/>
          <a:p>
            <a:pPr marL="0" indent="0">
              <a:buNone/>
            </a:pPr>
            <a:r>
              <a:rPr lang="en-US" sz="1100" dirty="0">
                <a:solidFill>
                  <a:srgbClr val="166534"/>
                </a:solidFill>
                <a:latin typeface="Segoe UI" pitchFamily="34" charset="0"/>
                <a:ea typeface="Segoe UI" pitchFamily="34" charset="-122"/>
                <a:cs typeface="Segoe UI" pitchFamily="34" charset="-120"/>
              </a:rPr>
              <a:t>•  </a:t>
            </a:r>
            <a:r>
              <a:rPr lang="en-US" sz="1100" b="1" dirty="0">
                <a:solidFill>
                  <a:srgbClr val="166534"/>
                </a:solidFill>
                <a:latin typeface="Segoe UI" pitchFamily="34" charset="0"/>
                <a:ea typeface="Segoe UI" pitchFamily="34" charset="-122"/>
                <a:cs typeface="Segoe UI" pitchFamily="34" charset="-120"/>
              </a:rPr>
              <a:t>Account awareness</a:t>
            </a:r>
            <a:r>
              <a:rPr lang="en-US" sz="1100" dirty="0">
                <a:solidFill>
                  <a:srgbClr val="14532D"/>
                </a:solidFill>
                <a:latin typeface="Segoe UI" pitchFamily="34" charset="0"/>
                <a:ea typeface="Segoe UI" pitchFamily="34" charset="-122"/>
                <a:cs typeface="Segoe UI" pitchFamily="34" charset="-120"/>
              </a:rPr>
              <a:t>  "Been with us 3 years - awesome!"</a:t>
            </a:r>
            <a:endParaRPr lang="en-US" sz="1100" dirty="0"/>
          </a:p>
        </p:txBody>
      </p:sp>
      <p:sp>
        <p:nvSpPr>
          <p:cNvPr id="21" name="Text 19"/>
          <p:cNvSpPr/>
          <p:nvPr/>
        </p:nvSpPr>
        <p:spPr>
          <a:xfrm>
            <a:off x="6505956" y="3218688"/>
            <a:ext cx="4951476" cy="347472"/>
          </a:xfrm>
          <a:prstGeom prst="rect">
            <a:avLst/>
          </a:prstGeom>
          <a:noFill/>
          <a:ln/>
        </p:spPr>
        <p:txBody>
          <a:bodyPr wrap="square" rtlCol="0" anchor="ctr"/>
          <a:lstStyle/>
          <a:p>
            <a:pPr marL="0" indent="0">
              <a:buNone/>
            </a:pPr>
            <a:r>
              <a:rPr lang="en-US" sz="1100" dirty="0">
                <a:solidFill>
                  <a:srgbClr val="166534"/>
                </a:solidFill>
                <a:latin typeface="Segoe UI" pitchFamily="34" charset="0"/>
                <a:ea typeface="Segoe UI" pitchFamily="34" charset="-122"/>
                <a:cs typeface="Segoe UI" pitchFamily="34" charset="-120"/>
              </a:rPr>
              <a:t>•  </a:t>
            </a:r>
            <a:r>
              <a:rPr lang="en-US" sz="1100" b="1" dirty="0">
                <a:solidFill>
                  <a:srgbClr val="166534"/>
                </a:solidFill>
                <a:latin typeface="Segoe UI" pitchFamily="34" charset="0"/>
                <a:ea typeface="Segoe UI" pitchFamily="34" charset="-122"/>
                <a:cs typeface="Segoe UI" pitchFamily="34" charset="-120"/>
              </a:rPr>
              <a:t>Smooth disclosure</a:t>
            </a:r>
            <a:r>
              <a:rPr lang="en-US" sz="1100" dirty="0">
                <a:solidFill>
                  <a:srgbClr val="14532D"/>
                </a:solidFill>
                <a:latin typeface="Segoe UI" pitchFamily="34" charset="0"/>
                <a:ea typeface="Segoe UI" pitchFamily="34" charset="-122"/>
                <a:cs typeface="Segoe UI" pitchFamily="34" charset="-120"/>
              </a:rPr>
              <a:t>  feels conversational, not rushed</a:t>
            </a:r>
            <a:endParaRPr lang="en-US" sz="1100" dirty="0"/>
          </a:p>
        </p:txBody>
      </p:sp>
      <p:sp>
        <p:nvSpPr>
          <p:cNvPr id="22" name="Shape 20"/>
          <p:cNvSpPr/>
          <p:nvPr/>
        </p:nvSpPr>
        <p:spPr>
          <a:xfrm>
            <a:off x="457200" y="4389120"/>
            <a:ext cx="11274552" cy="1920240"/>
          </a:xfrm>
          <a:prstGeom prst="roundRect">
            <a:avLst>
              <a:gd name="adj" fmla="val 5714"/>
            </a:avLst>
          </a:prstGeom>
          <a:solidFill>
            <a:srgbClr val="FFF7ED"/>
          </a:solidFill>
          <a:ln w="19050">
            <a:solidFill>
              <a:srgbClr val="FCD34D"/>
            </a:solidFill>
            <a:prstDash val="solid"/>
          </a:ln>
        </p:spPr>
        <p:txBody>
          <a:bodyPr/>
          <a:lstStyle/>
          <a:p>
            <a:endParaRPr lang="en-US"/>
          </a:p>
        </p:txBody>
      </p:sp>
      <p:sp>
        <p:nvSpPr>
          <p:cNvPr id="23" name="Text 21"/>
          <p:cNvSpPr/>
          <p:nvPr/>
        </p:nvSpPr>
        <p:spPr>
          <a:xfrm>
            <a:off x="640080" y="4462272"/>
            <a:ext cx="2743200" cy="320040"/>
          </a:xfrm>
          <a:prstGeom prst="rect">
            <a:avLst/>
          </a:prstGeom>
          <a:noFill/>
          <a:ln/>
        </p:spPr>
        <p:txBody>
          <a:bodyPr wrap="square" rtlCol="0" anchor="ctr"/>
          <a:lstStyle/>
          <a:p>
            <a:pPr marL="0" indent="0">
              <a:buNone/>
            </a:pPr>
            <a:r>
              <a:rPr lang="en-US" sz="1400" b="1" dirty="0">
                <a:solidFill>
                  <a:srgbClr val="92400E"/>
                </a:solidFill>
                <a:latin typeface="Segoe UI" pitchFamily="34" charset="0"/>
                <a:ea typeface="Segoe UI" pitchFamily="34" charset="-122"/>
                <a:cs typeface="Segoe UI" pitchFamily="34" charset="-120"/>
              </a:rPr>
              <a:t>Common Pitfalls</a:t>
            </a:r>
            <a:endParaRPr lang="en-US" sz="1400" dirty="0"/>
          </a:p>
        </p:txBody>
      </p:sp>
      <p:sp>
        <p:nvSpPr>
          <p:cNvPr id="24" name="Text 22"/>
          <p:cNvSpPr/>
          <p:nvPr/>
        </p:nvSpPr>
        <p:spPr>
          <a:xfrm>
            <a:off x="731520" y="4846320"/>
            <a:ext cx="5134356" cy="320040"/>
          </a:xfrm>
          <a:prstGeom prst="rect">
            <a:avLst/>
          </a:prstGeom>
          <a:noFill/>
          <a:ln/>
        </p:spPr>
        <p:txBody>
          <a:bodyPr wrap="square" rtlCol="0" anchor="ctr"/>
          <a:lstStyle/>
          <a:p>
            <a:pPr marL="0" indent="0">
              <a:buNone/>
            </a:pPr>
            <a:r>
              <a:rPr lang="en-US" sz="1050" dirty="0">
                <a:solidFill>
                  <a:srgbClr val="92400E"/>
                </a:solidFill>
                <a:latin typeface="Segoe UI" pitchFamily="34" charset="0"/>
                <a:ea typeface="Segoe UI" pitchFamily="34" charset="-122"/>
                <a:cs typeface="Segoe UI" pitchFamily="34" charset="-120"/>
              </a:rPr>
              <a:t>•  </a:t>
            </a:r>
            <a:r>
              <a:rPr lang="en-US" sz="1050" b="1" dirty="0">
                <a:solidFill>
                  <a:srgbClr val="92400E"/>
                </a:solidFill>
                <a:latin typeface="Segoe UI" pitchFamily="34" charset="0"/>
                <a:ea typeface="Segoe UI" pitchFamily="34" charset="-122"/>
                <a:cs typeface="Segoe UI" pitchFamily="34" charset="-120"/>
              </a:rPr>
              <a:t>Sounded scripted</a:t>
            </a:r>
            <a:r>
              <a:rPr lang="en-US" sz="1050" dirty="0">
                <a:solidFill>
                  <a:srgbClr val="78350F"/>
                </a:solidFill>
                <a:latin typeface="Segoe UI" pitchFamily="34" charset="0"/>
                <a:ea typeface="Segoe UI" pitchFamily="34" charset="-122"/>
                <a:cs typeface="Segoe UI" pitchFamily="34" charset="-120"/>
              </a:rPr>
              <a:t>  delivery feels memorized</a:t>
            </a:r>
            <a:endParaRPr lang="en-US" sz="1050" dirty="0"/>
          </a:p>
        </p:txBody>
      </p:sp>
      <p:sp>
        <p:nvSpPr>
          <p:cNvPr id="25" name="Text 23"/>
          <p:cNvSpPr/>
          <p:nvPr/>
        </p:nvSpPr>
        <p:spPr>
          <a:xfrm>
            <a:off x="731520" y="5166360"/>
            <a:ext cx="5134356" cy="320040"/>
          </a:xfrm>
          <a:prstGeom prst="rect">
            <a:avLst/>
          </a:prstGeom>
          <a:noFill/>
          <a:ln/>
        </p:spPr>
        <p:txBody>
          <a:bodyPr wrap="square" rtlCol="0" anchor="ctr"/>
          <a:lstStyle/>
          <a:p>
            <a:pPr marL="0" indent="0">
              <a:buNone/>
            </a:pPr>
            <a:r>
              <a:rPr lang="en-US" sz="1050" dirty="0">
                <a:solidFill>
                  <a:srgbClr val="92400E"/>
                </a:solidFill>
                <a:latin typeface="Segoe UI" pitchFamily="34" charset="0"/>
                <a:ea typeface="Segoe UI" pitchFamily="34" charset="-122"/>
                <a:cs typeface="Segoe UI" pitchFamily="34" charset="-120"/>
              </a:rPr>
              <a:t>•  </a:t>
            </a:r>
            <a:r>
              <a:rPr lang="en-US" sz="1050" b="1" dirty="0">
                <a:solidFill>
                  <a:srgbClr val="92400E"/>
                </a:solidFill>
                <a:latin typeface="Segoe UI" pitchFamily="34" charset="0"/>
                <a:ea typeface="Segoe UI" pitchFamily="34" charset="-122"/>
                <a:cs typeface="Segoe UI" pitchFamily="34" charset="-120"/>
              </a:rPr>
              <a:t>Rapid pace</a:t>
            </a:r>
            <a:r>
              <a:rPr lang="en-US" sz="1050" dirty="0">
                <a:solidFill>
                  <a:srgbClr val="78350F"/>
                </a:solidFill>
                <a:latin typeface="Segoe UI" pitchFamily="34" charset="0"/>
                <a:ea typeface="Segoe UI" pitchFamily="34" charset="-122"/>
                <a:cs typeface="Segoe UI" pitchFamily="34" charset="-120"/>
              </a:rPr>
              <a:t>  customer had to ask you to repeat</a:t>
            </a:r>
            <a:endParaRPr lang="en-US" sz="1050" dirty="0"/>
          </a:p>
        </p:txBody>
      </p:sp>
      <p:sp>
        <p:nvSpPr>
          <p:cNvPr id="26" name="Text 24"/>
          <p:cNvSpPr/>
          <p:nvPr/>
        </p:nvSpPr>
        <p:spPr>
          <a:xfrm>
            <a:off x="731520" y="5486400"/>
            <a:ext cx="5134356" cy="320040"/>
          </a:xfrm>
          <a:prstGeom prst="rect">
            <a:avLst/>
          </a:prstGeom>
          <a:noFill/>
          <a:ln/>
        </p:spPr>
        <p:txBody>
          <a:bodyPr wrap="square" rtlCol="0" anchor="ctr"/>
          <a:lstStyle/>
          <a:p>
            <a:pPr marL="0" indent="0">
              <a:buNone/>
            </a:pPr>
            <a:r>
              <a:rPr lang="en-US" sz="1050" dirty="0">
                <a:solidFill>
                  <a:srgbClr val="92400E"/>
                </a:solidFill>
                <a:latin typeface="Segoe UI" pitchFamily="34" charset="0"/>
                <a:ea typeface="Segoe UI" pitchFamily="34" charset="-122"/>
                <a:cs typeface="Segoe UI" pitchFamily="34" charset="-120"/>
              </a:rPr>
              <a:t>•  </a:t>
            </a:r>
            <a:r>
              <a:rPr lang="en-US" sz="1050" b="1" dirty="0">
                <a:solidFill>
                  <a:srgbClr val="92400E"/>
                </a:solidFill>
                <a:latin typeface="Segoe UI" pitchFamily="34" charset="0"/>
                <a:ea typeface="Segoe UI" pitchFamily="34" charset="-122"/>
                <a:cs typeface="Segoe UI" pitchFamily="34" charset="-120"/>
              </a:rPr>
              <a:t>No name usage</a:t>
            </a:r>
            <a:r>
              <a:rPr lang="en-US" sz="1050" dirty="0">
                <a:solidFill>
                  <a:srgbClr val="78350F"/>
                </a:solidFill>
                <a:latin typeface="Segoe UI" pitchFamily="34" charset="0"/>
                <a:ea typeface="Segoe UI" pitchFamily="34" charset="-122"/>
                <a:cs typeface="Segoe UI" pitchFamily="34" charset="-120"/>
              </a:rPr>
              <a:t>  didn't use name (existing customer)</a:t>
            </a:r>
            <a:endParaRPr lang="en-US" sz="1050" dirty="0"/>
          </a:p>
        </p:txBody>
      </p:sp>
      <p:sp>
        <p:nvSpPr>
          <p:cNvPr id="27" name="Text 25"/>
          <p:cNvSpPr/>
          <p:nvPr/>
        </p:nvSpPr>
        <p:spPr>
          <a:xfrm>
            <a:off x="6505956" y="4846320"/>
            <a:ext cx="4951476" cy="320040"/>
          </a:xfrm>
          <a:prstGeom prst="rect">
            <a:avLst/>
          </a:prstGeom>
          <a:noFill/>
          <a:ln/>
        </p:spPr>
        <p:txBody>
          <a:bodyPr wrap="square" rtlCol="0" anchor="ctr"/>
          <a:lstStyle/>
          <a:p>
            <a:pPr marL="0" indent="0">
              <a:buNone/>
            </a:pPr>
            <a:r>
              <a:rPr lang="en-US" sz="1050" dirty="0">
                <a:solidFill>
                  <a:srgbClr val="92400E"/>
                </a:solidFill>
                <a:latin typeface="Segoe UI" pitchFamily="34" charset="0"/>
                <a:ea typeface="Segoe UI" pitchFamily="34" charset="-122"/>
                <a:cs typeface="Segoe UI" pitchFamily="34" charset="-120"/>
              </a:rPr>
              <a:t>•  </a:t>
            </a:r>
            <a:r>
              <a:rPr lang="en-US" sz="1050" b="1" dirty="0">
                <a:solidFill>
                  <a:srgbClr val="92400E"/>
                </a:solidFill>
                <a:latin typeface="Segoe UI" pitchFamily="34" charset="0"/>
                <a:ea typeface="Segoe UI" pitchFamily="34" charset="-122"/>
                <a:cs typeface="Segoe UI" pitchFamily="34" charset="-120"/>
              </a:rPr>
              <a:t>Delayed engagement</a:t>
            </a:r>
            <a:r>
              <a:rPr lang="en-US" sz="1050" dirty="0">
                <a:solidFill>
                  <a:srgbClr val="78350F"/>
                </a:solidFill>
                <a:latin typeface="Segoe UI" pitchFamily="34" charset="0"/>
                <a:ea typeface="Segoe UI" pitchFamily="34" charset="-122"/>
                <a:cs typeface="Segoe UI" pitchFamily="34" charset="-120"/>
              </a:rPr>
              <a:t>  too long to connect with customer</a:t>
            </a:r>
            <a:endParaRPr lang="en-US" sz="1050" dirty="0"/>
          </a:p>
        </p:txBody>
      </p:sp>
      <p:sp>
        <p:nvSpPr>
          <p:cNvPr id="28" name="Text 26"/>
          <p:cNvSpPr/>
          <p:nvPr/>
        </p:nvSpPr>
        <p:spPr>
          <a:xfrm>
            <a:off x="6505956" y="5166360"/>
            <a:ext cx="4951476" cy="320040"/>
          </a:xfrm>
          <a:prstGeom prst="rect">
            <a:avLst/>
          </a:prstGeom>
          <a:noFill/>
          <a:ln/>
        </p:spPr>
        <p:txBody>
          <a:bodyPr wrap="square" rtlCol="0" anchor="ctr"/>
          <a:lstStyle/>
          <a:p>
            <a:pPr marL="0" indent="0">
              <a:buNone/>
            </a:pPr>
            <a:r>
              <a:rPr lang="en-US" sz="1050" dirty="0">
                <a:solidFill>
                  <a:srgbClr val="92400E"/>
                </a:solidFill>
                <a:latin typeface="Segoe UI" pitchFamily="34" charset="0"/>
                <a:ea typeface="Segoe UI" pitchFamily="34" charset="-122"/>
                <a:cs typeface="Segoe UI" pitchFamily="34" charset="-120"/>
              </a:rPr>
              <a:t>•  </a:t>
            </a:r>
            <a:r>
              <a:rPr lang="en-US" sz="1050" b="1" dirty="0">
                <a:solidFill>
                  <a:srgbClr val="92400E"/>
                </a:solidFill>
                <a:latin typeface="Segoe UI" pitchFamily="34" charset="0"/>
                <a:ea typeface="Segoe UI" pitchFamily="34" charset="-122"/>
                <a:cs typeface="Segoe UI" pitchFamily="34" charset="-120"/>
              </a:rPr>
              <a:t>Skipped personal moment</a:t>
            </a:r>
            <a:r>
              <a:rPr lang="en-US" sz="1050" dirty="0">
                <a:solidFill>
                  <a:srgbClr val="78350F"/>
                </a:solidFill>
                <a:latin typeface="Segoe UI" pitchFamily="34" charset="0"/>
                <a:ea typeface="Segoe UI" pitchFamily="34" charset="-122"/>
                <a:cs typeface="Segoe UI" pitchFamily="34" charset="-120"/>
              </a:rPr>
              <a:t>  no pause between name and pitch</a:t>
            </a:r>
            <a:endParaRPr lang="en-US" sz="1050" dirty="0"/>
          </a:p>
        </p:txBody>
      </p:sp>
      <p:sp>
        <p:nvSpPr>
          <p:cNvPr id="29" name="Text 27"/>
          <p:cNvSpPr/>
          <p:nvPr/>
        </p:nvSpPr>
        <p:spPr>
          <a:xfrm>
            <a:off x="6505956" y="5486400"/>
            <a:ext cx="4951476" cy="320040"/>
          </a:xfrm>
          <a:prstGeom prst="rect">
            <a:avLst/>
          </a:prstGeom>
          <a:noFill/>
          <a:ln/>
        </p:spPr>
        <p:txBody>
          <a:bodyPr wrap="square" rtlCol="0" anchor="ctr"/>
          <a:lstStyle/>
          <a:p>
            <a:pPr marL="0" indent="0">
              <a:buNone/>
            </a:pPr>
            <a:r>
              <a:rPr lang="en-US" sz="1050" dirty="0">
                <a:solidFill>
                  <a:srgbClr val="92400E"/>
                </a:solidFill>
                <a:latin typeface="Segoe UI" pitchFamily="34" charset="0"/>
                <a:ea typeface="Segoe UI" pitchFamily="34" charset="-122"/>
                <a:cs typeface="Segoe UI" pitchFamily="34" charset="-120"/>
              </a:rPr>
              <a:t>•  </a:t>
            </a:r>
            <a:r>
              <a:rPr lang="en-US" sz="1050" b="1" dirty="0">
                <a:solidFill>
                  <a:srgbClr val="92400E"/>
                </a:solidFill>
                <a:latin typeface="Segoe UI" pitchFamily="34" charset="0"/>
                <a:ea typeface="Segoe UI" pitchFamily="34" charset="-122"/>
                <a:cs typeface="Segoe UI" pitchFamily="34" charset="-120"/>
              </a:rPr>
              <a:t>State compliance missed</a:t>
            </a:r>
            <a:r>
              <a:rPr lang="en-US" sz="1050" dirty="0">
                <a:solidFill>
                  <a:srgbClr val="78350F"/>
                </a:solidFill>
                <a:latin typeface="Segoe UI" pitchFamily="34" charset="0"/>
                <a:ea typeface="Segoe UI" pitchFamily="34" charset="-122"/>
                <a:cs typeface="Segoe UI" pitchFamily="34" charset="-120"/>
              </a:rPr>
              <a:t>  IL/KY/CT special scripts not followed</a:t>
            </a:r>
            <a:endParaRPr lang="en-US" sz="1050" dirty="0"/>
          </a:p>
        </p:txBody>
      </p:sp>
      <p:sp>
        <p:nvSpPr>
          <p:cNvPr id="30" name="Text 28"/>
          <p:cNvSpPr/>
          <p:nvPr/>
        </p:nvSpPr>
        <p:spPr>
          <a:xfrm>
            <a:off x="0" y="6537960"/>
            <a:ext cx="12188952" cy="274320"/>
          </a:xfrm>
          <a:prstGeom prst="rect">
            <a:avLst/>
          </a:prstGeom>
          <a:noFill/>
          <a:ln/>
        </p:spPr>
        <p:txBody>
          <a:bodyPr wrap="square" rtlCol="0" anchor="ctr"/>
          <a:lstStyle/>
          <a:p>
            <a:pPr marL="0" indent="0" algn="ctr">
              <a:buNone/>
            </a:pPr>
            <a:r>
              <a:rPr lang="en-US" sz="800" dirty="0">
                <a:solidFill>
                  <a:srgbClr val="64748B"/>
                </a:solidFill>
                <a:latin typeface="Segoe UI" pitchFamily="34" charset="0"/>
                <a:ea typeface="Segoe UI" pitchFamily="34" charset="-122"/>
                <a:cs typeface="Segoe UI" pitchFamily="34" charset="-120"/>
              </a:rPr>
              <a:t>Catalyst Coaching Bootcamp  |  DR Site  |  Day 1 of 5  |  March 2026</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8B5CF6"/>
          </a:solidFill>
          <a:ln/>
        </p:spPr>
        <p:txBody>
          <a:bodyPr/>
          <a:lstStyle/>
          <a:p>
            <a:endParaRPr lang="en-US"/>
          </a:p>
        </p:txBody>
      </p:sp>
      <p:sp>
        <p:nvSpPr>
          <p:cNvPr id="3" name="Shape 1"/>
          <p:cNvSpPr/>
          <p:nvPr/>
        </p:nvSpPr>
        <p:spPr>
          <a:xfrm>
            <a:off x="0" y="0"/>
            <a:ext cx="12188952" cy="1051560"/>
          </a:xfrm>
          <a:prstGeom prst="rect">
            <a:avLst/>
          </a:prstGeom>
          <a:solidFill>
            <a:srgbClr val="7C3AED">
              <a:alpha val="40000"/>
            </a:srgbClr>
          </a:solidFill>
          <a:ln/>
        </p:spPr>
        <p:txBody>
          <a:bodyPr/>
          <a:lstStyle/>
          <a:p>
            <a:endParaRPr lang="en-US"/>
          </a:p>
        </p:txBody>
      </p:sp>
      <p:sp>
        <p:nvSpPr>
          <p:cNvPr id="4" name="Text 2"/>
          <p:cNvSpPr/>
          <p:nvPr/>
        </p:nvSpPr>
        <p:spPr>
          <a:xfrm>
            <a:off x="457200" y="137160"/>
            <a:ext cx="9445752" cy="457200"/>
          </a:xfrm>
          <a:prstGeom prst="rect">
            <a:avLst/>
          </a:prstGeom>
          <a:noFill/>
          <a:ln/>
        </p:spPr>
        <p:txBody>
          <a:bodyPr wrap="square" rtlCol="0" anchor="ctr"/>
          <a:lstStyle/>
          <a:p>
            <a:pPr marL="0" indent="0">
              <a:buNone/>
            </a:pPr>
            <a:r>
              <a:rPr lang="en-US" sz="2800" b="1" dirty="0">
                <a:solidFill>
                  <a:srgbClr val="FFFFFF"/>
                </a:solidFill>
                <a:latin typeface="Segoe UI" pitchFamily="34" charset="0"/>
                <a:ea typeface="Segoe UI" pitchFamily="34" charset="-122"/>
                <a:cs typeface="Segoe UI" pitchFamily="34" charset="-120"/>
              </a:rPr>
              <a:t>Discovering with Intent</a:t>
            </a:r>
            <a:endParaRPr lang="en-US" sz="2800" dirty="0"/>
          </a:p>
        </p:txBody>
      </p:sp>
      <p:sp>
        <p:nvSpPr>
          <p:cNvPr id="5" name="Text 3"/>
          <p:cNvSpPr/>
          <p:nvPr/>
        </p:nvSpPr>
        <p:spPr>
          <a:xfrm>
            <a:off x="457200" y="594360"/>
            <a:ext cx="9445752" cy="274320"/>
          </a:xfrm>
          <a:prstGeom prst="rect">
            <a:avLst/>
          </a:prstGeom>
          <a:noFill/>
          <a:ln/>
        </p:spPr>
        <p:txBody>
          <a:bodyPr wrap="square" rtlCol="0" anchor="ctr"/>
          <a:lstStyle/>
          <a:p>
            <a:pPr marL="0" indent="0">
              <a:buNone/>
            </a:pPr>
            <a:r>
              <a:rPr lang="en-US" sz="1400" i="1" dirty="0">
                <a:solidFill>
                  <a:srgbClr val="FFFFFF">
                    <a:alpha val="85000"/>
                  </a:srgbClr>
                </a:solidFill>
                <a:latin typeface="Segoe UI" pitchFamily="34" charset="0"/>
                <a:ea typeface="Segoe UI" pitchFamily="34" charset="-122"/>
                <a:cs typeface="Segoe UI" pitchFamily="34" charset="-120"/>
              </a:rPr>
              <a:t>Qualitative vs. Quantitative</a:t>
            </a:r>
            <a:endParaRPr lang="en-US" sz="1400" dirty="0"/>
          </a:p>
        </p:txBody>
      </p:sp>
      <p:sp>
        <p:nvSpPr>
          <p:cNvPr id="6" name="Shape 4"/>
          <p:cNvSpPr/>
          <p:nvPr/>
        </p:nvSpPr>
        <p:spPr>
          <a:xfrm>
            <a:off x="10543032" y="182880"/>
            <a:ext cx="1188720" cy="685800"/>
          </a:xfrm>
          <a:prstGeom prst="roundRect">
            <a:avLst>
              <a:gd name="adj" fmla="val 13333"/>
            </a:avLst>
          </a:prstGeom>
          <a:solidFill>
            <a:srgbClr val="FFFFFF">
              <a:alpha val="20000"/>
            </a:srgbClr>
          </a:solidFill>
          <a:ln/>
        </p:spPr>
        <p:txBody>
          <a:bodyPr/>
          <a:lstStyle/>
          <a:p>
            <a:endParaRPr lang="en-US"/>
          </a:p>
        </p:txBody>
      </p:sp>
      <p:sp>
        <p:nvSpPr>
          <p:cNvPr id="7" name="Text 5"/>
          <p:cNvSpPr/>
          <p:nvPr/>
        </p:nvSpPr>
        <p:spPr>
          <a:xfrm>
            <a:off x="10543032" y="182880"/>
            <a:ext cx="1188720" cy="68580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Day 2</a:t>
            </a:r>
            <a:endParaRPr lang="en-US" sz="2000" dirty="0"/>
          </a:p>
        </p:txBody>
      </p:sp>
      <p:sp>
        <p:nvSpPr>
          <p:cNvPr id="8" name="Text 6"/>
          <p:cNvSpPr/>
          <p:nvPr/>
        </p:nvSpPr>
        <p:spPr>
          <a:xfrm>
            <a:off x="457200" y="1234440"/>
            <a:ext cx="11274552" cy="320040"/>
          </a:xfrm>
          <a:prstGeom prst="rect">
            <a:avLst/>
          </a:prstGeom>
          <a:noFill/>
          <a:ln/>
        </p:spPr>
        <p:txBody>
          <a:bodyPr wrap="square" rtlCol="0" anchor="ctr"/>
          <a:lstStyle/>
          <a:p>
            <a:pPr marL="0" indent="0">
              <a:buNone/>
            </a:pPr>
            <a:r>
              <a:rPr lang="en-US" sz="1800" b="1" dirty="0">
                <a:solidFill>
                  <a:srgbClr val="1E293B"/>
                </a:solidFill>
                <a:latin typeface="Segoe UI" pitchFamily="34" charset="0"/>
                <a:ea typeface="Segoe UI" pitchFamily="34" charset="-122"/>
                <a:cs typeface="Segoe UI" pitchFamily="34" charset="-120"/>
              </a:rPr>
              <a:t>Why This Matters</a:t>
            </a:r>
            <a:endParaRPr lang="en-US" sz="1800" dirty="0"/>
          </a:p>
        </p:txBody>
      </p:sp>
      <p:sp>
        <p:nvSpPr>
          <p:cNvPr id="9" name="Text 7"/>
          <p:cNvSpPr/>
          <p:nvPr/>
        </p:nvSpPr>
        <p:spPr>
          <a:xfrm>
            <a:off x="457200" y="1600200"/>
            <a:ext cx="11274552" cy="594360"/>
          </a:xfrm>
          <a:prstGeom prst="rect">
            <a:avLst/>
          </a:prstGeom>
          <a:noFill/>
          <a:ln/>
        </p:spPr>
        <p:txBody>
          <a:bodyPr wrap="square" rtlCol="0" anchor="ctr"/>
          <a:lstStyle/>
          <a:p>
            <a:pPr marL="0" indent="0">
              <a:lnSpc>
                <a:spcPts val="2200"/>
              </a:lnSpc>
              <a:buNone/>
            </a:pPr>
            <a:r>
              <a:rPr lang="en-US" sz="1300" dirty="0">
                <a:solidFill>
                  <a:srgbClr val="475569"/>
                </a:solidFill>
                <a:latin typeface="Segoe UI" pitchFamily="34" charset="0"/>
                <a:ea typeface="Segoe UI" pitchFamily="34" charset="-122"/>
                <a:cs typeface="Segoe UI" pitchFamily="34" charset="-120"/>
              </a:rPr>
              <a:t>Discovery is the agent asking questions, not the customer asking you. It's the foundation of the entire pitch. A generic pitch happens because of generic discovery. A tailored pitch that closes happens because you uncovered something real.</a:t>
            </a:r>
            <a:endParaRPr lang="en-US" sz="1300" dirty="0"/>
          </a:p>
        </p:txBody>
      </p:sp>
      <p:sp>
        <p:nvSpPr>
          <p:cNvPr id="10" name="Shape 8"/>
          <p:cNvSpPr/>
          <p:nvPr/>
        </p:nvSpPr>
        <p:spPr>
          <a:xfrm>
            <a:off x="457200" y="2331720"/>
            <a:ext cx="11274552" cy="365760"/>
          </a:xfrm>
          <a:prstGeom prst="roundRect">
            <a:avLst>
              <a:gd name="adj" fmla="val 15000"/>
            </a:avLst>
          </a:prstGeom>
          <a:solidFill>
            <a:srgbClr val="8B5CF6"/>
          </a:solidFill>
          <a:ln/>
        </p:spPr>
        <p:txBody>
          <a:bodyPr/>
          <a:lstStyle/>
          <a:p>
            <a:endParaRPr lang="en-US"/>
          </a:p>
        </p:txBody>
      </p:sp>
      <p:sp>
        <p:nvSpPr>
          <p:cNvPr id="11" name="Text 9"/>
          <p:cNvSpPr/>
          <p:nvPr/>
        </p:nvSpPr>
        <p:spPr>
          <a:xfrm>
            <a:off x="640080" y="2331720"/>
            <a:ext cx="10908792" cy="36576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The 4 Pillars of Discovery</a:t>
            </a:r>
            <a:endParaRPr lang="en-US" sz="1200" dirty="0"/>
          </a:p>
        </p:txBody>
      </p:sp>
      <p:sp>
        <p:nvSpPr>
          <p:cNvPr id="12" name="Shape 10"/>
          <p:cNvSpPr/>
          <p:nvPr/>
        </p:nvSpPr>
        <p:spPr>
          <a:xfrm>
            <a:off x="457200" y="2834640"/>
            <a:ext cx="2681478" cy="2377440"/>
          </a:xfrm>
          <a:prstGeom prst="roundRect">
            <a:avLst>
              <a:gd name="adj" fmla="val 3846"/>
            </a:avLst>
          </a:prstGeom>
          <a:solidFill>
            <a:srgbClr val="F5F3FF"/>
          </a:solidFill>
          <a:ln w="12700">
            <a:solidFill>
              <a:srgbClr val="A78BFA"/>
            </a:solidFill>
            <a:prstDash val="solid"/>
          </a:ln>
        </p:spPr>
        <p:txBody>
          <a:bodyPr/>
          <a:lstStyle/>
          <a:p>
            <a:endParaRPr lang="en-US"/>
          </a:p>
        </p:txBody>
      </p:sp>
      <p:sp>
        <p:nvSpPr>
          <p:cNvPr id="13" name="Text 11"/>
          <p:cNvSpPr/>
          <p:nvPr/>
        </p:nvSpPr>
        <p:spPr>
          <a:xfrm>
            <a:off x="457200" y="2926080"/>
            <a:ext cx="2681478" cy="365760"/>
          </a:xfrm>
          <a:prstGeom prst="rect">
            <a:avLst/>
          </a:prstGeom>
          <a:noFill/>
          <a:ln/>
        </p:spPr>
        <p:txBody>
          <a:bodyPr wrap="square" rtlCol="0" anchor="ctr"/>
          <a:lstStyle/>
          <a:p>
            <a:pPr marL="0" indent="0" algn="ctr">
              <a:buNone/>
            </a:pPr>
            <a:r>
              <a:rPr lang="en-US" sz="1600" b="1" dirty="0">
                <a:solidFill>
                  <a:srgbClr val="8B5CF6"/>
                </a:solidFill>
                <a:latin typeface="Segoe UI" pitchFamily="34" charset="0"/>
                <a:ea typeface="Segoe UI" pitchFamily="34" charset="-122"/>
                <a:cs typeface="Segoe UI" pitchFamily="34" charset="-120"/>
              </a:rPr>
              <a:t>Users</a:t>
            </a:r>
            <a:endParaRPr lang="en-US" sz="1600" dirty="0"/>
          </a:p>
        </p:txBody>
      </p:sp>
      <p:sp>
        <p:nvSpPr>
          <p:cNvPr id="14" name="Text 12"/>
          <p:cNvSpPr/>
          <p:nvPr/>
        </p:nvSpPr>
        <p:spPr>
          <a:xfrm>
            <a:off x="594360" y="3337560"/>
            <a:ext cx="2407158" cy="640080"/>
          </a:xfrm>
          <a:prstGeom prst="rect">
            <a:avLst/>
          </a:prstGeom>
          <a:noFill/>
          <a:ln/>
        </p:spPr>
        <p:txBody>
          <a:bodyPr wrap="square" rtlCol="0" anchor="ctr"/>
          <a:lstStyle/>
          <a:p>
            <a:pPr marL="0" indent="0" algn="ctr">
              <a:lnSpc>
                <a:spcPts val="1800"/>
              </a:lnSpc>
              <a:buNone/>
            </a:pPr>
            <a:r>
              <a:rPr lang="en-US" sz="1050" dirty="0">
                <a:solidFill>
                  <a:srgbClr val="475569"/>
                </a:solidFill>
                <a:latin typeface="Segoe UI" pitchFamily="34" charset="0"/>
                <a:ea typeface="Segoe UI" pitchFamily="34" charset="-122"/>
                <a:cs typeface="Segoe UI" pitchFamily="34" charset="-120"/>
              </a:rPr>
              <a:t>Who lives in the home?</a:t>
            </a:r>
            <a:endParaRPr lang="en-US" sz="1050" dirty="0"/>
          </a:p>
          <a:p>
            <a:pPr marL="0" indent="0" algn="ctr">
              <a:lnSpc>
                <a:spcPts val="1800"/>
              </a:lnSpc>
              <a:buNone/>
            </a:pPr>
            <a:r>
              <a:rPr lang="en-US" sz="1050" dirty="0">
                <a:solidFill>
                  <a:srgbClr val="475569"/>
                </a:solidFill>
                <a:latin typeface="Segoe UI" pitchFamily="34" charset="0"/>
                <a:ea typeface="Segoe UI" pitchFamily="34" charset="-122"/>
                <a:cs typeface="Segoe UI" pitchFamily="34" charset="-120"/>
              </a:rPr>
              <a:t>Adults, kids, elderly, remote workers?</a:t>
            </a:r>
            <a:endParaRPr lang="en-US" sz="1050" dirty="0"/>
          </a:p>
        </p:txBody>
      </p:sp>
      <p:sp>
        <p:nvSpPr>
          <p:cNvPr id="15" name="Text 13"/>
          <p:cNvSpPr/>
          <p:nvPr/>
        </p:nvSpPr>
        <p:spPr>
          <a:xfrm>
            <a:off x="594360" y="4069080"/>
            <a:ext cx="2407158" cy="822960"/>
          </a:xfrm>
          <a:prstGeom prst="rect">
            <a:avLst/>
          </a:prstGeom>
          <a:noFill/>
          <a:ln/>
        </p:spPr>
        <p:txBody>
          <a:bodyPr wrap="square" rtlCol="0" anchor="ctr"/>
          <a:lstStyle/>
          <a:p>
            <a:pPr marL="0" indent="0" algn="ctr">
              <a:lnSpc>
                <a:spcPts val="1800"/>
              </a:lnSpc>
              <a:buNone/>
            </a:pPr>
            <a:r>
              <a:rPr lang="en-US" sz="1050" i="1" dirty="0">
                <a:solidFill>
                  <a:srgbClr val="0C4A6E"/>
                </a:solidFill>
                <a:latin typeface="Segoe UI" pitchFamily="34" charset="0"/>
                <a:ea typeface="Segoe UI" pitchFamily="34" charset="-122"/>
                <a:cs typeface="Segoe UI" pitchFamily="34" charset="-120"/>
              </a:rPr>
              <a:t>"Who all is in the household using WiFi or devices?"</a:t>
            </a:r>
            <a:endParaRPr lang="en-US" sz="1050" dirty="0"/>
          </a:p>
        </p:txBody>
      </p:sp>
      <p:sp>
        <p:nvSpPr>
          <p:cNvPr id="16" name="Shape 14"/>
          <p:cNvSpPr/>
          <p:nvPr/>
        </p:nvSpPr>
        <p:spPr>
          <a:xfrm>
            <a:off x="3321558" y="2834640"/>
            <a:ext cx="2681478" cy="2377440"/>
          </a:xfrm>
          <a:prstGeom prst="roundRect">
            <a:avLst>
              <a:gd name="adj" fmla="val 3846"/>
            </a:avLst>
          </a:prstGeom>
          <a:solidFill>
            <a:srgbClr val="F5F3FF"/>
          </a:solidFill>
          <a:ln w="12700">
            <a:solidFill>
              <a:srgbClr val="A78BFA"/>
            </a:solidFill>
            <a:prstDash val="solid"/>
          </a:ln>
        </p:spPr>
        <p:txBody>
          <a:bodyPr/>
          <a:lstStyle/>
          <a:p>
            <a:endParaRPr lang="en-US"/>
          </a:p>
        </p:txBody>
      </p:sp>
      <p:sp>
        <p:nvSpPr>
          <p:cNvPr id="17" name="Text 15"/>
          <p:cNvSpPr/>
          <p:nvPr/>
        </p:nvSpPr>
        <p:spPr>
          <a:xfrm>
            <a:off x="3321558" y="2926080"/>
            <a:ext cx="2681478" cy="365760"/>
          </a:xfrm>
          <a:prstGeom prst="rect">
            <a:avLst/>
          </a:prstGeom>
          <a:noFill/>
          <a:ln/>
        </p:spPr>
        <p:txBody>
          <a:bodyPr wrap="square" rtlCol="0" anchor="ctr"/>
          <a:lstStyle/>
          <a:p>
            <a:pPr marL="0" indent="0" algn="ctr">
              <a:buNone/>
            </a:pPr>
            <a:r>
              <a:rPr lang="en-US" sz="1600" b="1" dirty="0">
                <a:solidFill>
                  <a:srgbClr val="8B5CF6"/>
                </a:solidFill>
                <a:latin typeface="Segoe UI" pitchFamily="34" charset="0"/>
                <a:ea typeface="Segoe UI" pitchFamily="34" charset="-122"/>
                <a:cs typeface="Segoe UI" pitchFamily="34" charset="-120"/>
              </a:rPr>
              <a:t>Usage</a:t>
            </a:r>
            <a:endParaRPr lang="en-US" sz="1600" dirty="0"/>
          </a:p>
        </p:txBody>
      </p:sp>
      <p:sp>
        <p:nvSpPr>
          <p:cNvPr id="18" name="Text 16"/>
          <p:cNvSpPr/>
          <p:nvPr/>
        </p:nvSpPr>
        <p:spPr>
          <a:xfrm>
            <a:off x="3458718" y="3337560"/>
            <a:ext cx="2407158" cy="640080"/>
          </a:xfrm>
          <a:prstGeom prst="rect">
            <a:avLst/>
          </a:prstGeom>
          <a:noFill/>
          <a:ln/>
        </p:spPr>
        <p:txBody>
          <a:bodyPr wrap="square" rtlCol="0" anchor="ctr"/>
          <a:lstStyle/>
          <a:p>
            <a:pPr marL="0" indent="0" algn="ctr">
              <a:lnSpc>
                <a:spcPts val="1800"/>
              </a:lnSpc>
              <a:buNone/>
            </a:pPr>
            <a:r>
              <a:rPr lang="en-US" sz="1050" dirty="0">
                <a:solidFill>
                  <a:srgbClr val="475569"/>
                </a:solidFill>
                <a:latin typeface="Segoe UI" pitchFamily="34" charset="0"/>
                <a:ea typeface="Segoe UI" pitchFamily="34" charset="-122"/>
                <a:cs typeface="Segoe UI" pitchFamily="34" charset="-120"/>
              </a:rPr>
              <a:t>How do they use services?</a:t>
            </a:r>
            <a:endParaRPr lang="en-US" sz="1050" dirty="0"/>
          </a:p>
          <a:p>
            <a:pPr marL="0" indent="0" algn="ctr">
              <a:lnSpc>
                <a:spcPts val="1800"/>
              </a:lnSpc>
              <a:buNone/>
            </a:pPr>
            <a:r>
              <a:rPr lang="en-US" sz="1050" dirty="0">
                <a:solidFill>
                  <a:srgbClr val="475569"/>
                </a:solidFill>
                <a:latin typeface="Segoe UI" pitchFamily="34" charset="0"/>
                <a:ea typeface="Segoe UI" pitchFamily="34" charset="-122"/>
                <a:cs typeface="Segoe UI" pitchFamily="34" charset="-120"/>
              </a:rPr>
              <a:t>Streaming, gaming, WFH, school?</a:t>
            </a:r>
            <a:endParaRPr lang="en-US" sz="1050" dirty="0"/>
          </a:p>
        </p:txBody>
      </p:sp>
      <p:sp>
        <p:nvSpPr>
          <p:cNvPr id="19" name="Text 17"/>
          <p:cNvSpPr/>
          <p:nvPr/>
        </p:nvSpPr>
        <p:spPr>
          <a:xfrm>
            <a:off x="3458718" y="4069080"/>
            <a:ext cx="2407158" cy="822960"/>
          </a:xfrm>
          <a:prstGeom prst="rect">
            <a:avLst/>
          </a:prstGeom>
          <a:noFill/>
          <a:ln/>
        </p:spPr>
        <p:txBody>
          <a:bodyPr wrap="square" rtlCol="0" anchor="ctr"/>
          <a:lstStyle/>
          <a:p>
            <a:pPr marL="0" indent="0" algn="ctr">
              <a:lnSpc>
                <a:spcPts val="1800"/>
              </a:lnSpc>
              <a:buNone/>
            </a:pPr>
            <a:r>
              <a:rPr lang="en-US" sz="1050" i="1" dirty="0">
                <a:solidFill>
                  <a:srgbClr val="0C4A6E"/>
                </a:solidFill>
                <a:latin typeface="Segoe UI" pitchFamily="34" charset="0"/>
                <a:ea typeface="Segoe UI" pitchFamily="34" charset="-122"/>
                <a:cs typeface="Segoe UI" pitchFamily="34" charset="-120"/>
              </a:rPr>
              <a:t>"Walk me through a typical evening - what's everyone doing online?"</a:t>
            </a:r>
            <a:endParaRPr lang="en-US" sz="1050" dirty="0"/>
          </a:p>
        </p:txBody>
      </p:sp>
      <p:sp>
        <p:nvSpPr>
          <p:cNvPr id="20" name="Shape 18"/>
          <p:cNvSpPr/>
          <p:nvPr/>
        </p:nvSpPr>
        <p:spPr>
          <a:xfrm>
            <a:off x="6185916" y="2834640"/>
            <a:ext cx="2681478" cy="2377440"/>
          </a:xfrm>
          <a:prstGeom prst="roundRect">
            <a:avLst>
              <a:gd name="adj" fmla="val 3846"/>
            </a:avLst>
          </a:prstGeom>
          <a:solidFill>
            <a:srgbClr val="F5F3FF"/>
          </a:solidFill>
          <a:ln w="12700">
            <a:solidFill>
              <a:srgbClr val="A78BFA"/>
            </a:solidFill>
            <a:prstDash val="solid"/>
          </a:ln>
        </p:spPr>
        <p:txBody>
          <a:bodyPr/>
          <a:lstStyle/>
          <a:p>
            <a:endParaRPr lang="en-US"/>
          </a:p>
        </p:txBody>
      </p:sp>
      <p:sp>
        <p:nvSpPr>
          <p:cNvPr id="21" name="Text 19"/>
          <p:cNvSpPr/>
          <p:nvPr/>
        </p:nvSpPr>
        <p:spPr>
          <a:xfrm>
            <a:off x="6185916" y="2926080"/>
            <a:ext cx="2681478" cy="365760"/>
          </a:xfrm>
          <a:prstGeom prst="rect">
            <a:avLst/>
          </a:prstGeom>
          <a:noFill/>
          <a:ln/>
        </p:spPr>
        <p:txBody>
          <a:bodyPr wrap="square" rtlCol="0" anchor="ctr"/>
          <a:lstStyle/>
          <a:p>
            <a:pPr marL="0" indent="0" algn="ctr">
              <a:buNone/>
            </a:pPr>
            <a:r>
              <a:rPr lang="en-US" sz="1600" b="1" dirty="0">
                <a:solidFill>
                  <a:srgbClr val="8B5CF6"/>
                </a:solidFill>
                <a:latin typeface="Segoe UI" pitchFamily="34" charset="0"/>
                <a:ea typeface="Segoe UI" pitchFamily="34" charset="-122"/>
                <a:cs typeface="Segoe UI" pitchFamily="34" charset="-120"/>
              </a:rPr>
              <a:t>Devices</a:t>
            </a:r>
            <a:endParaRPr lang="en-US" sz="1600" dirty="0"/>
          </a:p>
        </p:txBody>
      </p:sp>
      <p:sp>
        <p:nvSpPr>
          <p:cNvPr id="22" name="Text 20"/>
          <p:cNvSpPr/>
          <p:nvPr/>
        </p:nvSpPr>
        <p:spPr>
          <a:xfrm>
            <a:off x="6323076" y="3337560"/>
            <a:ext cx="2407158" cy="640080"/>
          </a:xfrm>
          <a:prstGeom prst="rect">
            <a:avLst/>
          </a:prstGeom>
          <a:noFill/>
          <a:ln/>
        </p:spPr>
        <p:txBody>
          <a:bodyPr wrap="square" rtlCol="0" anchor="ctr"/>
          <a:lstStyle/>
          <a:p>
            <a:pPr marL="0" indent="0" algn="ctr">
              <a:lnSpc>
                <a:spcPts val="1800"/>
              </a:lnSpc>
              <a:buNone/>
            </a:pPr>
            <a:r>
              <a:rPr lang="en-US" sz="1050" dirty="0">
                <a:solidFill>
                  <a:srgbClr val="475569"/>
                </a:solidFill>
                <a:latin typeface="Segoe UI" pitchFamily="34" charset="0"/>
                <a:ea typeface="Segoe UI" pitchFamily="34" charset="-122"/>
                <a:cs typeface="Segoe UI" pitchFamily="34" charset="-120"/>
              </a:rPr>
              <a:t>What are they connecting?</a:t>
            </a:r>
            <a:endParaRPr lang="en-US" sz="1050" dirty="0"/>
          </a:p>
          <a:p>
            <a:pPr marL="0" indent="0" algn="ctr">
              <a:lnSpc>
                <a:spcPts val="1800"/>
              </a:lnSpc>
              <a:buNone/>
            </a:pPr>
            <a:r>
              <a:rPr lang="en-US" sz="1050" dirty="0">
                <a:solidFill>
                  <a:srgbClr val="475569"/>
                </a:solidFill>
                <a:latin typeface="Segoe UI" pitchFamily="34" charset="0"/>
                <a:ea typeface="Segoe UI" pitchFamily="34" charset="-122"/>
                <a:cs typeface="Segoe UI" pitchFamily="34" charset="-120"/>
              </a:rPr>
              <a:t>Phones, tablets, smart home?</a:t>
            </a:r>
            <a:endParaRPr lang="en-US" sz="1050" dirty="0"/>
          </a:p>
        </p:txBody>
      </p:sp>
      <p:sp>
        <p:nvSpPr>
          <p:cNvPr id="23" name="Text 21"/>
          <p:cNvSpPr/>
          <p:nvPr/>
        </p:nvSpPr>
        <p:spPr>
          <a:xfrm>
            <a:off x="6323076" y="4069080"/>
            <a:ext cx="2407158" cy="822960"/>
          </a:xfrm>
          <a:prstGeom prst="rect">
            <a:avLst/>
          </a:prstGeom>
          <a:noFill/>
          <a:ln/>
        </p:spPr>
        <p:txBody>
          <a:bodyPr wrap="square" rtlCol="0" anchor="ctr"/>
          <a:lstStyle/>
          <a:p>
            <a:pPr marL="0" indent="0" algn="ctr">
              <a:lnSpc>
                <a:spcPts val="1800"/>
              </a:lnSpc>
              <a:buNone/>
            </a:pPr>
            <a:r>
              <a:rPr lang="en-US" sz="1050" i="1" dirty="0">
                <a:solidFill>
                  <a:srgbClr val="0C4A6E"/>
                </a:solidFill>
                <a:latin typeface="Segoe UI" pitchFamily="34" charset="0"/>
                <a:ea typeface="Segoe UI" pitchFamily="34" charset="-122"/>
                <a:cs typeface="Segoe UI" pitchFamily="34" charset="-120"/>
              </a:rPr>
              <a:t>"How many devices are connected to your WiFi at any given time?"</a:t>
            </a:r>
            <a:endParaRPr lang="en-US" sz="1050" dirty="0"/>
          </a:p>
        </p:txBody>
      </p:sp>
      <p:sp>
        <p:nvSpPr>
          <p:cNvPr id="24" name="Shape 22"/>
          <p:cNvSpPr/>
          <p:nvPr/>
        </p:nvSpPr>
        <p:spPr>
          <a:xfrm>
            <a:off x="9050274" y="2834640"/>
            <a:ext cx="2681478" cy="2377440"/>
          </a:xfrm>
          <a:prstGeom prst="roundRect">
            <a:avLst>
              <a:gd name="adj" fmla="val 3846"/>
            </a:avLst>
          </a:prstGeom>
          <a:solidFill>
            <a:srgbClr val="F5F3FF"/>
          </a:solidFill>
          <a:ln w="12700">
            <a:solidFill>
              <a:srgbClr val="A78BFA"/>
            </a:solidFill>
            <a:prstDash val="solid"/>
          </a:ln>
        </p:spPr>
        <p:txBody>
          <a:bodyPr/>
          <a:lstStyle/>
          <a:p>
            <a:endParaRPr lang="en-US"/>
          </a:p>
        </p:txBody>
      </p:sp>
      <p:sp>
        <p:nvSpPr>
          <p:cNvPr id="25" name="Text 23"/>
          <p:cNvSpPr/>
          <p:nvPr/>
        </p:nvSpPr>
        <p:spPr>
          <a:xfrm>
            <a:off x="9050274" y="2926080"/>
            <a:ext cx="2681478" cy="365760"/>
          </a:xfrm>
          <a:prstGeom prst="rect">
            <a:avLst/>
          </a:prstGeom>
          <a:noFill/>
          <a:ln/>
        </p:spPr>
        <p:txBody>
          <a:bodyPr wrap="square" rtlCol="0" anchor="ctr"/>
          <a:lstStyle/>
          <a:p>
            <a:pPr marL="0" indent="0" algn="ctr">
              <a:buNone/>
            </a:pPr>
            <a:r>
              <a:rPr lang="en-US" sz="1600" b="1" dirty="0">
                <a:solidFill>
                  <a:srgbClr val="8B5CF6"/>
                </a:solidFill>
                <a:latin typeface="Segoe UI" pitchFamily="34" charset="0"/>
                <a:ea typeface="Segoe UI" pitchFamily="34" charset="-122"/>
                <a:cs typeface="Segoe UI" pitchFamily="34" charset="-120"/>
              </a:rPr>
              <a:t>Cost</a:t>
            </a:r>
            <a:endParaRPr lang="en-US" sz="1600" dirty="0"/>
          </a:p>
        </p:txBody>
      </p:sp>
      <p:sp>
        <p:nvSpPr>
          <p:cNvPr id="26" name="Text 24"/>
          <p:cNvSpPr/>
          <p:nvPr/>
        </p:nvSpPr>
        <p:spPr>
          <a:xfrm>
            <a:off x="9187434" y="3337560"/>
            <a:ext cx="2407158" cy="640080"/>
          </a:xfrm>
          <a:prstGeom prst="rect">
            <a:avLst/>
          </a:prstGeom>
          <a:noFill/>
          <a:ln/>
        </p:spPr>
        <p:txBody>
          <a:bodyPr wrap="square" rtlCol="0" anchor="ctr"/>
          <a:lstStyle/>
          <a:p>
            <a:pPr marL="0" indent="0" algn="ctr">
              <a:lnSpc>
                <a:spcPts val="1800"/>
              </a:lnSpc>
              <a:buNone/>
            </a:pPr>
            <a:r>
              <a:rPr lang="en-US" sz="1050" dirty="0">
                <a:solidFill>
                  <a:srgbClr val="475569"/>
                </a:solidFill>
                <a:latin typeface="Segoe UI" pitchFamily="34" charset="0"/>
                <a:ea typeface="Segoe UI" pitchFamily="34" charset="-122"/>
                <a:cs typeface="Segoe UI" pitchFamily="34" charset="-120"/>
              </a:rPr>
              <a:t>What matters financially?</a:t>
            </a:r>
            <a:endParaRPr lang="en-US" sz="1050" dirty="0"/>
          </a:p>
          <a:p>
            <a:pPr marL="0" indent="0" algn="ctr">
              <a:lnSpc>
                <a:spcPts val="1800"/>
              </a:lnSpc>
              <a:buNone/>
            </a:pPr>
            <a:r>
              <a:rPr lang="en-US" sz="1050" dirty="0">
                <a:solidFill>
                  <a:srgbClr val="475569"/>
                </a:solidFill>
                <a:latin typeface="Segoe UI" pitchFamily="34" charset="0"/>
                <a:ea typeface="Segoe UI" pitchFamily="34" charset="-122"/>
                <a:cs typeface="Segoe UI" pitchFamily="34" charset="-120"/>
              </a:rPr>
              <a:t>Current spend, budget concerns?</a:t>
            </a:r>
            <a:endParaRPr lang="en-US" sz="1050" dirty="0"/>
          </a:p>
        </p:txBody>
      </p:sp>
      <p:sp>
        <p:nvSpPr>
          <p:cNvPr id="27" name="Text 25"/>
          <p:cNvSpPr/>
          <p:nvPr/>
        </p:nvSpPr>
        <p:spPr>
          <a:xfrm>
            <a:off x="9187434" y="4069080"/>
            <a:ext cx="2407158" cy="822960"/>
          </a:xfrm>
          <a:prstGeom prst="rect">
            <a:avLst/>
          </a:prstGeom>
          <a:noFill/>
          <a:ln/>
        </p:spPr>
        <p:txBody>
          <a:bodyPr wrap="square" rtlCol="0" anchor="ctr"/>
          <a:lstStyle/>
          <a:p>
            <a:pPr marL="0" indent="0" algn="ctr">
              <a:lnSpc>
                <a:spcPts val="1800"/>
              </a:lnSpc>
              <a:buNone/>
            </a:pPr>
            <a:r>
              <a:rPr lang="en-US" sz="1050" i="1" dirty="0">
                <a:solidFill>
                  <a:srgbClr val="0C4A6E"/>
                </a:solidFill>
                <a:latin typeface="Segoe UI" pitchFamily="34" charset="0"/>
                <a:ea typeface="Segoe UI" pitchFamily="34" charset="-122"/>
                <a:cs typeface="Segoe UI" pitchFamily="34" charset="-120"/>
              </a:rPr>
              <a:t>"What are you paying for Internet and phone service combined right now?"</a:t>
            </a:r>
            <a:endParaRPr lang="en-US" sz="1050" dirty="0"/>
          </a:p>
        </p:txBody>
      </p:sp>
      <p:sp>
        <p:nvSpPr>
          <p:cNvPr id="28" name="Shape 26"/>
          <p:cNvSpPr/>
          <p:nvPr/>
        </p:nvSpPr>
        <p:spPr>
          <a:xfrm>
            <a:off x="457200" y="5440680"/>
            <a:ext cx="11274552" cy="502920"/>
          </a:xfrm>
          <a:prstGeom prst="roundRect">
            <a:avLst>
              <a:gd name="adj" fmla="val 14545"/>
            </a:avLst>
          </a:prstGeom>
          <a:solidFill>
            <a:srgbClr val="FFFBEB"/>
          </a:solidFill>
          <a:ln w="12700">
            <a:solidFill>
              <a:srgbClr val="FCD34D"/>
            </a:solidFill>
            <a:prstDash val="solid"/>
          </a:ln>
        </p:spPr>
        <p:txBody>
          <a:bodyPr/>
          <a:lstStyle/>
          <a:p>
            <a:endParaRPr lang="en-US"/>
          </a:p>
        </p:txBody>
      </p:sp>
      <p:sp>
        <p:nvSpPr>
          <p:cNvPr id="29" name="Text 27"/>
          <p:cNvSpPr/>
          <p:nvPr/>
        </p:nvSpPr>
        <p:spPr>
          <a:xfrm>
            <a:off x="640080" y="5440680"/>
            <a:ext cx="10908792" cy="502920"/>
          </a:xfrm>
          <a:prstGeom prst="rect">
            <a:avLst/>
          </a:prstGeom>
          <a:noFill/>
          <a:ln/>
        </p:spPr>
        <p:txBody>
          <a:bodyPr wrap="square" rtlCol="0" anchor="ctr"/>
          <a:lstStyle/>
          <a:p>
            <a:pPr marL="0" indent="0">
              <a:buNone/>
            </a:pPr>
            <a:r>
              <a:rPr lang="en-US" sz="1100" dirty="0">
                <a:solidFill>
                  <a:srgbClr val="92400E"/>
                </a:solidFill>
                <a:latin typeface="Segoe UI" pitchFamily="34" charset="0"/>
                <a:ea typeface="Segoe UI" pitchFamily="34" charset="-122"/>
                <a:cs typeface="Segoe UI" pitchFamily="34" charset="-120"/>
              </a:rPr>
              <a:t>Key Rule: One great open-ended question that yields a full picture of the household is worth more than five closed questions that return one-word answers. Quality over quantity.</a:t>
            </a:r>
            <a:endParaRPr lang="en-US" sz="1100" dirty="0"/>
          </a:p>
        </p:txBody>
      </p:sp>
      <p:sp>
        <p:nvSpPr>
          <p:cNvPr id="30" name="Shape 28"/>
          <p:cNvSpPr/>
          <p:nvPr/>
        </p:nvSpPr>
        <p:spPr>
          <a:xfrm>
            <a:off x="457200" y="6035040"/>
            <a:ext cx="11274552" cy="457200"/>
          </a:xfrm>
          <a:prstGeom prst="roundRect">
            <a:avLst>
              <a:gd name="adj" fmla="val 16000"/>
            </a:avLst>
          </a:prstGeom>
          <a:solidFill>
            <a:srgbClr val="F5F3FF"/>
          </a:solidFill>
          <a:ln w="12700">
            <a:solidFill>
              <a:srgbClr val="A78BFA"/>
            </a:solidFill>
            <a:prstDash val="solid"/>
          </a:ln>
        </p:spPr>
        <p:txBody>
          <a:bodyPr/>
          <a:lstStyle/>
          <a:p>
            <a:endParaRPr lang="en-US"/>
          </a:p>
        </p:txBody>
      </p:sp>
      <p:sp>
        <p:nvSpPr>
          <p:cNvPr id="31" name="Text 29"/>
          <p:cNvSpPr/>
          <p:nvPr/>
        </p:nvSpPr>
        <p:spPr>
          <a:xfrm>
            <a:off x="640080" y="6035040"/>
            <a:ext cx="10908792" cy="457200"/>
          </a:xfrm>
          <a:prstGeom prst="rect">
            <a:avLst/>
          </a:prstGeom>
          <a:noFill/>
          <a:ln/>
        </p:spPr>
        <p:txBody>
          <a:bodyPr wrap="square" rtlCol="0" anchor="ctr"/>
          <a:lstStyle/>
          <a:p>
            <a:pPr marL="0" indent="0">
              <a:buNone/>
            </a:pPr>
            <a:r>
              <a:rPr lang="en-US" sz="1100" dirty="0">
                <a:solidFill>
                  <a:srgbClr val="7C3AED"/>
                </a:solidFill>
                <a:latin typeface="Segoe UI" pitchFamily="34" charset="0"/>
                <a:ea typeface="Segoe UI" pitchFamily="34" charset="-122"/>
                <a:cs typeface="Segoe UI" pitchFamily="34" charset="-120"/>
              </a:rPr>
              <a:t>Catalyst Behavior: Discover Needs - Ask proactive, relevant questions that reveal something new. Discovery is the agent probing the customer, not the customer asking the agent.</a:t>
            </a:r>
            <a:endParaRPr lang="en-US" sz="1100" dirty="0"/>
          </a:p>
        </p:txBody>
      </p:sp>
      <p:sp>
        <p:nvSpPr>
          <p:cNvPr id="32" name="Text 30"/>
          <p:cNvSpPr/>
          <p:nvPr/>
        </p:nvSpPr>
        <p:spPr>
          <a:xfrm>
            <a:off x="0" y="6537960"/>
            <a:ext cx="12188952" cy="274320"/>
          </a:xfrm>
          <a:prstGeom prst="rect">
            <a:avLst/>
          </a:prstGeom>
          <a:noFill/>
          <a:ln/>
        </p:spPr>
        <p:txBody>
          <a:bodyPr wrap="square" rtlCol="0" anchor="ctr"/>
          <a:lstStyle/>
          <a:p>
            <a:pPr marL="0" indent="0" algn="ctr">
              <a:buNone/>
            </a:pPr>
            <a:r>
              <a:rPr lang="en-US" sz="800" dirty="0">
                <a:solidFill>
                  <a:srgbClr val="64748B"/>
                </a:solidFill>
                <a:latin typeface="Segoe UI" pitchFamily="34" charset="0"/>
                <a:ea typeface="Segoe UI" pitchFamily="34" charset="-122"/>
                <a:cs typeface="Segoe UI" pitchFamily="34" charset="-120"/>
              </a:rPr>
              <a:t>Catalyst Coaching Bootcamp  |  DR Site  |  Day 2 of 5  |  March 2026</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8B5CF6"/>
          </a:solidFill>
          <a:ln/>
        </p:spPr>
        <p:txBody>
          <a:bodyPr/>
          <a:lstStyle/>
          <a:p>
            <a:endParaRPr lang="en-US"/>
          </a:p>
        </p:txBody>
      </p:sp>
      <p:sp>
        <p:nvSpPr>
          <p:cNvPr id="3" name="Shape 1"/>
          <p:cNvSpPr/>
          <p:nvPr/>
        </p:nvSpPr>
        <p:spPr>
          <a:xfrm>
            <a:off x="0" y="0"/>
            <a:ext cx="12188952" cy="1051560"/>
          </a:xfrm>
          <a:prstGeom prst="rect">
            <a:avLst/>
          </a:prstGeom>
          <a:solidFill>
            <a:srgbClr val="7C3AED">
              <a:alpha val="40000"/>
            </a:srgbClr>
          </a:solidFill>
          <a:ln/>
        </p:spPr>
        <p:txBody>
          <a:bodyPr/>
          <a:lstStyle/>
          <a:p>
            <a:endParaRPr lang="en-US"/>
          </a:p>
        </p:txBody>
      </p:sp>
      <p:sp>
        <p:nvSpPr>
          <p:cNvPr id="4" name="Text 2"/>
          <p:cNvSpPr/>
          <p:nvPr/>
        </p:nvSpPr>
        <p:spPr>
          <a:xfrm>
            <a:off x="457200" y="137160"/>
            <a:ext cx="9445752" cy="457200"/>
          </a:xfrm>
          <a:prstGeom prst="rect">
            <a:avLst/>
          </a:prstGeom>
          <a:noFill/>
          <a:ln/>
        </p:spPr>
        <p:txBody>
          <a:bodyPr wrap="square" rtlCol="0" anchor="ctr"/>
          <a:lstStyle/>
          <a:p>
            <a:pPr marL="0" indent="0">
              <a:buNone/>
            </a:pPr>
            <a:r>
              <a:rPr lang="en-US" sz="2800" b="1" dirty="0">
                <a:solidFill>
                  <a:srgbClr val="FFFFFF"/>
                </a:solidFill>
                <a:latin typeface="Segoe UI" pitchFamily="34" charset="0"/>
                <a:ea typeface="Segoe UI" pitchFamily="34" charset="-122"/>
                <a:cs typeface="Segoe UI" pitchFamily="34" charset="-120"/>
              </a:rPr>
              <a:t>Discovering with Intent</a:t>
            </a:r>
            <a:endParaRPr lang="en-US" sz="2800" dirty="0"/>
          </a:p>
        </p:txBody>
      </p:sp>
      <p:sp>
        <p:nvSpPr>
          <p:cNvPr id="5" name="Text 3"/>
          <p:cNvSpPr/>
          <p:nvPr/>
        </p:nvSpPr>
        <p:spPr>
          <a:xfrm>
            <a:off x="457200" y="594360"/>
            <a:ext cx="9445752" cy="274320"/>
          </a:xfrm>
          <a:prstGeom prst="rect">
            <a:avLst/>
          </a:prstGeom>
          <a:noFill/>
          <a:ln/>
        </p:spPr>
        <p:txBody>
          <a:bodyPr wrap="square" rtlCol="0" anchor="ctr"/>
          <a:lstStyle/>
          <a:p>
            <a:pPr marL="0" indent="0">
              <a:buNone/>
            </a:pPr>
            <a:r>
              <a:rPr lang="en-US" sz="1400" i="1" dirty="0">
                <a:solidFill>
                  <a:srgbClr val="FFFFFF">
                    <a:alpha val="85000"/>
                  </a:srgbClr>
                </a:solidFill>
                <a:latin typeface="Segoe UI" pitchFamily="34" charset="0"/>
                <a:ea typeface="Segoe UI" pitchFamily="34" charset="-122"/>
                <a:cs typeface="Segoe UI" pitchFamily="34" charset="-120"/>
              </a:rPr>
              <a:t>The Same Customer, Two Different Approaches</a:t>
            </a:r>
            <a:endParaRPr lang="en-US" sz="1400" dirty="0"/>
          </a:p>
        </p:txBody>
      </p:sp>
      <p:sp>
        <p:nvSpPr>
          <p:cNvPr id="6" name="Shape 4"/>
          <p:cNvSpPr/>
          <p:nvPr/>
        </p:nvSpPr>
        <p:spPr>
          <a:xfrm>
            <a:off x="10543032" y="182880"/>
            <a:ext cx="1188720" cy="685800"/>
          </a:xfrm>
          <a:prstGeom prst="roundRect">
            <a:avLst>
              <a:gd name="adj" fmla="val 13333"/>
            </a:avLst>
          </a:prstGeom>
          <a:solidFill>
            <a:srgbClr val="FFFFFF">
              <a:alpha val="20000"/>
            </a:srgbClr>
          </a:solidFill>
          <a:ln/>
        </p:spPr>
        <p:txBody>
          <a:bodyPr/>
          <a:lstStyle/>
          <a:p>
            <a:endParaRPr lang="en-US"/>
          </a:p>
        </p:txBody>
      </p:sp>
      <p:sp>
        <p:nvSpPr>
          <p:cNvPr id="7" name="Text 5"/>
          <p:cNvSpPr/>
          <p:nvPr/>
        </p:nvSpPr>
        <p:spPr>
          <a:xfrm>
            <a:off x="10543032" y="182880"/>
            <a:ext cx="1188720" cy="68580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Day 2</a:t>
            </a:r>
            <a:endParaRPr lang="en-US" sz="2000" dirty="0"/>
          </a:p>
        </p:txBody>
      </p:sp>
      <p:sp>
        <p:nvSpPr>
          <p:cNvPr id="8" name="Shape 6"/>
          <p:cNvSpPr/>
          <p:nvPr/>
        </p:nvSpPr>
        <p:spPr>
          <a:xfrm>
            <a:off x="457200" y="1234440"/>
            <a:ext cx="11274552" cy="457200"/>
          </a:xfrm>
          <a:prstGeom prst="roundRect">
            <a:avLst>
              <a:gd name="adj" fmla="val 16000"/>
            </a:avLst>
          </a:prstGeom>
          <a:solidFill>
            <a:srgbClr val="F5F3FF"/>
          </a:solidFill>
          <a:ln w="12700">
            <a:solidFill>
              <a:srgbClr val="A78BFA"/>
            </a:solidFill>
            <a:prstDash val="solid"/>
          </a:ln>
        </p:spPr>
        <p:txBody>
          <a:bodyPr/>
          <a:lstStyle/>
          <a:p>
            <a:endParaRPr lang="en-US"/>
          </a:p>
        </p:txBody>
      </p:sp>
      <p:sp>
        <p:nvSpPr>
          <p:cNvPr id="9" name="Text 7"/>
          <p:cNvSpPr/>
          <p:nvPr/>
        </p:nvSpPr>
        <p:spPr>
          <a:xfrm>
            <a:off x="640080" y="1234440"/>
            <a:ext cx="10908792" cy="457200"/>
          </a:xfrm>
          <a:prstGeom prst="rect">
            <a:avLst/>
          </a:prstGeom>
          <a:noFill/>
          <a:ln/>
        </p:spPr>
        <p:txBody>
          <a:bodyPr wrap="square" rtlCol="0" anchor="ctr"/>
          <a:lstStyle/>
          <a:p>
            <a:pPr marL="0" indent="0">
              <a:buNone/>
            </a:pPr>
            <a:r>
              <a:rPr lang="en-US" sz="1200" b="1" dirty="0">
                <a:solidFill>
                  <a:srgbClr val="7C3AED"/>
                </a:solidFill>
                <a:latin typeface="Segoe UI" pitchFamily="34" charset="0"/>
                <a:ea typeface="Segoe UI" pitchFamily="34" charset="-122"/>
                <a:cs typeface="Segoe UI" pitchFamily="34" charset="-120"/>
              </a:rPr>
              <a:t>Scenario: You're calling Maria, a 35-year-old single mom. You need to discover her household needs before pitching.</a:t>
            </a:r>
            <a:endParaRPr lang="en-US" sz="1200" dirty="0"/>
          </a:p>
        </p:txBody>
      </p:sp>
      <p:sp>
        <p:nvSpPr>
          <p:cNvPr id="10" name="Shape 8"/>
          <p:cNvSpPr/>
          <p:nvPr/>
        </p:nvSpPr>
        <p:spPr>
          <a:xfrm>
            <a:off x="457200" y="1874520"/>
            <a:ext cx="5500116" cy="3291840"/>
          </a:xfrm>
          <a:prstGeom prst="roundRect">
            <a:avLst>
              <a:gd name="adj" fmla="val 3333"/>
            </a:avLst>
          </a:prstGeom>
          <a:solidFill>
            <a:srgbClr val="FEF2F2"/>
          </a:solidFill>
          <a:ln w="19050">
            <a:solidFill>
              <a:srgbClr val="FECACA"/>
            </a:solidFill>
            <a:prstDash val="solid"/>
          </a:ln>
        </p:spPr>
        <p:txBody>
          <a:bodyPr/>
          <a:lstStyle/>
          <a:p>
            <a:endParaRPr lang="en-US"/>
          </a:p>
        </p:txBody>
      </p:sp>
      <p:sp>
        <p:nvSpPr>
          <p:cNvPr id="11" name="Text 9"/>
          <p:cNvSpPr/>
          <p:nvPr/>
        </p:nvSpPr>
        <p:spPr>
          <a:xfrm>
            <a:off x="640080" y="1938528"/>
            <a:ext cx="5134356" cy="320040"/>
          </a:xfrm>
          <a:prstGeom prst="rect">
            <a:avLst/>
          </a:prstGeom>
          <a:noFill/>
          <a:ln/>
        </p:spPr>
        <p:txBody>
          <a:bodyPr wrap="square" rtlCol="0" anchor="ctr"/>
          <a:lstStyle/>
          <a:p>
            <a:pPr marL="0" indent="0">
              <a:buNone/>
            </a:pPr>
            <a:r>
              <a:rPr lang="en-US" sz="1400" b="1" dirty="0">
                <a:solidFill>
                  <a:srgbClr val="991B1B"/>
                </a:solidFill>
                <a:latin typeface="Segoe UI" pitchFamily="34" charset="0"/>
                <a:ea typeface="Segoe UI" pitchFamily="34" charset="-122"/>
                <a:cs typeface="Segoe UI" pitchFamily="34" charset="-120"/>
              </a:rPr>
              <a:t>Closed Questions</a:t>
            </a:r>
            <a:endParaRPr lang="en-US" sz="1400" dirty="0"/>
          </a:p>
        </p:txBody>
      </p:sp>
      <p:sp>
        <p:nvSpPr>
          <p:cNvPr id="12" name="Text 10"/>
          <p:cNvSpPr/>
          <p:nvPr/>
        </p:nvSpPr>
        <p:spPr>
          <a:xfrm>
            <a:off x="731520" y="2331720"/>
            <a:ext cx="548640" cy="256032"/>
          </a:xfrm>
          <a:prstGeom prst="rect">
            <a:avLst/>
          </a:prstGeom>
          <a:noFill/>
          <a:ln/>
        </p:spPr>
        <p:txBody>
          <a:bodyPr wrap="square" rtlCol="0" anchor="ctr"/>
          <a:lstStyle/>
          <a:p>
            <a:pPr marL="0" indent="0">
              <a:buNone/>
            </a:pPr>
            <a:r>
              <a:rPr lang="en-US" sz="900" b="1" dirty="0">
                <a:solidFill>
                  <a:srgbClr val="8B5CF6"/>
                </a:solidFill>
                <a:latin typeface="Segoe UI" pitchFamily="34" charset="0"/>
                <a:ea typeface="Segoe UI" pitchFamily="34" charset="-122"/>
                <a:cs typeface="Segoe UI" pitchFamily="34" charset="-120"/>
              </a:rPr>
              <a:t>Agent:</a:t>
            </a:r>
            <a:endParaRPr lang="en-US" sz="900" dirty="0"/>
          </a:p>
        </p:txBody>
      </p:sp>
      <p:sp>
        <p:nvSpPr>
          <p:cNvPr id="13" name="Text 11"/>
          <p:cNvSpPr/>
          <p:nvPr/>
        </p:nvSpPr>
        <p:spPr>
          <a:xfrm>
            <a:off x="1280160" y="2331720"/>
            <a:ext cx="4402836" cy="256032"/>
          </a:xfrm>
          <a:prstGeom prst="rect">
            <a:avLst/>
          </a:prstGeom>
          <a:noFill/>
          <a:ln/>
        </p:spPr>
        <p:txBody>
          <a:bodyPr wrap="square" rtlCol="0" anchor="ctr"/>
          <a:lstStyle/>
          <a:p>
            <a:pPr marL="0" indent="0">
              <a:buNone/>
            </a:pPr>
            <a:r>
              <a:rPr lang="en-US" sz="1050" dirty="0">
                <a:solidFill>
                  <a:srgbClr val="1E293B"/>
                </a:solidFill>
                <a:latin typeface="Segoe UI" pitchFamily="34" charset="0"/>
                <a:ea typeface="Segoe UI" pitchFamily="34" charset="-122"/>
                <a:cs typeface="Segoe UI" pitchFamily="34" charset="-120"/>
              </a:rPr>
              <a:t>"Do you have WiFi at home?"</a:t>
            </a:r>
            <a:endParaRPr lang="en-US" sz="1050" dirty="0"/>
          </a:p>
        </p:txBody>
      </p:sp>
      <p:sp>
        <p:nvSpPr>
          <p:cNvPr id="14" name="Text 12"/>
          <p:cNvSpPr/>
          <p:nvPr/>
        </p:nvSpPr>
        <p:spPr>
          <a:xfrm>
            <a:off x="731520" y="2651760"/>
            <a:ext cx="548640" cy="256032"/>
          </a:xfrm>
          <a:prstGeom prst="rect">
            <a:avLst/>
          </a:prstGeom>
          <a:noFill/>
          <a:ln/>
        </p:spPr>
        <p:txBody>
          <a:bodyPr wrap="square" rtlCol="0" anchor="ctr"/>
          <a:lstStyle/>
          <a:p>
            <a:pPr marL="0" indent="0">
              <a:buNone/>
            </a:pPr>
            <a:r>
              <a:rPr lang="en-US" sz="900" b="1" dirty="0">
                <a:solidFill>
                  <a:srgbClr val="991B1B"/>
                </a:solidFill>
                <a:latin typeface="Segoe UI" pitchFamily="34" charset="0"/>
                <a:ea typeface="Segoe UI" pitchFamily="34" charset="-122"/>
                <a:cs typeface="Segoe UI" pitchFamily="34" charset="-120"/>
              </a:rPr>
              <a:t>Maria:</a:t>
            </a:r>
            <a:endParaRPr lang="en-US" sz="900" dirty="0"/>
          </a:p>
        </p:txBody>
      </p:sp>
      <p:sp>
        <p:nvSpPr>
          <p:cNvPr id="15" name="Text 13"/>
          <p:cNvSpPr/>
          <p:nvPr/>
        </p:nvSpPr>
        <p:spPr>
          <a:xfrm>
            <a:off x="1280160" y="2651760"/>
            <a:ext cx="4402836" cy="256032"/>
          </a:xfrm>
          <a:prstGeom prst="rect">
            <a:avLst/>
          </a:prstGeom>
          <a:noFill/>
          <a:ln/>
        </p:spPr>
        <p:txBody>
          <a:bodyPr wrap="square" rtlCol="0" anchor="ctr"/>
          <a:lstStyle/>
          <a:p>
            <a:pPr marL="0" indent="0">
              <a:buNone/>
            </a:pPr>
            <a:r>
              <a:rPr lang="en-US" sz="1050" i="1" dirty="0">
                <a:solidFill>
                  <a:srgbClr val="7F1D1D"/>
                </a:solidFill>
                <a:latin typeface="Segoe UI" pitchFamily="34" charset="0"/>
                <a:ea typeface="Segoe UI" pitchFamily="34" charset="-122"/>
                <a:cs typeface="Segoe UI" pitchFamily="34" charset="-120"/>
              </a:rPr>
              <a:t>"Yes."</a:t>
            </a:r>
            <a:endParaRPr lang="en-US" sz="1050" dirty="0"/>
          </a:p>
        </p:txBody>
      </p:sp>
      <p:sp>
        <p:nvSpPr>
          <p:cNvPr id="16" name="Text 14"/>
          <p:cNvSpPr/>
          <p:nvPr/>
        </p:nvSpPr>
        <p:spPr>
          <a:xfrm>
            <a:off x="731520" y="2971800"/>
            <a:ext cx="548640" cy="256032"/>
          </a:xfrm>
          <a:prstGeom prst="rect">
            <a:avLst/>
          </a:prstGeom>
          <a:noFill/>
          <a:ln/>
        </p:spPr>
        <p:txBody>
          <a:bodyPr wrap="square" rtlCol="0" anchor="ctr"/>
          <a:lstStyle/>
          <a:p>
            <a:pPr marL="0" indent="0">
              <a:buNone/>
            </a:pPr>
            <a:r>
              <a:rPr lang="en-US" sz="900" b="1" dirty="0">
                <a:solidFill>
                  <a:srgbClr val="8B5CF6"/>
                </a:solidFill>
                <a:latin typeface="Segoe UI" pitchFamily="34" charset="0"/>
                <a:ea typeface="Segoe UI" pitchFamily="34" charset="-122"/>
                <a:cs typeface="Segoe UI" pitchFamily="34" charset="-120"/>
              </a:rPr>
              <a:t>Agent:</a:t>
            </a:r>
            <a:endParaRPr lang="en-US" sz="900" dirty="0"/>
          </a:p>
        </p:txBody>
      </p:sp>
      <p:sp>
        <p:nvSpPr>
          <p:cNvPr id="17" name="Text 15"/>
          <p:cNvSpPr/>
          <p:nvPr/>
        </p:nvSpPr>
        <p:spPr>
          <a:xfrm>
            <a:off x="1280160" y="2971800"/>
            <a:ext cx="4402836" cy="256032"/>
          </a:xfrm>
          <a:prstGeom prst="rect">
            <a:avLst/>
          </a:prstGeom>
          <a:noFill/>
          <a:ln/>
        </p:spPr>
        <p:txBody>
          <a:bodyPr wrap="square" rtlCol="0" anchor="ctr"/>
          <a:lstStyle/>
          <a:p>
            <a:pPr marL="0" indent="0">
              <a:buNone/>
            </a:pPr>
            <a:r>
              <a:rPr lang="en-US" sz="1050" dirty="0">
                <a:solidFill>
                  <a:srgbClr val="1E293B"/>
                </a:solidFill>
                <a:latin typeface="Segoe UI" pitchFamily="34" charset="0"/>
                <a:ea typeface="Segoe UI" pitchFamily="34" charset="-122"/>
                <a:cs typeface="Segoe UI" pitchFamily="34" charset="-120"/>
              </a:rPr>
              <a:t>"Do you stream?"</a:t>
            </a:r>
            <a:endParaRPr lang="en-US" sz="1050" dirty="0"/>
          </a:p>
        </p:txBody>
      </p:sp>
      <p:sp>
        <p:nvSpPr>
          <p:cNvPr id="18" name="Text 16"/>
          <p:cNvSpPr/>
          <p:nvPr/>
        </p:nvSpPr>
        <p:spPr>
          <a:xfrm>
            <a:off x="731520" y="3291840"/>
            <a:ext cx="548640" cy="256032"/>
          </a:xfrm>
          <a:prstGeom prst="rect">
            <a:avLst/>
          </a:prstGeom>
          <a:noFill/>
          <a:ln/>
        </p:spPr>
        <p:txBody>
          <a:bodyPr wrap="square" rtlCol="0" anchor="ctr"/>
          <a:lstStyle/>
          <a:p>
            <a:pPr marL="0" indent="0">
              <a:buNone/>
            </a:pPr>
            <a:r>
              <a:rPr lang="en-US" sz="900" b="1" dirty="0">
                <a:solidFill>
                  <a:srgbClr val="991B1B"/>
                </a:solidFill>
                <a:latin typeface="Segoe UI" pitchFamily="34" charset="0"/>
                <a:ea typeface="Segoe UI" pitchFamily="34" charset="-122"/>
                <a:cs typeface="Segoe UI" pitchFamily="34" charset="-120"/>
              </a:rPr>
              <a:t>Maria:</a:t>
            </a:r>
            <a:endParaRPr lang="en-US" sz="900" dirty="0"/>
          </a:p>
        </p:txBody>
      </p:sp>
      <p:sp>
        <p:nvSpPr>
          <p:cNvPr id="19" name="Text 17"/>
          <p:cNvSpPr/>
          <p:nvPr/>
        </p:nvSpPr>
        <p:spPr>
          <a:xfrm>
            <a:off x="1280160" y="3291840"/>
            <a:ext cx="4402836" cy="256032"/>
          </a:xfrm>
          <a:prstGeom prst="rect">
            <a:avLst/>
          </a:prstGeom>
          <a:noFill/>
          <a:ln/>
        </p:spPr>
        <p:txBody>
          <a:bodyPr wrap="square" rtlCol="0" anchor="ctr"/>
          <a:lstStyle/>
          <a:p>
            <a:pPr marL="0" indent="0">
              <a:buNone/>
            </a:pPr>
            <a:r>
              <a:rPr lang="en-US" sz="1050" i="1" dirty="0">
                <a:solidFill>
                  <a:srgbClr val="7F1D1D"/>
                </a:solidFill>
                <a:latin typeface="Segoe UI" pitchFamily="34" charset="0"/>
                <a:ea typeface="Segoe UI" pitchFamily="34" charset="-122"/>
                <a:cs typeface="Segoe UI" pitchFamily="34" charset="-120"/>
              </a:rPr>
              <a:t>"Yes."</a:t>
            </a:r>
            <a:endParaRPr lang="en-US" sz="1050" dirty="0"/>
          </a:p>
        </p:txBody>
      </p:sp>
      <p:sp>
        <p:nvSpPr>
          <p:cNvPr id="20" name="Text 18"/>
          <p:cNvSpPr/>
          <p:nvPr/>
        </p:nvSpPr>
        <p:spPr>
          <a:xfrm>
            <a:off x="731520" y="3611880"/>
            <a:ext cx="548640" cy="256032"/>
          </a:xfrm>
          <a:prstGeom prst="rect">
            <a:avLst/>
          </a:prstGeom>
          <a:noFill/>
          <a:ln/>
        </p:spPr>
        <p:txBody>
          <a:bodyPr wrap="square" rtlCol="0" anchor="ctr"/>
          <a:lstStyle/>
          <a:p>
            <a:pPr marL="0" indent="0">
              <a:buNone/>
            </a:pPr>
            <a:r>
              <a:rPr lang="en-US" sz="900" b="1" dirty="0">
                <a:solidFill>
                  <a:srgbClr val="8B5CF6"/>
                </a:solidFill>
                <a:latin typeface="Segoe UI" pitchFamily="34" charset="0"/>
                <a:ea typeface="Segoe UI" pitchFamily="34" charset="-122"/>
                <a:cs typeface="Segoe UI" pitchFamily="34" charset="-120"/>
              </a:rPr>
              <a:t>Agent:</a:t>
            </a:r>
            <a:endParaRPr lang="en-US" sz="900" dirty="0"/>
          </a:p>
        </p:txBody>
      </p:sp>
      <p:sp>
        <p:nvSpPr>
          <p:cNvPr id="21" name="Text 19"/>
          <p:cNvSpPr/>
          <p:nvPr/>
        </p:nvSpPr>
        <p:spPr>
          <a:xfrm>
            <a:off x="1280160" y="3611880"/>
            <a:ext cx="4402836" cy="256032"/>
          </a:xfrm>
          <a:prstGeom prst="rect">
            <a:avLst/>
          </a:prstGeom>
          <a:noFill/>
          <a:ln/>
        </p:spPr>
        <p:txBody>
          <a:bodyPr wrap="square" rtlCol="0" anchor="ctr"/>
          <a:lstStyle/>
          <a:p>
            <a:pPr marL="0" indent="0">
              <a:buNone/>
            </a:pPr>
            <a:r>
              <a:rPr lang="en-US" sz="1050" dirty="0">
                <a:solidFill>
                  <a:srgbClr val="1E293B"/>
                </a:solidFill>
                <a:latin typeface="Segoe UI" pitchFamily="34" charset="0"/>
                <a:ea typeface="Segoe UI" pitchFamily="34" charset="-122"/>
                <a:cs typeface="Segoe UI" pitchFamily="34" charset="-120"/>
              </a:rPr>
              <a:t>"Do you have a phone?"</a:t>
            </a:r>
            <a:endParaRPr lang="en-US" sz="1050" dirty="0"/>
          </a:p>
        </p:txBody>
      </p:sp>
      <p:sp>
        <p:nvSpPr>
          <p:cNvPr id="22" name="Text 20"/>
          <p:cNvSpPr/>
          <p:nvPr/>
        </p:nvSpPr>
        <p:spPr>
          <a:xfrm>
            <a:off x="731520" y="3931920"/>
            <a:ext cx="548640" cy="256032"/>
          </a:xfrm>
          <a:prstGeom prst="rect">
            <a:avLst/>
          </a:prstGeom>
          <a:noFill/>
          <a:ln/>
        </p:spPr>
        <p:txBody>
          <a:bodyPr wrap="square" rtlCol="0" anchor="ctr"/>
          <a:lstStyle/>
          <a:p>
            <a:pPr marL="0" indent="0">
              <a:buNone/>
            </a:pPr>
            <a:r>
              <a:rPr lang="en-US" sz="900" b="1" dirty="0">
                <a:solidFill>
                  <a:srgbClr val="991B1B"/>
                </a:solidFill>
                <a:latin typeface="Segoe UI" pitchFamily="34" charset="0"/>
                <a:ea typeface="Segoe UI" pitchFamily="34" charset="-122"/>
                <a:cs typeface="Segoe UI" pitchFamily="34" charset="-120"/>
              </a:rPr>
              <a:t>Maria:</a:t>
            </a:r>
            <a:endParaRPr lang="en-US" sz="900" dirty="0"/>
          </a:p>
        </p:txBody>
      </p:sp>
      <p:sp>
        <p:nvSpPr>
          <p:cNvPr id="23" name="Text 21"/>
          <p:cNvSpPr/>
          <p:nvPr/>
        </p:nvSpPr>
        <p:spPr>
          <a:xfrm>
            <a:off x="1280160" y="3931920"/>
            <a:ext cx="4402836" cy="256032"/>
          </a:xfrm>
          <a:prstGeom prst="rect">
            <a:avLst/>
          </a:prstGeom>
          <a:noFill/>
          <a:ln/>
        </p:spPr>
        <p:txBody>
          <a:bodyPr wrap="square" rtlCol="0" anchor="ctr"/>
          <a:lstStyle/>
          <a:p>
            <a:pPr marL="0" indent="0">
              <a:buNone/>
            </a:pPr>
            <a:r>
              <a:rPr lang="en-US" sz="1050" i="1" dirty="0">
                <a:solidFill>
                  <a:srgbClr val="7F1D1D"/>
                </a:solidFill>
                <a:latin typeface="Segoe UI" pitchFamily="34" charset="0"/>
                <a:ea typeface="Segoe UI" pitchFamily="34" charset="-122"/>
                <a:cs typeface="Segoe UI" pitchFamily="34" charset="-120"/>
              </a:rPr>
              <a:t>"Yes."</a:t>
            </a:r>
            <a:endParaRPr lang="en-US" sz="1050" dirty="0"/>
          </a:p>
        </p:txBody>
      </p:sp>
      <p:sp>
        <p:nvSpPr>
          <p:cNvPr id="24" name="Shape 22"/>
          <p:cNvSpPr/>
          <p:nvPr/>
        </p:nvSpPr>
        <p:spPr>
          <a:xfrm>
            <a:off x="731520" y="4343400"/>
            <a:ext cx="4951476" cy="18288"/>
          </a:xfrm>
          <a:prstGeom prst="rect">
            <a:avLst/>
          </a:prstGeom>
          <a:solidFill>
            <a:srgbClr val="FECACA"/>
          </a:solidFill>
          <a:ln/>
        </p:spPr>
        <p:txBody>
          <a:bodyPr/>
          <a:lstStyle/>
          <a:p>
            <a:endParaRPr lang="en-US"/>
          </a:p>
        </p:txBody>
      </p:sp>
      <p:sp>
        <p:nvSpPr>
          <p:cNvPr id="25" name="Text 23"/>
          <p:cNvSpPr/>
          <p:nvPr/>
        </p:nvSpPr>
        <p:spPr>
          <a:xfrm>
            <a:off x="731520" y="4434840"/>
            <a:ext cx="4951476" cy="594360"/>
          </a:xfrm>
          <a:prstGeom prst="rect">
            <a:avLst/>
          </a:prstGeom>
          <a:noFill/>
          <a:ln/>
        </p:spPr>
        <p:txBody>
          <a:bodyPr wrap="square" rtlCol="0" anchor="ctr"/>
          <a:lstStyle/>
          <a:p>
            <a:pPr marL="0" indent="0">
              <a:lnSpc>
                <a:spcPts val="2000"/>
              </a:lnSpc>
              <a:buNone/>
            </a:pPr>
            <a:r>
              <a:rPr lang="en-US" sz="1100" b="1" dirty="0">
                <a:solidFill>
                  <a:srgbClr val="991B1B"/>
                </a:solidFill>
                <a:latin typeface="Segoe UI" pitchFamily="34" charset="0"/>
                <a:ea typeface="Segoe UI" pitchFamily="34" charset="-122"/>
                <a:cs typeface="Segoe UI" pitchFamily="34" charset="-120"/>
              </a:rPr>
              <a:t>Result: 3 questions. 3 one-word answers. Zero insight.</a:t>
            </a:r>
            <a:endParaRPr lang="en-US" sz="1100" dirty="0"/>
          </a:p>
          <a:p>
            <a:pPr marL="0" indent="0">
              <a:lnSpc>
                <a:spcPts val="2000"/>
              </a:lnSpc>
              <a:buNone/>
            </a:pPr>
            <a:r>
              <a:rPr lang="en-US" sz="1100" b="1" dirty="0">
                <a:solidFill>
                  <a:srgbClr val="991B1B"/>
                </a:solidFill>
                <a:latin typeface="Segoe UI" pitchFamily="34" charset="0"/>
                <a:ea typeface="Segoe UI" pitchFamily="34" charset="-122"/>
                <a:cs typeface="Segoe UI" pitchFamily="34" charset="-120"/>
              </a:rPr>
              <a:t>You have nothing to tie back to. The pitch will be generic.</a:t>
            </a:r>
            <a:endParaRPr lang="en-US" sz="1100" dirty="0"/>
          </a:p>
        </p:txBody>
      </p:sp>
      <p:sp>
        <p:nvSpPr>
          <p:cNvPr id="26" name="Shape 24"/>
          <p:cNvSpPr/>
          <p:nvPr/>
        </p:nvSpPr>
        <p:spPr>
          <a:xfrm>
            <a:off x="6231636" y="1874520"/>
            <a:ext cx="5500116" cy="3291840"/>
          </a:xfrm>
          <a:prstGeom prst="roundRect">
            <a:avLst>
              <a:gd name="adj" fmla="val 3333"/>
            </a:avLst>
          </a:prstGeom>
          <a:solidFill>
            <a:srgbClr val="F0FDF4"/>
          </a:solidFill>
          <a:ln w="19050">
            <a:solidFill>
              <a:srgbClr val="BBF7D0"/>
            </a:solidFill>
            <a:prstDash val="solid"/>
          </a:ln>
        </p:spPr>
        <p:txBody>
          <a:bodyPr/>
          <a:lstStyle/>
          <a:p>
            <a:endParaRPr lang="en-US"/>
          </a:p>
        </p:txBody>
      </p:sp>
      <p:sp>
        <p:nvSpPr>
          <p:cNvPr id="27" name="Text 25"/>
          <p:cNvSpPr/>
          <p:nvPr/>
        </p:nvSpPr>
        <p:spPr>
          <a:xfrm>
            <a:off x="6414516" y="1938528"/>
            <a:ext cx="5134356" cy="320040"/>
          </a:xfrm>
          <a:prstGeom prst="rect">
            <a:avLst/>
          </a:prstGeom>
          <a:noFill/>
          <a:ln/>
        </p:spPr>
        <p:txBody>
          <a:bodyPr wrap="square" rtlCol="0" anchor="ctr"/>
          <a:lstStyle/>
          <a:p>
            <a:pPr marL="0" indent="0">
              <a:buNone/>
            </a:pPr>
            <a:r>
              <a:rPr lang="en-US" sz="1400" b="1" dirty="0">
                <a:solidFill>
                  <a:srgbClr val="166534"/>
                </a:solidFill>
                <a:latin typeface="Segoe UI" pitchFamily="34" charset="0"/>
                <a:ea typeface="Segoe UI" pitchFamily="34" charset="-122"/>
                <a:cs typeface="Segoe UI" pitchFamily="34" charset="-120"/>
              </a:rPr>
              <a:t>Open-Ended Questions</a:t>
            </a:r>
            <a:endParaRPr lang="en-US" sz="1400" dirty="0"/>
          </a:p>
        </p:txBody>
      </p:sp>
      <p:sp>
        <p:nvSpPr>
          <p:cNvPr id="28" name="Text 26"/>
          <p:cNvSpPr/>
          <p:nvPr/>
        </p:nvSpPr>
        <p:spPr>
          <a:xfrm>
            <a:off x="6505956" y="2331720"/>
            <a:ext cx="548640" cy="228600"/>
          </a:xfrm>
          <a:prstGeom prst="rect">
            <a:avLst/>
          </a:prstGeom>
          <a:noFill/>
          <a:ln/>
        </p:spPr>
        <p:txBody>
          <a:bodyPr wrap="square" rtlCol="0" anchor="ctr"/>
          <a:lstStyle/>
          <a:p>
            <a:pPr marL="0" indent="0">
              <a:buNone/>
            </a:pPr>
            <a:r>
              <a:rPr lang="en-US" sz="900" b="1" dirty="0">
                <a:solidFill>
                  <a:srgbClr val="8B5CF6"/>
                </a:solidFill>
                <a:latin typeface="Segoe UI" pitchFamily="34" charset="0"/>
                <a:ea typeface="Segoe UI" pitchFamily="34" charset="-122"/>
                <a:cs typeface="Segoe UI" pitchFamily="34" charset="-120"/>
              </a:rPr>
              <a:t>Agent:</a:t>
            </a:r>
            <a:endParaRPr lang="en-US" sz="900" dirty="0"/>
          </a:p>
        </p:txBody>
      </p:sp>
      <p:sp>
        <p:nvSpPr>
          <p:cNvPr id="29" name="Text 27"/>
          <p:cNvSpPr/>
          <p:nvPr/>
        </p:nvSpPr>
        <p:spPr>
          <a:xfrm>
            <a:off x="6505956" y="2560320"/>
            <a:ext cx="4951476" cy="502920"/>
          </a:xfrm>
          <a:prstGeom prst="rect">
            <a:avLst/>
          </a:prstGeom>
          <a:noFill/>
          <a:ln/>
        </p:spPr>
        <p:txBody>
          <a:bodyPr wrap="square" rtlCol="0" anchor="ctr"/>
          <a:lstStyle/>
          <a:p>
            <a:pPr marL="0" indent="0">
              <a:lnSpc>
                <a:spcPts val="2000"/>
              </a:lnSpc>
              <a:buNone/>
            </a:pPr>
            <a:r>
              <a:rPr lang="en-US" sz="1100" i="1" dirty="0">
                <a:solidFill>
                  <a:srgbClr val="0C4A6E"/>
                </a:solidFill>
                <a:latin typeface="Segoe UI" pitchFamily="34" charset="0"/>
                <a:ea typeface="Segoe UI" pitchFamily="34" charset="-122"/>
                <a:cs typeface="Segoe UI" pitchFamily="34" charset="-120"/>
              </a:rPr>
              <a:t>"Tell me about your household. Who's home during the day and what's everyone usually doing online?"</a:t>
            </a:r>
            <a:endParaRPr lang="en-US" sz="1100" dirty="0"/>
          </a:p>
        </p:txBody>
      </p:sp>
      <p:sp>
        <p:nvSpPr>
          <p:cNvPr id="30" name="Text 28"/>
          <p:cNvSpPr/>
          <p:nvPr/>
        </p:nvSpPr>
        <p:spPr>
          <a:xfrm>
            <a:off x="6505956" y="3108960"/>
            <a:ext cx="548640" cy="228600"/>
          </a:xfrm>
          <a:prstGeom prst="rect">
            <a:avLst/>
          </a:prstGeom>
          <a:noFill/>
          <a:ln/>
        </p:spPr>
        <p:txBody>
          <a:bodyPr wrap="square" rtlCol="0" anchor="ctr"/>
          <a:lstStyle/>
          <a:p>
            <a:pPr marL="0" indent="0">
              <a:buNone/>
            </a:pPr>
            <a:r>
              <a:rPr lang="en-US" sz="900" b="1" dirty="0">
                <a:solidFill>
                  <a:srgbClr val="991B1B"/>
                </a:solidFill>
                <a:latin typeface="Segoe UI" pitchFamily="34" charset="0"/>
                <a:ea typeface="Segoe UI" pitchFamily="34" charset="-122"/>
                <a:cs typeface="Segoe UI" pitchFamily="34" charset="-120"/>
              </a:rPr>
              <a:t>Maria:</a:t>
            </a:r>
            <a:endParaRPr lang="en-US" sz="900" dirty="0"/>
          </a:p>
        </p:txBody>
      </p:sp>
      <p:sp>
        <p:nvSpPr>
          <p:cNvPr id="31" name="Text 29"/>
          <p:cNvSpPr/>
          <p:nvPr/>
        </p:nvSpPr>
        <p:spPr>
          <a:xfrm>
            <a:off x="6505956" y="3337560"/>
            <a:ext cx="4951476" cy="640080"/>
          </a:xfrm>
          <a:prstGeom prst="rect">
            <a:avLst/>
          </a:prstGeom>
          <a:noFill/>
          <a:ln/>
        </p:spPr>
        <p:txBody>
          <a:bodyPr wrap="square" rtlCol="0" anchor="ctr"/>
          <a:lstStyle/>
          <a:p>
            <a:pPr marL="0" indent="0">
              <a:lnSpc>
                <a:spcPts val="1800"/>
              </a:lnSpc>
              <a:buNone/>
            </a:pPr>
            <a:r>
              <a:rPr lang="en-US" sz="1050" dirty="0">
                <a:solidFill>
                  <a:srgbClr val="1E293B"/>
                </a:solidFill>
                <a:latin typeface="Segoe UI" pitchFamily="34" charset="0"/>
                <a:ea typeface="Segoe UI" pitchFamily="34" charset="-122"/>
                <a:cs typeface="Segoe UI" pitchFamily="34" charset="-120"/>
              </a:rPr>
              <a:t>"It's me and my two kids. My 14-year-old is always gaming after school, and my 8-year-old watches YouTube all day. I work from home twice a week doing video calls, so I need the internet to work."</a:t>
            </a:r>
            <a:endParaRPr lang="en-US" sz="1050" dirty="0"/>
          </a:p>
        </p:txBody>
      </p:sp>
      <p:sp>
        <p:nvSpPr>
          <p:cNvPr id="32" name="Shape 30"/>
          <p:cNvSpPr/>
          <p:nvPr/>
        </p:nvSpPr>
        <p:spPr>
          <a:xfrm>
            <a:off x="6505956" y="4069080"/>
            <a:ext cx="4951476" cy="18288"/>
          </a:xfrm>
          <a:prstGeom prst="rect">
            <a:avLst/>
          </a:prstGeom>
          <a:solidFill>
            <a:srgbClr val="BBF7D0"/>
          </a:solidFill>
          <a:ln/>
        </p:spPr>
        <p:txBody>
          <a:bodyPr/>
          <a:lstStyle/>
          <a:p>
            <a:endParaRPr lang="en-US"/>
          </a:p>
        </p:txBody>
      </p:sp>
      <p:sp>
        <p:nvSpPr>
          <p:cNvPr id="33" name="Text 31"/>
          <p:cNvSpPr/>
          <p:nvPr/>
        </p:nvSpPr>
        <p:spPr>
          <a:xfrm>
            <a:off x="6505956" y="4160520"/>
            <a:ext cx="1645920" cy="228600"/>
          </a:xfrm>
          <a:prstGeom prst="rect">
            <a:avLst/>
          </a:prstGeom>
          <a:noFill/>
          <a:ln/>
        </p:spPr>
        <p:txBody>
          <a:bodyPr wrap="square" rtlCol="0" anchor="ctr"/>
          <a:lstStyle/>
          <a:p>
            <a:pPr marL="0" indent="0">
              <a:buNone/>
            </a:pPr>
            <a:r>
              <a:rPr lang="en-US" sz="1100" b="1" dirty="0">
                <a:solidFill>
                  <a:srgbClr val="166534"/>
                </a:solidFill>
                <a:latin typeface="Segoe UI" pitchFamily="34" charset="0"/>
                <a:ea typeface="Segoe UI" pitchFamily="34" charset="-122"/>
                <a:cs typeface="Segoe UI" pitchFamily="34" charset="-120"/>
              </a:rPr>
              <a:t>1 question uncovered:</a:t>
            </a:r>
            <a:endParaRPr lang="en-US" sz="1100" dirty="0"/>
          </a:p>
        </p:txBody>
      </p:sp>
      <p:sp>
        <p:nvSpPr>
          <p:cNvPr id="34" name="Shape 32"/>
          <p:cNvSpPr/>
          <p:nvPr/>
        </p:nvSpPr>
        <p:spPr>
          <a:xfrm>
            <a:off x="8151876" y="4160520"/>
            <a:ext cx="734949" cy="256032"/>
          </a:xfrm>
          <a:prstGeom prst="roundRect">
            <a:avLst>
              <a:gd name="adj" fmla="val 50000"/>
            </a:avLst>
          </a:prstGeom>
          <a:solidFill>
            <a:srgbClr val="F5F3FF"/>
          </a:solidFill>
          <a:ln w="12700">
            <a:solidFill>
              <a:srgbClr val="8B5CF6"/>
            </a:solidFill>
            <a:prstDash val="solid"/>
          </a:ln>
        </p:spPr>
        <p:txBody>
          <a:bodyPr/>
          <a:lstStyle/>
          <a:p>
            <a:endParaRPr lang="en-US"/>
          </a:p>
        </p:txBody>
      </p:sp>
      <p:sp>
        <p:nvSpPr>
          <p:cNvPr id="35" name="Text 33"/>
          <p:cNvSpPr/>
          <p:nvPr/>
        </p:nvSpPr>
        <p:spPr>
          <a:xfrm>
            <a:off x="8151876" y="4160520"/>
            <a:ext cx="734949" cy="256032"/>
          </a:xfrm>
          <a:prstGeom prst="rect">
            <a:avLst/>
          </a:prstGeom>
          <a:noFill/>
          <a:ln/>
        </p:spPr>
        <p:txBody>
          <a:bodyPr wrap="square" rtlCol="0" anchor="ctr"/>
          <a:lstStyle/>
          <a:p>
            <a:pPr marL="0" indent="0" algn="ctr">
              <a:buNone/>
            </a:pPr>
            <a:r>
              <a:rPr lang="en-US" sz="900" b="1" dirty="0">
                <a:solidFill>
                  <a:srgbClr val="8B5CF6"/>
                </a:solidFill>
                <a:latin typeface="Segoe UI" pitchFamily="34" charset="0"/>
                <a:ea typeface="Segoe UI" pitchFamily="34" charset="-122"/>
                <a:cs typeface="Segoe UI" pitchFamily="34" charset="-120"/>
              </a:rPr>
              <a:t>Users</a:t>
            </a:r>
            <a:endParaRPr lang="en-US" sz="900" dirty="0"/>
          </a:p>
        </p:txBody>
      </p:sp>
      <p:sp>
        <p:nvSpPr>
          <p:cNvPr id="36" name="Shape 34"/>
          <p:cNvSpPr/>
          <p:nvPr/>
        </p:nvSpPr>
        <p:spPr>
          <a:xfrm>
            <a:off x="8978265" y="4160520"/>
            <a:ext cx="734949" cy="256032"/>
          </a:xfrm>
          <a:prstGeom prst="roundRect">
            <a:avLst>
              <a:gd name="adj" fmla="val 50000"/>
            </a:avLst>
          </a:prstGeom>
          <a:solidFill>
            <a:srgbClr val="ECFEFF"/>
          </a:solidFill>
          <a:ln w="12700">
            <a:solidFill>
              <a:srgbClr val="0891B2"/>
            </a:solidFill>
            <a:prstDash val="solid"/>
          </a:ln>
        </p:spPr>
        <p:txBody>
          <a:bodyPr/>
          <a:lstStyle/>
          <a:p>
            <a:endParaRPr lang="en-US"/>
          </a:p>
        </p:txBody>
      </p:sp>
      <p:sp>
        <p:nvSpPr>
          <p:cNvPr id="37" name="Text 35"/>
          <p:cNvSpPr/>
          <p:nvPr/>
        </p:nvSpPr>
        <p:spPr>
          <a:xfrm>
            <a:off x="8978265" y="4160520"/>
            <a:ext cx="734949" cy="256032"/>
          </a:xfrm>
          <a:prstGeom prst="rect">
            <a:avLst/>
          </a:prstGeom>
          <a:noFill/>
          <a:ln/>
        </p:spPr>
        <p:txBody>
          <a:bodyPr wrap="square" rtlCol="0" anchor="ctr"/>
          <a:lstStyle/>
          <a:p>
            <a:pPr marL="0" indent="0" algn="ctr">
              <a:buNone/>
            </a:pPr>
            <a:r>
              <a:rPr lang="en-US" sz="900" b="1" dirty="0">
                <a:solidFill>
                  <a:srgbClr val="0891B2"/>
                </a:solidFill>
                <a:latin typeface="Segoe UI" pitchFamily="34" charset="0"/>
                <a:ea typeface="Segoe UI" pitchFamily="34" charset="-122"/>
                <a:cs typeface="Segoe UI" pitchFamily="34" charset="-120"/>
              </a:rPr>
              <a:t>Usage</a:t>
            </a:r>
            <a:endParaRPr lang="en-US" sz="900" dirty="0"/>
          </a:p>
        </p:txBody>
      </p:sp>
      <p:sp>
        <p:nvSpPr>
          <p:cNvPr id="38" name="Shape 36"/>
          <p:cNvSpPr/>
          <p:nvPr/>
        </p:nvSpPr>
        <p:spPr>
          <a:xfrm>
            <a:off x="9804654" y="4160520"/>
            <a:ext cx="734949" cy="256032"/>
          </a:xfrm>
          <a:prstGeom prst="roundRect">
            <a:avLst>
              <a:gd name="adj" fmla="val 50000"/>
            </a:avLst>
          </a:prstGeom>
          <a:solidFill>
            <a:srgbClr val="FFF7ED"/>
          </a:solidFill>
          <a:ln w="12700">
            <a:solidFill>
              <a:srgbClr val="E67E22"/>
            </a:solidFill>
            <a:prstDash val="solid"/>
          </a:ln>
        </p:spPr>
        <p:txBody>
          <a:bodyPr/>
          <a:lstStyle/>
          <a:p>
            <a:endParaRPr lang="en-US"/>
          </a:p>
        </p:txBody>
      </p:sp>
      <p:sp>
        <p:nvSpPr>
          <p:cNvPr id="39" name="Text 37"/>
          <p:cNvSpPr/>
          <p:nvPr/>
        </p:nvSpPr>
        <p:spPr>
          <a:xfrm>
            <a:off x="9804654" y="4160520"/>
            <a:ext cx="734949" cy="256032"/>
          </a:xfrm>
          <a:prstGeom prst="rect">
            <a:avLst/>
          </a:prstGeom>
          <a:noFill/>
          <a:ln/>
        </p:spPr>
        <p:txBody>
          <a:bodyPr wrap="square" rtlCol="0" anchor="ctr"/>
          <a:lstStyle/>
          <a:p>
            <a:pPr marL="0" indent="0" algn="ctr">
              <a:buNone/>
            </a:pPr>
            <a:r>
              <a:rPr lang="en-US" sz="900" b="1" dirty="0">
                <a:solidFill>
                  <a:srgbClr val="E67E22"/>
                </a:solidFill>
                <a:latin typeface="Segoe UI" pitchFamily="34" charset="0"/>
                <a:ea typeface="Segoe UI" pitchFamily="34" charset="-122"/>
                <a:cs typeface="Segoe UI" pitchFamily="34" charset="-120"/>
              </a:rPr>
              <a:t>Devices</a:t>
            </a:r>
            <a:endParaRPr lang="en-US" sz="900" dirty="0"/>
          </a:p>
        </p:txBody>
      </p:sp>
      <p:sp>
        <p:nvSpPr>
          <p:cNvPr id="40" name="Shape 38"/>
          <p:cNvSpPr/>
          <p:nvPr/>
        </p:nvSpPr>
        <p:spPr>
          <a:xfrm>
            <a:off x="10631043" y="4160520"/>
            <a:ext cx="734949" cy="256032"/>
          </a:xfrm>
          <a:prstGeom prst="roundRect">
            <a:avLst>
              <a:gd name="adj" fmla="val 50000"/>
            </a:avLst>
          </a:prstGeom>
          <a:solidFill>
            <a:srgbClr val="F0FDF4"/>
          </a:solidFill>
          <a:ln w="12700">
            <a:solidFill>
              <a:srgbClr val="059669"/>
            </a:solidFill>
            <a:prstDash val="solid"/>
          </a:ln>
        </p:spPr>
        <p:txBody>
          <a:bodyPr/>
          <a:lstStyle/>
          <a:p>
            <a:endParaRPr lang="en-US"/>
          </a:p>
        </p:txBody>
      </p:sp>
      <p:sp>
        <p:nvSpPr>
          <p:cNvPr id="41" name="Text 39"/>
          <p:cNvSpPr/>
          <p:nvPr/>
        </p:nvSpPr>
        <p:spPr>
          <a:xfrm>
            <a:off x="10631043" y="4160520"/>
            <a:ext cx="734949" cy="256032"/>
          </a:xfrm>
          <a:prstGeom prst="rect">
            <a:avLst/>
          </a:prstGeom>
          <a:noFill/>
          <a:ln/>
        </p:spPr>
        <p:txBody>
          <a:bodyPr wrap="square" rtlCol="0" anchor="ctr"/>
          <a:lstStyle/>
          <a:p>
            <a:pPr marL="0" indent="0" algn="ctr">
              <a:buNone/>
            </a:pPr>
            <a:r>
              <a:rPr lang="en-US" sz="900" b="1" dirty="0">
                <a:solidFill>
                  <a:srgbClr val="059669"/>
                </a:solidFill>
                <a:latin typeface="Segoe UI" pitchFamily="34" charset="0"/>
                <a:ea typeface="Segoe UI" pitchFamily="34" charset="-122"/>
                <a:cs typeface="Segoe UI" pitchFamily="34" charset="-120"/>
              </a:rPr>
              <a:t>Cost</a:t>
            </a:r>
            <a:endParaRPr lang="en-US" sz="900" dirty="0"/>
          </a:p>
        </p:txBody>
      </p:sp>
      <p:sp>
        <p:nvSpPr>
          <p:cNvPr id="42" name="Text 40"/>
          <p:cNvSpPr/>
          <p:nvPr/>
        </p:nvSpPr>
        <p:spPr>
          <a:xfrm>
            <a:off x="6505956" y="4480560"/>
            <a:ext cx="4951476" cy="274320"/>
          </a:xfrm>
          <a:prstGeom prst="rect">
            <a:avLst/>
          </a:prstGeom>
          <a:noFill/>
          <a:ln/>
        </p:spPr>
        <p:txBody>
          <a:bodyPr wrap="square" rtlCol="0" anchor="ctr"/>
          <a:lstStyle/>
          <a:p>
            <a:pPr marL="0" indent="0">
              <a:buNone/>
            </a:pPr>
            <a:r>
              <a:rPr lang="en-US" sz="1000" i="1" dirty="0">
                <a:solidFill>
                  <a:srgbClr val="166534"/>
                </a:solidFill>
                <a:latin typeface="Segoe UI" pitchFamily="34" charset="0"/>
                <a:ea typeface="Segoe UI" pitchFamily="34" charset="-122"/>
                <a:cs typeface="Segoe UI" pitchFamily="34" charset="-120"/>
              </a:rPr>
              <a:t>"3 kids, gaming + streaming + WFH = 1 Gig"</a:t>
            </a:r>
            <a:endParaRPr lang="en-US" sz="1000" dirty="0"/>
          </a:p>
        </p:txBody>
      </p:sp>
      <p:sp>
        <p:nvSpPr>
          <p:cNvPr id="43" name="Shape 41"/>
          <p:cNvSpPr/>
          <p:nvPr/>
        </p:nvSpPr>
        <p:spPr>
          <a:xfrm>
            <a:off x="457200" y="5349240"/>
            <a:ext cx="11274552" cy="914400"/>
          </a:xfrm>
          <a:prstGeom prst="roundRect">
            <a:avLst>
              <a:gd name="adj" fmla="val 10000"/>
            </a:avLst>
          </a:prstGeom>
          <a:solidFill>
            <a:srgbClr val="F5F3FF"/>
          </a:solidFill>
          <a:ln w="19050">
            <a:solidFill>
              <a:srgbClr val="A78BFA"/>
            </a:solidFill>
            <a:prstDash val="solid"/>
          </a:ln>
        </p:spPr>
        <p:txBody>
          <a:bodyPr/>
          <a:lstStyle/>
          <a:p>
            <a:endParaRPr lang="en-US"/>
          </a:p>
        </p:txBody>
      </p:sp>
      <p:sp>
        <p:nvSpPr>
          <p:cNvPr id="44" name="Text 42"/>
          <p:cNvSpPr/>
          <p:nvPr/>
        </p:nvSpPr>
        <p:spPr>
          <a:xfrm>
            <a:off x="640080" y="5394960"/>
            <a:ext cx="2743200" cy="274320"/>
          </a:xfrm>
          <a:prstGeom prst="rect">
            <a:avLst/>
          </a:prstGeom>
          <a:noFill/>
          <a:ln/>
        </p:spPr>
        <p:txBody>
          <a:bodyPr wrap="square" rtlCol="0" anchor="ctr"/>
          <a:lstStyle/>
          <a:p>
            <a:pPr marL="0" indent="0">
              <a:buNone/>
            </a:pPr>
            <a:r>
              <a:rPr lang="en-US" sz="1300" b="1" dirty="0">
                <a:solidFill>
                  <a:srgbClr val="8B5CF6"/>
                </a:solidFill>
                <a:latin typeface="Segoe UI" pitchFamily="34" charset="0"/>
                <a:ea typeface="Segoe UI" pitchFamily="34" charset="-122"/>
                <a:cs typeface="Segoe UI" pitchFamily="34" charset="-120"/>
              </a:rPr>
              <a:t>The Pitch That Follows</a:t>
            </a:r>
            <a:endParaRPr lang="en-US" sz="1300" dirty="0"/>
          </a:p>
        </p:txBody>
      </p:sp>
      <p:sp>
        <p:nvSpPr>
          <p:cNvPr id="45" name="Text 43"/>
          <p:cNvSpPr/>
          <p:nvPr/>
        </p:nvSpPr>
        <p:spPr>
          <a:xfrm>
            <a:off x="640080" y="5669280"/>
            <a:ext cx="640080" cy="228600"/>
          </a:xfrm>
          <a:prstGeom prst="rect">
            <a:avLst/>
          </a:prstGeom>
          <a:noFill/>
          <a:ln/>
        </p:spPr>
        <p:txBody>
          <a:bodyPr wrap="square" rtlCol="0" anchor="ctr"/>
          <a:lstStyle/>
          <a:p>
            <a:pPr marL="0" indent="0">
              <a:buNone/>
            </a:pPr>
            <a:r>
              <a:rPr lang="en-US" sz="1000" b="1" dirty="0">
                <a:solidFill>
                  <a:srgbClr val="991B1B"/>
                </a:solidFill>
                <a:latin typeface="Segoe UI" pitchFamily="34" charset="0"/>
                <a:ea typeface="Segoe UI" pitchFamily="34" charset="-122"/>
                <a:cs typeface="Segoe UI" pitchFamily="34" charset="-120"/>
              </a:rPr>
              <a:t>Closed:</a:t>
            </a:r>
            <a:endParaRPr lang="en-US" sz="1000" dirty="0"/>
          </a:p>
        </p:txBody>
      </p:sp>
      <p:sp>
        <p:nvSpPr>
          <p:cNvPr id="46" name="Text 44"/>
          <p:cNvSpPr/>
          <p:nvPr/>
        </p:nvSpPr>
        <p:spPr>
          <a:xfrm>
            <a:off x="1280160" y="5669280"/>
            <a:ext cx="4677156" cy="228600"/>
          </a:xfrm>
          <a:prstGeom prst="rect">
            <a:avLst/>
          </a:prstGeom>
          <a:noFill/>
          <a:ln/>
        </p:spPr>
        <p:txBody>
          <a:bodyPr wrap="square" rtlCol="0" anchor="ctr"/>
          <a:lstStyle/>
          <a:p>
            <a:pPr marL="0" indent="0">
              <a:buNone/>
            </a:pPr>
            <a:r>
              <a:rPr lang="en-US" sz="1000" i="1" dirty="0">
                <a:solidFill>
                  <a:srgbClr val="7F1D1D"/>
                </a:solidFill>
                <a:latin typeface="Segoe UI" pitchFamily="34" charset="0"/>
                <a:ea typeface="Segoe UI" pitchFamily="34" charset="-122"/>
                <a:cs typeface="Segoe UI" pitchFamily="34" charset="-120"/>
              </a:rPr>
              <a:t>"Our 1 Gig plan has unlimited data and a gateway for $60/mo."</a:t>
            </a:r>
            <a:endParaRPr lang="en-US" sz="1000" dirty="0"/>
          </a:p>
        </p:txBody>
      </p:sp>
      <p:sp>
        <p:nvSpPr>
          <p:cNvPr id="47" name="Text 45"/>
          <p:cNvSpPr/>
          <p:nvPr/>
        </p:nvSpPr>
        <p:spPr>
          <a:xfrm>
            <a:off x="6414516" y="5669280"/>
            <a:ext cx="548640" cy="228600"/>
          </a:xfrm>
          <a:prstGeom prst="rect">
            <a:avLst/>
          </a:prstGeom>
          <a:noFill/>
          <a:ln/>
        </p:spPr>
        <p:txBody>
          <a:bodyPr wrap="square" rtlCol="0" anchor="ctr"/>
          <a:lstStyle/>
          <a:p>
            <a:pPr marL="0" indent="0">
              <a:buNone/>
            </a:pPr>
            <a:r>
              <a:rPr lang="en-US" sz="1000" b="1" dirty="0">
                <a:solidFill>
                  <a:srgbClr val="166534"/>
                </a:solidFill>
                <a:latin typeface="Segoe UI" pitchFamily="34" charset="0"/>
                <a:ea typeface="Segoe UI" pitchFamily="34" charset="-122"/>
                <a:cs typeface="Segoe UI" pitchFamily="34" charset="-120"/>
              </a:rPr>
              <a:t>Open:</a:t>
            </a:r>
            <a:endParaRPr lang="en-US" sz="1000" dirty="0"/>
          </a:p>
        </p:txBody>
      </p:sp>
      <p:sp>
        <p:nvSpPr>
          <p:cNvPr id="48" name="Text 46"/>
          <p:cNvSpPr/>
          <p:nvPr/>
        </p:nvSpPr>
        <p:spPr>
          <a:xfrm>
            <a:off x="6963156" y="5669280"/>
            <a:ext cx="4494276" cy="457200"/>
          </a:xfrm>
          <a:prstGeom prst="rect">
            <a:avLst/>
          </a:prstGeom>
          <a:noFill/>
          <a:ln/>
        </p:spPr>
        <p:txBody>
          <a:bodyPr wrap="square" rtlCol="0" anchor="ctr"/>
          <a:lstStyle/>
          <a:p>
            <a:pPr marL="0" indent="0">
              <a:lnSpc>
                <a:spcPts val="1600"/>
              </a:lnSpc>
              <a:buNone/>
            </a:pPr>
            <a:r>
              <a:rPr lang="en-US" sz="1000" i="1" dirty="0">
                <a:solidFill>
                  <a:srgbClr val="14532D"/>
                </a:solidFill>
                <a:latin typeface="Segoe UI" pitchFamily="34" charset="0"/>
                <a:ea typeface="Segoe UI" pitchFamily="34" charset="-122"/>
                <a:cs typeface="Segoe UI" pitchFamily="34" charset="-120"/>
              </a:rPr>
              <a:t>"Since your son games and you do video calls, I'm recommending 1 Gig so everyone can be online without lag."</a:t>
            </a:r>
            <a:endParaRPr lang="en-US" sz="1000" dirty="0"/>
          </a:p>
        </p:txBody>
      </p:sp>
      <p:sp>
        <p:nvSpPr>
          <p:cNvPr id="49" name="Text 47"/>
          <p:cNvSpPr/>
          <p:nvPr/>
        </p:nvSpPr>
        <p:spPr>
          <a:xfrm>
            <a:off x="0" y="6537960"/>
            <a:ext cx="12188952" cy="274320"/>
          </a:xfrm>
          <a:prstGeom prst="rect">
            <a:avLst/>
          </a:prstGeom>
          <a:noFill/>
          <a:ln/>
        </p:spPr>
        <p:txBody>
          <a:bodyPr wrap="square" rtlCol="0" anchor="ctr"/>
          <a:lstStyle/>
          <a:p>
            <a:pPr marL="0" indent="0" algn="ctr">
              <a:buNone/>
            </a:pPr>
            <a:r>
              <a:rPr lang="en-US" sz="800" dirty="0">
                <a:solidFill>
                  <a:srgbClr val="64748B"/>
                </a:solidFill>
                <a:latin typeface="Segoe UI" pitchFamily="34" charset="0"/>
                <a:ea typeface="Segoe UI" pitchFamily="34" charset="-122"/>
                <a:cs typeface="Segoe UI" pitchFamily="34" charset="-120"/>
              </a:rPr>
              <a:t>Catalyst Coaching Bootcamp  |  DR Site  |  Day 2 of 5  |  March 2026</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891B2"/>
          </a:solidFill>
          <a:ln/>
        </p:spPr>
        <p:txBody>
          <a:bodyPr/>
          <a:lstStyle/>
          <a:p>
            <a:endParaRPr lang="en-US"/>
          </a:p>
        </p:txBody>
      </p:sp>
      <p:sp>
        <p:nvSpPr>
          <p:cNvPr id="3" name="Shape 1"/>
          <p:cNvSpPr/>
          <p:nvPr/>
        </p:nvSpPr>
        <p:spPr>
          <a:xfrm>
            <a:off x="0" y="0"/>
            <a:ext cx="12188952" cy="1051560"/>
          </a:xfrm>
          <a:prstGeom prst="rect">
            <a:avLst/>
          </a:prstGeom>
          <a:solidFill>
            <a:srgbClr val="0E7490">
              <a:alpha val="40000"/>
            </a:srgbClr>
          </a:solidFill>
          <a:ln/>
        </p:spPr>
        <p:txBody>
          <a:bodyPr/>
          <a:lstStyle/>
          <a:p>
            <a:endParaRPr lang="en-US"/>
          </a:p>
        </p:txBody>
      </p:sp>
      <p:sp>
        <p:nvSpPr>
          <p:cNvPr id="4" name="Text 2"/>
          <p:cNvSpPr/>
          <p:nvPr/>
        </p:nvSpPr>
        <p:spPr>
          <a:xfrm>
            <a:off x="457200" y="137160"/>
            <a:ext cx="9445752" cy="457200"/>
          </a:xfrm>
          <a:prstGeom prst="rect">
            <a:avLst/>
          </a:prstGeom>
          <a:noFill/>
          <a:ln/>
        </p:spPr>
        <p:txBody>
          <a:bodyPr wrap="square" rtlCol="0" anchor="ctr"/>
          <a:lstStyle/>
          <a:p>
            <a:pPr marL="0" indent="0">
              <a:buNone/>
            </a:pPr>
            <a:r>
              <a:rPr lang="en-US" sz="2800" b="1" dirty="0">
                <a:solidFill>
                  <a:srgbClr val="FFFFFF"/>
                </a:solidFill>
                <a:latin typeface="Segoe UI" pitchFamily="34" charset="0"/>
                <a:ea typeface="Segoe UI" pitchFamily="34" charset="-122"/>
                <a:cs typeface="Segoe UI" pitchFamily="34" charset="-120"/>
              </a:rPr>
              <a:t>Linking &amp; Being the Ambassador</a:t>
            </a:r>
            <a:endParaRPr lang="en-US" sz="2800" dirty="0"/>
          </a:p>
        </p:txBody>
      </p:sp>
      <p:sp>
        <p:nvSpPr>
          <p:cNvPr id="5" name="Text 3"/>
          <p:cNvSpPr/>
          <p:nvPr/>
        </p:nvSpPr>
        <p:spPr>
          <a:xfrm>
            <a:off x="457200" y="594360"/>
            <a:ext cx="9445752" cy="274320"/>
          </a:xfrm>
          <a:prstGeom prst="rect">
            <a:avLst/>
          </a:prstGeom>
          <a:noFill/>
          <a:ln/>
        </p:spPr>
        <p:txBody>
          <a:bodyPr wrap="square" rtlCol="0" anchor="ctr"/>
          <a:lstStyle/>
          <a:p>
            <a:pPr marL="0" indent="0">
              <a:buNone/>
            </a:pPr>
            <a:r>
              <a:rPr lang="en-US" sz="1400" i="1" dirty="0">
                <a:solidFill>
                  <a:srgbClr val="FFFFFF">
                    <a:alpha val="85000"/>
                  </a:srgbClr>
                </a:solidFill>
                <a:latin typeface="Segoe UI" pitchFamily="34" charset="0"/>
                <a:ea typeface="Segoe UI" pitchFamily="34" charset="-122"/>
                <a:cs typeface="Segoe UI" pitchFamily="34" charset="-120"/>
              </a:rPr>
              <a:t>From Discovery to Recommendation</a:t>
            </a:r>
            <a:endParaRPr lang="en-US" sz="1400" dirty="0"/>
          </a:p>
        </p:txBody>
      </p:sp>
      <p:sp>
        <p:nvSpPr>
          <p:cNvPr id="6" name="Shape 4"/>
          <p:cNvSpPr/>
          <p:nvPr/>
        </p:nvSpPr>
        <p:spPr>
          <a:xfrm>
            <a:off x="10543032" y="182880"/>
            <a:ext cx="1188720" cy="685800"/>
          </a:xfrm>
          <a:prstGeom prst="roundRect">
            <a:avLst>
              <a:gd name="adj" fmla="val 13333"/>
            </a:avLst>
          </a:prstGeom>
          <a:solidFill>
            <a:srgbClr val="FFFFFF">
              <a:alpha val="20000"/>
            </a:srgbClr>
          </a:solidFill>
          <a:ln/>
        </p:spPr>
        <p:txBody>
          <a:bodyPr/>
          <a:lstStyle/>
          <a:p>
            <a:endParaRPr lang="en-US"/>
          </a:p>
        </p:txBody>
      </p:sp>
      <p:sp>
        <p:nvSpPr>
          <p:cNvPr id="7" name="Text 5"/>
          <p:cNvSpPr/>
          <p:nvPr/>
        </p:nvSpPr>
        <p:spPr>
          <a:xfrm>
            <a:off x="10543032" y="182880"/>
            <a:ext cx="1188720" cy="68580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Day 3</a:t>
            </a:r>
            <a:endParaRPr lang="en-US" sz="2000" dirty="0"/>
          </a:p>
        </p:txBody>
      </p:sp>
      <p:sp>
        <p:nvSpPr>
          <p:cNvPr id="8" name="Text 6"/>
          <p:cNvSpPr/>
          <p:nvPr/>
        </p:nvSpPr>
        <p:spPr>
          <a:xfrm>
            <a:off x="457200" y="1234440"/>
            <a:ext cx="11274552" cy="320040"/>
          </a:xfrm>
          <a:prstGeom prst="rect">
            <a:avLst/>
          </a:prstGeom>
          <a:noFill/>
          <a:ln/>
        </p:spPr>
        <p:txBody>
          <a:bodyPr wrap="square" rtlCol="0" anchor="ctr"/>
          <a:lstStyle/>
          <a:p>
            <a:pPr marL="0" indent="0">
              <a:buNone/>
            </a:pPr>
            <a:r>
              <a:rPr lang="en-US" sz="1800" b="1" dirty="0">
                <a:solidFill>
                  <a:srgbClr val="1E293B"/>
                </a:solidFill>
                <a:latin typeface="Segoe UI" pitchFamily="34" charset="0"/>
                <a:ea typeface="Segoe UI" pitchFamily="34" charset="-122"/>
                <a:cs typeface="Segoe UI" pitchFamily="34" charset="-120"/>
              </a:rPr>
              <a:t>Why This Matters</a:t>
            </a:r>
            <a:endParaRPr lang="en-US" sz="1800" dirty="0"/>
          </a:p>
        </p:txBody>
      </p:sp>
      <p:sp>
        <p:nvSpPr>
          <p:cNvPr id="9" name="Text 7"/>
          <p:cNvSpPr/>
          <p:nvPr/>
        </p:nvSpPr>
        <p:spPr>
          <a:xfrm>
            <a:off x="457200" y="1600200"/>
            <a:ext cx="11274552" cy="594360"/>
          </a:xfrm>
          <a:prstGeom prst="rect">
            <a:avLst/>
          </a:prstGeom>
          <a:noFill/>
          <a:ln/>
        </p:spPr>
        <p:txBody>
          <a:bodyPr wrap="square" rtlCol="0" anchor="ctr"/>
          <a:lstStyle/>
          <a:p>
            <a:pPr marL="0" indent="0">
              <a:lnSpc>
                <a:spcPts val="2200"/>
              </a:lnSpc>
              <a:buNone/>
            </a:pPr>
            <a:r>
              <a:rPr lang="en-US" sz="1300" dirty="0">
                <a:solidFill>
                  <a:srgbClr val="475569"/>
                </a:solidFill>
                <a:latin typeface="Segoe UI" pitchFamily="34" charset="0"/>
                <a:ea typeface="Segoe UI" pitchFamily="34" charset="-122"/>
                <a:cs typeface="Segoe UI" pitchFamily="34" charset="-120"/>
              </a:rPr>
              <a:t>Discovery without a tailored pitch is wasted effort. Being an Ambassador means you don't just list features. You connect them to what the customer told you. The customer should hear their own words reflected back in your recommendation.</a:t>
            </a:r>
            <a:endParaRPr lang="en-US" sz="1300" dirty="0"/>
          </a:p>
        </p:txBody>
      </p:sp>
      <p:sp>
        <p:nvSpPr>
          <p:cNvPr id="10" name="Shape 8"/>
          <p:cNvSpPr/>
          <p:nvPr/>
        </p:nvSpPr>
        <p:spPr>
          <a:xfrm>
            <a:off x="457200" y="2331720"/>
            <a:ext cx="11274552" cy="365760"/>
          </a:xfrm>
          <a:prstGeom prst="roundRect">
            <a:avLst>
              <a:gd name="adj" fmla="val 15000"/>
            </a:avLst>
          </a:prstGeom>
          <a:solidFill>
            <a:srgbClr val="0891B2"/>
          </a:solidFill>
          <a:ln/>
        </p:spPr>
        <p:txBody>
          <a:bodyPr/>
          <a:lstStyle/>
          <a:p>
            <a:endParaRPr lang="en-US"/>
          </a:p>
        </p:txBody>
      </p:sp>
      <p:sp>
        <p:nvSpPr>
          <p:cNvPr id="11" name="Text 9"/>
          <p:cNvSpPr/>
          <p:nvPr/>
        </p:nvSpPr>
        <p:spPr>
          <a:xfrm>
            <a:off x="640080" y="2331720"/>
            <a:ext cx="10908792" cy="36576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The Logic Bridge: "Based on what you told me..."</a:t>
            </a:r>
            <a:endParaRPr lang="en-US" sz="1200" dirty="0"/>
          </a:p>
        </p:txBody>
      </p:sp>
      <p:sp>
        <p:nvSpPr>
          <p:cNvPr id="12" name="Shape 10"/>
          <p:cNvSpPr/>
          <p:nvPr/>
        </p:nvSpPr>
        <p:spPr>
          <a:xfrm>
            <a:off x="457200" y="2788920"/>
            <a:ext cx="11274552" cy="1097280"/>
          </a:xfrm>
          <a:prstGeom prst="roundRect">
            <a:avLst>
              <a:gd name="adj" fmla="val 6667"/>
            </a:avLst>
          </a:prstGeom>
          <a:solidFill>
            <a:srgbClr val="F0F9FF"/>
          </a:solidFill>
          <a:ln w="12700">
            <a:solidFill>
              <a:srgbClr val="BAE6FD"/>
            </a:solidFill>
            <a:prstDash val="solid"/>
          </a:ln>
        </p:spPr>
        <p:txBody>
          <a:bodyPr/>
          <a:lstStyle/>
          <a:p>
            <a:endParaRPr lang="en-US"/>
          </a:p>
        </p:txBody>
      </p:sp>
      <p:sp>
        <p:nvSpPr>
          <p:cNvPr id="13" name="Text 11"/>
          <p:cNvSpPr/>
          <p:nvPr/>
        </p:nvSpPr>
        <p:spPr>
          <a:xfrm>
            <a:off x="640080" y="2788920"/>
            <a:ext cx="10908792" cy="1097280"/>
          </a:xfrm>
          <a:prstGeom prst="rect">
            <a:avLst/>
          </a:prstGeom>
          <a:noFill/>
          <a:ln/>
        </p:spPr>
        <p:txBody>
          <a:bodyPr wrap="square" rtlCol="0" anchor="ctr"/>
          <a:lstStyle/>
          <a:p>
            <a:pPr marL="0" indent="0">
              <a:lnSpc>
                <a:spcPts val="2200"/>
              </a:lnSpc>
              <a:buNone/>
            </a:pPr>
            <a:r>
              <a:rPr lang="en-US" sz="1200" i="1" dirty="0">
                <a:solidFill>
                  <a:srgbClr val="0C4A6E"/>
                </a:solidFill>
                <a:latin typeface="Segoe UI" pitchFamily="34" charset="0"/>
                <a:ea typeface="Segoe UI" pitchFamily="34" charset="-122"/>
                <a:cs typeface="Segoe UI" pitchFamily="34" charset="-120"/>
              </a:rPr>
              <a:t>"Based on what you told me, I think I have the perfect plan for your household..."</a:t>
            </a:r>
            <a:endParaRPr lang="en-US" sz="1200" dirty="0"/>
          </a:p>
          <a:p>
            <a:pPr marL="0" indent="0">
              <a:lnSpc>
                <a:spcPts val="2200"/>
              </a:lnSpc>
              <a:buNone/>
            </a:pPr>
            <a:endParaRPr lang="en-US" sz="1200" dirty="0"/>
          </a:p>
          <a:p>
            <a:pPr marL="0" indent="0">
              <a:lnSpc>
                <a:spcPts val="2200"/>
              </a:lnSpc>
              <a:buNone/>
            </a:pPr>
            <a:r>
              <a:rPr lang="en-US" sz="1200" i="1" dirty="0">
                <a:solidFill>
                  <a:srgbClr val="0C4A6E"/>
                </a:solidFill>
                <a:latin typeface="Segoe UI" pitchFamily="34" charset="0"/>
                <a:ea typeface="Segoe UI" pitchFamily="34" charset="-122"/>
                <a:cs typeface="Segoe UI" pitchFamily="34" charset="-120"/>
              </a:rPr>
              <a:t>"I heard you say [what they told you in discovery], so I included [product] because [specific benefit that addresses their need]."</a:t>
            </a:r>
            <a:endParaRPr lang="en-US" sz="1200" dirty="0"/>
          </a:p>
        </p:txBody>
      </p:sp>
      <p:sp>
        <p:nvSpPr>
          <p:cNvPr id="14" name="Shape 12"/>
          <p:cNvSpPr/>
          <p:nvPr/>
        </p:nvSpPr>
        <p:spPr>
          <a:xfrm>
            <a:off x="457200" y="4114800"/>
            <a:ext cx="5500116" cy="2011680"/>
          </a:xfrm>
          <a:prstGeom prst="roundRect">
            <a:avLst>
              <a:gd name="adj" fmla="val 5455"/>
            </a:avLst>
          </a:prstGeom>
          <a:solidFill>
            <a:srgbClr val="FEF2F2"/>
          </a:solidFill>
          <a:ln w="19050">
            <a:solidFill>
              <a:srgbClr val="FECACA"/>
            </a:solidFill>
            <a:prstDash val="solid"/>
          </a:ln>
        </p:spPr>
        <p:txBody>
          <a:bodyPr/>
          <a:lstStyle/>
          <a:p>
            <a:endParaRPr lang="en-US"/>
          </a:p>
        </p:txBody>
      </p:sp>
      <p:sp>
        <p:nvSpPr>
          <p:cNvPr id="15" name="Text 13"/>
          <p:cNvSpPr/>
          <p:nvPr/>
        </p:nvSpPr>
        <p:spPr>
          <a:xfrm>
            <a:off x="640080" y="4206240"/>
            <a:ext cx="5134356" cy="320040"/>
          </a:xfrm>
          <a:prstGeom prst="rect">
            <a:avLst/>
          </a:prstGeom>
          <a:noFill/>
          <a:ln/>
        </p:spPr>
        <p:txBody>
          <a:bodyPr wrap="square" rtlCol="0" anchor="ctr"/>
          <a:lstStyle/>
          <a:p>
            <a:pPr marL="0" indent="0">
              <a:buNone/>
            </a:pPr>
            <a:r>
              <a:rPr lang="en-US" sz="1400" b="1" dirty="0">
                <a:solidFill>
                  <a:srgbClr val="991B1B"/>
                </a:solidFill>
                <a:latin typeface="Segoe UI" pitchFamily="34" charset="0"/>
                <a:ea typeface="Segoe UI" pitchFamily="34" charset="-122"/>
                <a:cs typeface="Segoe UI" pitchFamily="34" charset="-120"/>
              </a:rPr>
              <a:t>Feature List (Generic)</a:t>
            </a:r>
            <a:endParaRPr lang="en-US" sz="1400" dirty="0"/>
          </a:p>
        </p:txBody>
      </p:sp>
      <p:sp>
        <p:nvSpPr>
          <p:cNvPr id="16" name="Text 14"/>
          <p:cNvSpPr/>
          <p:nvPr/>
        </p:nvSpPr>
        <p:spPr>
          <a:xfrm>
            <a:off x="640080" y="4572000"/>
            <a:ext cx="5134356" cy="822960"/>
          </a:xfrm>
          <a:prstGeom prst="rect">
            <a:avLst/>
          </a:prstGeom>
          <a:noFill/>
          <a:ln/>
        </p:spPr>
        <p:txBody>
          <a:bodyPr wrap="square" rtlCol="0" anchor="ctr"/>
          <a:lstStyle/>
          <a:p>
            <a:pPr marL="0" indent="0">
              <a:lnSpc>
                <a:spcPts val="2200"/>
              </a:lnSpc>
              <a:buNone/>
            </a:pPr>
            <a:r>
              <a:rPr lang="en-US" sz="1200" i="1" dirty="0">
                <a:solidFill>
                  <a:srgbClr val="7F1D1D"/>
                </a:solidFill>
                <a:latin typeface="Segoe UI" pitchFamily="34" charset="0"/>
                <a:ea typeface="Segoe UI" pitchFamily="34" charset="-122"/>
                <a:cs typeface="Segoe UI" pitchFamily="34" charset="-120"/>
              </a:rPr>
              <a:t>"Our 1 Gig plan comes with unlimited data, a gateway, WiFi hotspot access, and Advanced Security. It's $60 a month with auto-pay."</a:t>
            </a:r>
            <a:endParaRPr lang="en-US" sz="1200" dirty="0"/>
          </a:p>
        </p:txBody>
      </p:sp>
      <p:sp>
        <p:nvSpPr>
          <p:cNvPr id="17" name="Text 15"/>
          <p:cNvSpPr/>
          <p:nvPr/>
        </p:nvSpPr>
        <p:spPr>
          <a:xfrm>
            <a:off x="640080" y="5486400"/>
            <a:ext cx="5134356" cy="274320"/>
          </a:xfrm>
          <a:prstGeom prst="rect">
            <a:avLst/>
          </a:prstGeom>
          <a:noFill/>
          <a:ln/>
        </p:spPr>
        <p:txBody>
          <a:bodyPr wrap="square" rtlCol="0" anchor="ctr"/>
          <a:lstStyle/>
          <a:p>
            <a:pPr marL="0" indent="0">
              <a:buNone/>
            </a:pPr>
            <a:r>
              <a:rPr lang="en-US" sz="1100" b="1" dirty="0">
                <a:solidFill>
                  <a:srgbClr val="991B1B"/>
                </a:solidFill>
                <a:latin typeface="Segoe UI" pitchFamily="34" charset="0"/>
                <a:ea typeface="Segoe UI" pitchFamily="34" charset="-122"/>
                <a:cs typeface="Segoe UI" pitchFamily="34" charset="-120"/>
              </a:rPr>
              <a:t>Could be said to any customer. No connection to discovery.</a:t>
            </a:r>
            <a:endParaRPr lang="en-US" sz="1100" dirty="0"/>
          </a:p>
        </p:txBody>
      </p:sp>
      <p:sp>
        <p:nvSpPr>
          <p:cNvPr id="18" name="Shape 16"/>
          <p:cNvSpPr/>
          <p:nvPr/>
        </p:nvSpPr>
        <p:spPr>
          <a:xfrm>
            <a:off x="6231636" y="4114800"/>
            <a:ext cx="5500116" cy="2011680"/>
          </a:xfrm>
          <a:prstGeom prst="roundRect">
            <a:avLst>
              <a:gd name="adj" fmla="val 5455"/>
            </a:avLst>
          </a:prstGeom>
          <a:solidFill>
            <a:srgbClr val="F0FDF4"/>
          </a:solidFill>
          <a:ln w="19050">
            <a:solidFill>
              <a:srgbClr val="BBF7D0"/>
            </a:solidFill>
            <a:prstDash val="solid"/>
          </a:ln>
        </p:spPr>
        <p:txBody>
          <a:bodyPr/>
          <a:lstStyle/>
          <a:p>
            <a:endParaRPr lang="en-US"/>
          </a:p>
        </p:txBody>
      </p:sp>
      <p:sp>
        <p:nvSpPr>
          <p:cNvPr id="19" name="Text 17"/>
          <p:cNvSpPr/>
          <p:nvPr/>
        </p:nvSpPr>
        <p:spPr>
          <a:xfrm>
            <a:off x="6414516" y="4206240"/>
            <a:ext cx="5134356" cy="320040"/>
          </a:xfrm>
          <a:prstGeom prst="rect">
            <a:avLst/>
          </a:prstGeom>
          <a:noFill/>
          <a:ln/>
        </p:spPr>
        <p:txBody>
          <a:bodyPr wrap="square" rtlCol="0" anchor="ctr"/>
          <a:lstStyle/>
          <a:p>
            <a:pPr marL="0" indent="0">
              <a:buNone/>
            </a:pPr>
            <a:r>
              <a:rPr lang="en-US" sz="1400" b="1" dirty="0">
                <a:solidFill>
                  <a:srgbClr val="166534"/>
                </a:solidFill>
                <a:latin typeface="Segoe UI" pitchFamily="34" charset="0"/>
                <a:ea typeface="Segoe UI" pitchFamily="34" charset="-122"/>
                <a:cs typeface="Segoe UI" pitchFamily="34" charset="-120"/>
              </a:rPr>
              <a:t>Tailored Recommendation (Tie-Back)</a:t>
            </a:r>
            <a:endParaRPr lang="en-US" sz="1400" dirty="0"/>
          </a:p>
        </p:txBody>
      </p:sp>
      <p:sp>
        <p:nvSpPr>
          <p:cNvPr id="20" name="Text 18"/>
          <p:cNvSpPr/>
          <p:nvPr/>
        </p:nvSpPr>
        <p:spPr>
          <a:xfrm>
            <a:off x="6414516" y="4572000"/>
            <a:ext cx="5134356" cy="1005840"/>
          </a:xfrm>
          <a:prstGeom prst="rect">
            <a:avLst/>
          </a:prstGeom>
          <a:noFill/>
          <a:ln/>
        </p:spPr>
        <p:txBody>
          <a:bodyPr wrap="square" rtlCol="0" anchor="ctr"/>
          <a:lstStyle/>
          <a:p>
            <a:pPr marL="0" indent="0">
              <a:lnSpc>
                <a:spcPts val="2200"/>
              </a:lnSpc>
              <a:buNone/>
            </a:pPr>
            <a:r>
              <a:rPr lang="en-US" sz="1200" i="1" dirty="0">
                <a:solidFill>
                  <a:srgbClr val="14532D"/>
                </a:solidFill>
                <a:latin typeface="Segoe UI" pitchFamily="34" charset="0"/>
                <a:ea typeface="Segoe UI" pitchFamily="34" charset="-122"/>
                <a:cs typeface="Segoe UI" pitchFamily="34" charset="-120"/>
              </a:rPr>
              <a:t>"You mentioned your husband works from home and your kids stream constantly, so I'm recommending 1 Gig because your whole household can be online without anyone lagging. And since you said you're paying $80 now, this actually brings you down to $60."</a:t>
            </a:r>
            <a:endParaRPr lang="en-US" sz="1200" dirty="0"/>
          </a:p>
        </p:txBody>
      </p:sp>
      <p:sp>
        <p:nvSpPr>
          <p:cNvPr id="21" name="Text 19"/>
          <p:cNvSpPr/>
          <p:nvPr/>
        </p:nvSpPr>
        <p:spPr>
          <a:xfrm>
            <a:off x="6414516" y="5623560"/>
            <a:ext cx="5134356" cy="274320"/>
          </a:xfrm>
          <a:prstGeom prst="rect">
            <a:avLst/>
          </a:prstGeom>
          <a:noFill/>
          <a:ln/>
        </p:spPr>
        <p:txBody>
          <a:bodyPr wrap="square" rtlCol="0" anchor="ctr"/>
          <a:lstStyle/>
          <a:p>
            <a:pPr marL="0" indent="0">
              <a:buNone/>
            </a:pPr>
            <a:r>
              <a:rPr lang="en-US" sz="1100" b="1" dirty="0">
                <a:solidFill>
                  <a:srgbClr val="166534"/>
                </a:solidFill>
                <a:latin typeface="Segoe UI" pitchFamily="34" charset="0"/>
                <a:ea typeface="Segoe UI" pitchFamily="34" charset="-122"/>
                <a:cs typeface="Segoe UI" pitchFamily="34" charset="-120"/>
              </a:rPr>
              <a:t>Personal. References their household. Explains why it fits.</a:t>
            </a:r>
            <a:endParaRPr lang="en-US" sz="1100" dirty="0"/>
          </a:p>
        </p:txBody>
      </p:sp>
      <p:sp>
        <p:nvSpPr>
          <p:cNvPr id="22" name="Shape 20"/>
          <p:cNvSpPr/>
          <p:nvPr/>
        </p:nvSpPr>
        <p:spPr>
          <a:xfrm>
            <a:off x="457200" y="6080760"/>
            <a:ext cx="11274552" cy="365760"/>
          </a:xfrm>
          <a:prstGeom prst="roundRect">
            <a:avLst>
              <a:gd name="adj" fmla="val 20000"/>
            </a:avLst>
          </a:prstGeom>
          <a:solidFill>
            <a:srgbClr val="ECFEFF"/>
          </a:solidFill>
          <a:ln w="12700">
            <a:solidFill>
              <a:srgbClr val="22D3EE"/>
            </a:solidFill>
            <a:prstDash val="solid"/>
          </a:ln>
        </p:spPr>
        <p:txBody>
          <a:bodyPr/>
          <a:lstStyle/>
          <a:p>
            <a:endParaRPr lang="en-US"/>
          </a:p>
        </p:txBody>
      </p:sp>
      <p:sp>
        <p:nvSpPr>
          <p:cNvPr id="23" name="Text 21"/>
          <p:cNvSpPr/>
          <p:nvPr/>
        </p:nvSpPr>
        <p:spPr>
          <a:xfrm>
            <a:off x="640080" y="6080760"/>
            <a:ext cx="10908792" cy="365760"/>
          </a:xfrm>
          <a:prstGeom prst="rect">
            <a:avLst/>
          </a:prstGeom>
          <a:noFill/>
          <a:ln/>
        </p:spPr>
        <p:txBody>
          <a:bodyPr wrap="square" rtlCol="0" anchor="ctr"/>
          <a:lstStyle/>
          <a:p>
            <a:pPr marL="0" indent="0">
              <a:buNone/>
            </a:pPr>
            <a:r>
              <a:rPr lang="en-US" sz="1100" dirty="0">
                <a:solidFill>
                  <a:srgbClr val="0E7490"/>
                </a:solidFill>
                <a:latin typeface="Segoe UI" pitchFamily="34" charset="0"/>
                <a:ea typeface="Segoe UI" pitchFamily="34" charset="-122"/>
                <a:cs typeface="Segoe UI" pitchFamily="34" charset="-120"/>
              </a:rPr>
              <a:t>Compliance: Reference broadband labels on every Internet/Mobile offer: "You can also see this information at Xfinity.com/labels."</a:t>
            </a:r>
            <a:endParaRPr lang="en-US" sz="1100" dirty="0"/>
          </a:p>
        </p:txBody>
      </p:sp>
      <p:sp>
        <p:nvSpPr>
          <p:cNvPr id="24" name="Text 22"/>
          <p:cNvSpPr/>
          <p:nvPr/>
        </p:nvSpPr>
        <p:spPr>
          <a:xfrm>
            <a:off x="0" y="6537960"/>
            <a:ext cx="12188952" cy="274320"/>
          </a:xfrm>
          <a:prstGeom prst="rect">
            <a:avLst/>
          </a:prstGeom>
          <a:noFill/>
          <a:ln/>
        </p:spPr>
        <p:txBody>
          <a:bodyPr wrap="square" rtlCol="0" anchor="ctr"/>
          <a:lstStyle/>
          <a:p>
            <a:pPr marL="0" indent="0" algn="ctr">
              <a:buNone/>
            </a:pPr>
            <a:r>
              <a:rPr lang="en-US" sz="800" dirty="0">
                <a:solidFill>
                  <a:srgbClr val="64748B"/>
                </a:solidFill>
                <a:latin typeface="Segoe UI" pitchFamily="34" charset="0"/>
                <a:ea typeface="Segoe UI" pitchFamily="34" charset="-122"/>
                <a:cs typeface="Segoe UI" pitchFamily="34" charset="-120"/>
              </a:rPr>
              <a:t>Catalyst Coaching Bootcamp  |  DR Site  |  Day 3 of 5  |  March 2026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E67E22"/>
          </a:solidFill>
          <a:ln/>
        </p:spPr>
        <p:txBody>
          <a:bodyPr/>
          <a:lstStyle/>
          <a:p>
            <a:endParaRPr lang="en-US"/>
          </a:p>
        </p:txBody>
      </p:sp>
      <p:sp>
        <p:nvSpPr>
          <p:cNvPr id="3" name="Shape 1"/>
          <p:cNvSpPr/>
          <p:nvPr/>
        </p:nvSpPr>
        <p:spPr>
          <a:xfrm>
            <a:off x="0" y="0"/>
            <a:ext cx="12188952" cy="1051560"/>
          </a:xfrm>
          <a:prstGeom prst="rect">
            <a:avLst/>
          </a:prstGeom>
          <a:solidFill>
            <a:srgbClr val="C2410C">
              <a:alpha val="40000"/>
            </a:srgbClr>
          </a:solidFill>
          <a:ln/>
        </p:spPr>
        <p:txBody>
          <a:bodyPr/>
          <a:lstStyle/>
          <a:p>
            <a:endParaRPr lang="en-US"/>
          </a:p>
        </p:txBody>
      </p:sp>
      <p:sp>
        <p:nvSpPr>
          <p:cNvPr id="4" name="Text 2"/>
          <p:cNvSpPr/>
          <p:nvPr/>
        </p:nvSpPr>
        <p:spPr>
          <a:xfrm>
            <a:off x="457200" y="137160"/>
            <a:ext cx="9445752" cy="457200"/>
          </a:xfrm>
          <a:prstGeom prst="rect">
            <a:avLst/>
          </a:prstGeom>
          <a:noFill/>
          <a:ln/>
        </p:spPr>
        <p:txBody>
          <a:bodyPr wrap="square" rtlCol="0" anchor="ctr"/>
          <a:lstStyle/>
          <a:p>
            <a:pPr marL="0" indent="0">
              <a:buNone/>
            </a:pPr>
            <a:r>
              <a:rPr lang="en-US" sz="2800" b="1" dirty="0">
                <a:solidFill>
                  <a:srgbClr val="FFFFFF"/>
                </a:solidFill>
                <a:latin typeface="Segoe UI" pitchFamily="34" charset="0"/>
                <a:ea typeface="Segoe UI" pitchFamily="34" charset="-122"/>
                <a:cs typeface="Segoe UI" pitchFamily="34" charset="-120"/>
              </a:rPr>
              <a:t>Objections &amp; Overcoming Them</a:t>
            </a:r>
            <a:endParaRPr lang="en-US" sz="2800" dirty="0"/>
          </a:p>
        </p:txBody>
      </p:sp>
      <p:sp>
        <p:nvSpPr>
          <p:cNvPr id="5" name="Text 3"/>
          <p:cNvSpPr/>
          <p:nvPr/>
        </p:nvSpPr>
        <p:spPr>
          <a:xfrm>
            <a:off x="457200" y="594360"/>
            <a:ext cx="9445752" cy="274320"/>
          </a:xfrm>
          <a:prstGeom prst="rect">
            <a:avLst/>
          </a:prstGeom>
          <a:noFill/>
          <a:ln/>
        </p:spPr>
        <p:txBody>
          <a:bodyPr wrap="square" rtlCol="0" anchor="ctr"/>
          <a:lstStyle/>
          <a:p>
            <a:pPr marL="0" indent="0">
              <a:buNone/>
            </a:pPr>
            <a:r>
              <a:rPr lang="en-US" sz="1400" i="1" dirty="0">
                <a:solidFill>
                  <a:srgbClr val="FFFFFF">
                    <a:alpha val="85000"/>
                  </a:srgbClr>
                </a:solidFill>
                <a:latin typeface="Segoe UI" pitchFamily="34" charset="0"/>
                <a:ea typeface="Segoe UI" pitchFamily="34" charset="-122"/>
                <a:cs typeface="Segoe UI" pitchFamily="34" charset="-120"/>
              </a:rPr>
              <a:t>The 4-Step Framework</a:t>
            </a:r>
            <a:endParaRPr lang="en-US" sz="1400" dirty="0"/>
          </a:p>
        </p:txBody>
      </p:sp>
      <p:sp>
        <p:nvSpPr>
          <p:cNvPr id="6" name="Shape 4"/>
          <p:cNvSpPr/>
          <p:nvPr/>
        </p:nvSpPr>
        <p:spPr>
          <a:xfrm>
            <a:off x="10543032" y="182880"/>
            <a:ext cx="1188720" cy="685800"/>
          </a:xfrm>
          <a:prstGeom prst="roundRect">
            <a:avLst>
              <a:gd name="adj" fmla="val 13333"/>
            </a:avLst>
          </a:prstGeom>
          <a:solidFill>
            <a:srgbClr val="FFFFFF">
              <a:alpha val="20000"/>
            </a:srgbClr>
          </a:solidFill>
          <a:ln/>
        </p:spPr>
        <p:txBody>
          <a:bodyPr/>
          <a:lstStyle/>
          <a:p>
            <a:endParaRPr lang="en-US"/>
          </a:p>
        </p:txBody>
      </p:sp>
      <p:sp>
        <p:nvSpPr>
          <p:cNvPr id="7" name="Text 5"/>
          <p:cNvSpPr/>
          <p:nvPr/>
        </p:nvSpPr>
        <p:spPr>
          <a:xfrm>
            <a:off x="10543032" y="182880"/>
            <a:ext cx="1188720" cy="68580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Day 4</a:t>
            </a:r>
            <a:endParaRPr lang="en-US" sz="2000" dirty="0"/>
          </a:p>
        </p:txBody>
      </p:sp>
      <p:sp>
        <p:nvSpPr>
          <p:cNvPr id="8" name="Text 6"/>
          <p:cNvSpPr/>
          <p:nvPr/>
        </p:nvSpPr>
        <p:spPr>
          <a:xfrm>
            <a:off x="457200" y="1234440"/>
            <a:ext cx="11274552" cy="365760"/>
          </a:xfrm>
          <a:prstGeom prst="rect">
            <a:avLst/>
          </a:prstGeom>
          <a:noFill/>
          <a:ln/>
        </p:spPr>
        <p:txBody>
          <a:bodyPr wrap="square" rtlCol="0" anchor="ctr"/>
          <a:lstStyle/>
          <a:p>
            <a:pPr marL="0" indent="0">
              <a:buNone/>
            </a:pPr>
            <a:r>
              <a:rPr lang="en-US" sz="1600" b="1" dirty="0">
                <a:solidFill>
                  <a:srgbClr val="1E293B"/>
                </a:solidFill>
                <a:latin typeface="Segoe UI" pitchFamily="34" charset="0"/>
                <a:ea typeface="Segoe UI" pitchFamily="34" charset="-122"/>
                <a:cs typeface="Segoe UI" pitchFamily="34" charset="-120"/>
              </a:rPr>
              <a:t>An objection is not a rejection. It's the customer telling you they need more information.</a:t>
            </a:r>
            <a:endParaRPr lang="en-US" sz="1600" dirty="0"/>
          </a:p>
        </p:txBody>
      </p:sp>
      <p:sp>
        <p:nvSpPr>
          <p:cNvPr id="9" name="Shape 7"/>
          <p:cNvSpPr/>
          <p:nvPr/>
        </p:nvSpPr>
        <p:spPr>
          <a:xfrm>
            <a:off x="457200" y="1783080"/>
            <a:ext cx="11274552" cy="960120"/>
          </a:xfrm>
          <a:prstGeom prst="roundRect">
            <a:avLst>
              <a:gd name="adj" fmla="val 9524"/>
            </a:avLst>
          </a:prstGeom>
          <a:solidFill>
            <a:srgbClr val="FFF7ED"/>
          </a:solidFill>
          <a:ln w="12700">
            <a:solidFill>
              <a:srgbClr val="FED7AA"/>
            </a:solidFill>
            <a:prstDash val="solid"/>
          </a:ln>
        </p:spPr>
        <p:txBody>
          <a:bodyPr/>
          <a:lstStyle/>
          <a:p>
            <a:endParaRPr lang="en-US"/>
          </a:p>
        </p:txBody>
      </p:sp>
      <p:sp>
        <p:nvSpPr>
          <p:cNvPr id="10" name="Shape 8"/>
          <p:cNvSpPr/>
          <p:nvPr/>
        </p:nvSpPr>
        <p:spPr>
          <a:xfrm>
            <a:off x="640080" y="1984248"/>
            <a:ext cx="548640" cy="548640"/>
          </a:xfrm>
          <a:prstGeom prst="ellipse">
            <a:avLst/>
          </a:prstGeom>
          <a:solidFill>
            <a:srgbClr val="E67E22"/>
          </a:solidFill>
          <a:ln/>
        </p:spPr>
        <p:txBody>
          <a:bodyPr/>
          <a:lstStyle/>
          <a:p>
            <a:endParaRPr lang="en-US"/>
          </a:p>
        </p:txBody>
      </p:sp>
      <p:sp>
        <p:nvSpPr>
          <p:cNvPr id="11" name="Text 9"/>
          <p:cNvSpPr/>
          <p:nvPr/>
        </p:nvSpPr>
        <p:spPr>
          <a:xfrm>
            <a:off x="640080" y="1984248"/>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12" name="Text 10"/>
          <p:cNvSpPr/>
          <p:nvPr/>
        </p:nvSpPr>
        <p:spPr>
          <a:xfrm>
            <a:off x="1371600" y="1874520"/>
            <a:ext cx="4114800" cy="320040"/>
          </a:xfrm>
          <a:prstGeom prst="rect">
            <a:avLst/>
          </a:prstGeom>
          <a:noFill/>
          <a:ln/>
        </p:spPr>
        <p:txBody>
          <a:bodyPr wrap="square" rtlCol="0" anchor="ctr"/>
          <a:lstStyle/>
          <a:p>
            <a:pPr marL="0" indent="0">
              <a:buNone/>
            </a:pPr>
            <a:r>
              <a:rPr lang="en-US" sz="1500" b="1" dirty="0">
                <a:solidFill>
                  <a:srgbClr val="1E293B"/>
                </a:solidFill>
                <a:latin typeface="Segoe UI" pitchFamily="34" charset="0"/>
                <a:ea typeface="Segoe UI" pitchFamily="34" charset="-122"/>
                <a:cs typeface="Segoe UI" pitchFamily="34" charset="-120"/>
              </a:rPr>
              <a:t>Understand the Objection</a:t>
            </a:r>
            <a:endParaRPr lang="en-US" sz="1500" dirty="0"/>
          </a:p>
        </p:txBody>
      </p:sp>
      <p:sp>
        <p:nvSpPr>
          <p:cNvPr id="13" name="Text 11"/>
          <p:cNvSpPr/>
          <p:nvPr/>
        </p:nvSpPr>
        <p:spPr>
          <a:xfrm>
            <a:off x="1371600" y="2240280"/>
            <a:ext cx="4114800" cy="320040"/>
          </a:xfrm>
          <a:prstGeom prst="rect">
            <a:avLst/>
          </a:prstGeom>
          <a:noFill/>
          <a:ln/>
        </p:spPr>
        <p:txBody>
          <a:bodyPr wrap="square" rtlCol="0" anchor="ctr"/>
          <a:lstStyle/>
          <a:p>
            <a:pPr marL="0" indent="0">
              <a:buNone/>
            </a:pPr>
            <a:r>
              <a:rPr lang="en-US" sz="1100" dirty="0">
                <a:solidFill>
                  <a:srgbClr val="475569"/>
                </a:solidFill>
                <a:latin typeface="Segoe UI" pitchFamily="34" charset="0"/>
                <a:ea typeface="Segoe UI" pitchFamily="34" charset="-122"/>
                <a:cs typeface="Segoe UI" pitchFamily="34" charset="-120"/>
              </a:rPr>
              <a:t>Don't assume you know why. Probe genuinely.</a:t>
            </a:r>
            <a:endParaRPr lang="en-US" sz="1100" dirty="0"/>
          </a:p>
        </p:txBody>
      </p:sp>
      <p:sp>
        <p:nvSpPr>
          <p:cNvPr id="14" name="Text 12"/>
          <p:cNvSpPr/>
          <p:nvPr/>
        </p:nvSpPr>
        <p:spPr>
          <a:xfrm>
            <a:off x="5943600" y="1874520"/>
            <a:ext cx="5605272" cy="777240"/>
          </a:xfrm>
          <a:prstGeom prst="rect">
            <a:avLst/>
          </a:prstGeom>
          <a:noFill/>
          <a:ln/>
        </p:spPr>
        <p:txBody>
          <a:bodyPr wrap="square" rtlCol="0" anchor="ctr"/>
          <a:lstStyle/>
          <a:p>
            <a:pPr marL="0" indent="0">
              <a:lnSpc>
                <a:spcPts val="2000"/>
              </a:lnSpc>
              <a:buNone/>
            </a:pPr>
            <a:r>
              <a:rPr lang="en-US" sz="1200" i="1" dirty="0">
                <a:solidFill>
                  <a:srgbClr val="0C4A6E"/>
                </a:solidFill>
                <a:latin typeface="Segoe UI" pitchFamily="34" charset="0"/>
                <a:ea typeface="Segoe UI" pitchFamily="34" charset="-122"/>
                <a:cs typeface="Segoe UI" pitchFamily="34" charset="-120"/>
              </a:rPr>
              <a:t>"I appreciate you sharing that. What specifically about the plan are you unsure about?"</a:t>
            </a:r>
            <a:endParaRPr lang="en-US" sz="1200" dirty="0"/>
          </a:p>
        </p:txBody>
      </p:sp>
      <p:sp>
        <p:nvSpPr>
          <p:cNvPr id="15" name="Shape 13"/>
          <p:cNvSpPr/>
          <p:nvPr/>
        </p:nvSpPr>
        <p:spPr>
          <a:xfrm>
            <a:off x="457200" y="2880360"/>
            <a:ext cx="11274552" cy="960120"/>
          </a:xfrm>
          <a:prstGeom prst="roundRect">
            <a:avLst>
              <a:gd name="adj" fmla="val 9524"/>
            </a:avLst>
          </a:prstGeom>
          <a:solidFill>
            <a:srgbClr val="FFFBEB"/>
          </a:solidFill>
          <a:ln w="12700">
            <a:solidFill>
              <a:srgbClr val="FDE68A"/>
            </a:solidFill>
            <a:prstDash val="solid"/>
          </a:ln>
        </p:spPr>
        <p:txBody>
          <a:bodyPr/>
          <a:lstStyle/>
          <a:p>
            <a:endParaRPr lang="en-US"/>
          </a:p>
        </p:txBody>
      </p:sp>
      <p:sp>
        <p:nvSpPr>
          <p:cNvPr id="16" name="Shape 14"/>
          <p:cNvSpPr/>
          <p:nvPr/>
        </p:nvSpPr>
        <p:spPr>
          <a:xfrm>
            <a:off x="640080" y="3081528"/>
            <a:ext cx="548640" cy="548640"/>
          </a:xfrm>
          <a:prstGeom prst="ellipse">
            <a:avLst/>
          </a:prstGeom>
          <a:solidFill>
            <a:srgbClr val="E67E22"/>
          </a:solidFill>
          <a:ln/>
        </p:spPr>
        <p:txBody>
          <a:bodyPr/>
          <a:lstStyle/>
          <a:p>
            <a:endParaRPr lang="en-US"/>
          </a:p>
        </p:txBody>
      </p:sp>
      <p:sp>
        <p:nvSpPr>
          <p:cNvPr id="17" name="Text 15"/>
          <p:cNvSpPr/>
          <p:nvPr/>
        </p:nvSpPr>
        <p:spPr>
          <a:xfrm>
            <a:off x="640080" y="3081528"/>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8" name="Text 16"/>
          <p:cNvSpPr/>
          <p:nvPr/>
        </p:nvSpPr>
        <p:spPr>
          <a:xfrm>
            <a:off x="1371600" y="2971800"/>
            <a:ext cx="4114800" cy="320040"/>
          </a:xfrm>
          <a:prstGeom prst="rect">
            <a:avLst/>
          </a:prstGeom>
          <a:noFill/>
          <a:ln/>
        </p:spPr>
        <p:txBody>
          <a:bodyPr wrap="square" rtlCol="0" anchor="ctr"/>
          <a:lstStyle/>
          <a:p>
            <a:pPr marL="0" indent="0">
              <a:buNone/>
            </a:pPr>
            <a:r>
              <a:rPr lang="en-US" sz="1500" b="1" dirty="0">
                <a:solidFill>
                  <a:srgbClr val="1E293B"/>
                </a:solidFill>
                <a:latin typeface="Segoe UI" pitchFamily="34" charset="0"/>
                <a:ea typeface="Segoe UI" pitchFamily="34" charset="-122"/>
                <a:cs typeface="Segoe UI" pitchFamily="34" charset="-120"/>
              </a:rPr>
              <a:t>Empathize &amp; Overcome</a:t>
            </a:r>
            <a:endParaRPr lang="en-US" sz="1500" dirty="0"/>
          </a:p>
        </p:txBody>
      </p:sp>
      <p:sp>
        <p:nvSpPr>
          <p:cNvPr id="19" name="Text 17"/>
          <p:cNvSpPr/>
          <p:nvPr/>
        </p:nvSpPr>
        <p:spPr>
          <a:xfrm>
            <a:off x="1371600" y="3337560"/>
            <a:ext cx="4114800" cy="320040"/>
          </a:xfrm>
          <a:prstGeom prst="rect">
            <a:avLst/>
          </a:prstGeom>
          <a:noFill/>
          <a:ln/>
        </p:spPr>
        <p:txBody>
          <a:bodyPr wrap="square" rtlCol="0" anchor="ctr"/>
          <a:lstStyle/>
          <a:p>
            <a:pPr marL="0" indent="0">
              <a:buNone/>
            </a:pPr>
            <a:r>
              <a:rPr lang="en-US" sz="1100" dirty="0">
                <a:solidFill>
                  <a:srgbClr val="475569"/>
                </a:solidFill>
                <a:latin typeface="Segoe UI" pitchFamily="34" charset="0"/>
                <a:ea typeface="Segoe UI" pitchFamily="34" charset="-122"/>
                <a:cs typeface="Segoe UI" pitchFamily="34" charset="-120"/>
              </a:rPr>
              <a:t>Show you heard them before pivoting to the solution.</a:t>
            </a:r>
            <a:endParaRPr lang="en-US" sz="1100" dirty="0"/>
          </a:p>
        </p:txBody>
      </p:sp>
      <p:sp>
        <p:nvSpPr>
          <p:cNvPr id="20" name="Text 18"/>
          <p:cNvSpPr/>
          <p:nvPr/>
        </p:nvSpPr>
        <p:spPr>
          <a:xfrm>
            <a:off x="5943600" y="2971800"/>
            <a:ext cx="5605272" cy="777240"/>
          </a:xfrm>
          <a:prstGeom prst="rect">
            <a:avLst/>
          </a:prstGeom>
          <a:noFill/>
          <a:ln/>
        </p:spPr>
        <p:txBody>
          <a:bodyPr wrap="square" rtlCol="0" anchor="ctr"/>
          <a:lstStyle/>
          <a:p>
            <a:pPr marL="0" indent="0">
              <a:lnSpc>
                <a:spcPts val="2000"/>
              </a:lnSpc>
              <a:buNone/>
            </a:pPr>
            <a:r>
              <a:rPr lang="en-US" sz="1200" i="1" dirty="0">
                <a:solidFill>
                  <a:srgbClr val="0C4A6E"/>
                </a:solidFill>
                <a:latin typeface="Segoe UI" pitchFamily="34" charset="0"/>
                <a:ea typeface="Segoe UI" pitchFamily="34" charset="-122"/>
                <a:cs typeface="Segoe UI" pitchFamily="34" charset="-120"/>
              </a:rPr>
              <a:t>"I completely understand that, however..."</a:t>
            </a:r>
            <a:endParaRPr lang="en-US" sz="1200" dirty="0"/>
          </a:p>
        </p:txBody>
      </p:sp>
      <p:sp>
        <p:nvSpPr>
          <p:cNvPr id="21" name="Shape 19"/>
          <p:cNvSpPr/>
          <p:nvPr/>
        </p:nvSpPr>
        <p:spPr>
          <a:xfrm>
            <a:off x="457200" y="3977640"/>
            <a:ext cx="11274552" cy="960120"/>
          </a:xfrm>
          <a:prstGeom prst="roundRect">
            <a:avLst>
              <a:gd name="adj" fmla="val 9524"/>
            </a:avLst>
          </a:prstGeom>
          <a:solidFill>
            <a:srgbClr val="F0FDF4"/>
          </a:solidFill>
          <a:ln w="12700">
            <a:solidFill>
              <a:srgbClr val="BBF7D0"/>
            </a:solidFill>
            <a:prstDash val="solid"/>
          </a:ln>
        </p:spPr>
        <p:txBody>
          <a:bodyPr/>
          <a:lstStyle/>
          <a:p>
            <a:endParaRPr lang="en-US"/>
          </a:p>
        </p:txBody>
      </p:sp>
      <p:sp>
        <p:nvSpPr>
          <p:cNvPr id="22" name="Shape 20"/>
          <p:cNvSpPr/>
          <p:nvPr/>
        </p:nvSpPr>
        <p:spPr>
          <a:xfrm>
            <a:off x="640080" y="4178808"/>
            <a:ext cx="548640" cy="548640"/>
          </a:xfrm>
          <a:prstGeom prst="ellipse">
            <a:avLst/>
          </a:prstGeom>
          <a:solidFill>
            <a:srgbClr val="E67E22"/>
          </a:solidFill>
          <a:ln/>
        </p:spPr>
        <p:txBody>
          <a:bodyPr/>
          <a:lstStyle/>
          <a:p>
            <a:endParaRPr lang="en-US"/>
          </a:p>
        </p:txBody>
      </p:sp>
      <p:sp>
        <p:nvSpPr>
          <p:cNvPr id="23" name="Text 21"/>
          <p:cNvSpPr/>
          <p:nvPr/>
        </p:nvSpPr>
        <p:spPr>
          <a:xfrm>
            <a:off x="640080" y="4178808"/>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24" name="Text 22"/>
          <p:cNvSpPr/>
          <p:nvPr/>
        </p:nvSpPr>
        <p:spPr>
          <a:xfrm>
            <a:off x="1371600" y="4069080"/>
            <a:ext cx="4114800" cy="320040"/>
          </a:xfrm>
          <a:prstGeom prst="rect">
            <a:avLst/>
          </a:prstGeom>
          <a:noFill/>
          <a:ln/>
        </p:spPr>
        <p:txBody>
          <a:bodyPr wrap="square" rtlCol="0" anchor="ctr"/>
          <a:lstStyle/>
          <a:p>
            <a:pPr marL="0" indent="0">
              <a:buNone/>
            </a:pPr>
            <a:r>
              <a:rPr lang="en-US" sz="1500" b="1" dirty="0">
                <a:solidFill>
                  <a:srgbClr val="1E293B"/>
                </a:solidFill>
                <a:latin typeface="Segoe UI" pitchFamily="34" charset="0"/>
                <a:ea typeface="Segoe UI" pitchFamily="34" charset="-122"/>
                <a:cs typeface="Segoe UI" pitchFamily="34" charset="-120"/>
              </a:rPr>
              <a:t>Restate Key Tie-Backs</a:t>
            </a:r>
            <a:endParaRPr lang="en-US" sz="1500" dirty="0"/>
          </a:p>
        </p:txBody>
      </p:sp>
      <p:sp>
        <p:nvSpPr>
          <p:cNvPr id="25" name="Text 23"/>
          <p:cNvSpPr/>
          <p:nvPr/>
        </p:nvSpPr>
        <p:spPr>
          <a:xfrm>
            <a:off x="1371600" y="4434840"/>
            <a:ext cx="4114800" cy="320040"/>
          </a:xfrm>
          <a:prstGeom prst="rect">
            <a:avLst/>
          </a:prstGeom>
          <a:noFill/>
          <a:ln/>
        </p:spPr>
        <p:txBody>
          <a:bodyPr wrap="square" rtlCol="0" anchor="ctr"/>
          <a:lstStyle/>
          <a:p>
            <a:pPr marL="0" indent="0">
              <a:buNone/>
            </a:pPr>
            <a:r>
              <a:rPr lang="en-US" sz="1100" dirty="0">
                <a:solidFill>
                  <a:srgbClr val="475569"/>
                </a:solidFill>
                <a:latin typeface="Segoe UI" pitchFamily="34" charset="0"/>
                <a:ea typeface="Segoe UI" pitchFamily="34" charset="-122"/>
                <a:cs typeface="Segoe UI" pitchFamily="34" charset="-120"/>
              </a:rPr>
              <a:t>Anchor back to what they told you in discovery.</a:t>
            </a:r>
            <a:endParaRPr lang="en-US" sz="1100" dirty="0"/>
          </a:p>
        </p:txBody>
      </p:sp>
      <p:sp>
        <p:nvSpPr>
          <p:cNvPr id="26" name="Text 24"/>
          <p:cNvSpPr/>
          <p:nvPr/>
        </p:nvSpPr>
        <p:spPr>
          <a:xfrm>
            <a:off x="5943600" y="4069080"/>
            <a:ext cx="5605272" cy="777240"/>
          </a:xfrm>
          <a:prstGeom prst="rect">
            <a:avLst/>
          </a:prstGeom>
          <a:noFill/>
          <a:ln/>
        </p:spPr>
        <p:txBody>
          <a:bodyPr wrap="square" rtlCol="0" anchor="ctr"/>
          <a:lstStyle/>
          <a:p>
            <a:pPr marL="0" indent="0">
              <a:lnSpc>
                <a:spcPts val="2000"/>
              </a:lnSpc>
              <a:buNone/>
            </a:pPr>
            <a:r>
              <a:rPr lang="en-US" sz="1200" i="1" dirty="0">
                <a:solidFill>
                  <a:srgbClr val="0C4A6E"/>
                </a:solidFill>
                <a:latin typeface="Segoe UI" pitchFamily="34" charset="0"/>
                <a:ea typeface="Segoe UI" pitchFamily="34" charset="-122"/>
                <a:cs typeface="Segoe UI" pitchFamily="34" charset="-120"/>
              </a:rPr>
              <a:t>"I heard you say [X], so I wanted to make sure you had [benefit]..."</a:t>
            </a:r>
            <a:endParaRPr lang="en-US" sz="1200" dirty="0"/>
          </a:p>
        </p:txBody>
      </p:sp>
      <p:sp>
        <p:nvSpPr>
          <p:cNvPr id="27" name="Shape 25"/>
          <p:cNvSpPr/>
          <p:nvPr/>
        </p:nvSpPr>
        <p:spPr>
          <a:xfrm>
            <a:off x="457200" y="5074920"/>
            <a:ext cx="11274552" cy="960120"/>
          </a:xfrm>
          <a:prstGeom prst="roundRect">
            <a:avLst>
              <a:gd name="adj" fmla="val 9524"/>
            </a:avLst>
          </a:prstGeom>
          <a:solidFill>
            <a:srgbClr val="EFF6FF"/>
          </a:solidFill>
          <a:ln w="12700">
            <a:solidFill>
              <a:srgbClr val="BFDBFE"/>
            </a:solidFill>
            <a:prstDash val="solid"/>
          </a:ln>
        </p:spPr>
        <p:txBody>
          <a:bodyPr/>
          <a:lstStyle/>
          <a:p>
            <a:endParaRPr lang="en-US"/>
          </a:p>
        </p:txBody>
      </p:sp>
      <p:sp>
        <p:nvSpPr>
          <p:cNvPr id="28" name="Shape 26"/>
          <p:cNvSpPr/>
          <p:nvPr/>
        </p:nvSpPr>
        <p:spPr>
          <a:xfrm>
            <a:off x="640080" y="5276088"/>
            <a:ext cx="548640" cy="548640"/>
          </a:xfrm>
          <a:prstGeom prst="ellipse">
            <a:avLst/>
          </a:prstGeom>
          <a:solidFill>
            <a:srgbClr val="E67E22"/>
          </a:solidFill>
          <a:ln/>
        </p:spPr>
        <p:txBody>
          <a:bodyPr/>
          <a:lstStyle/>
          <a:p>
            <a:endParaRPr lang="en-US"/>
          </a:p>
        </p:txBody>
      </p:sp>
      <p:sp>
        <p:nvSpPr>
          <p:cNvPr id="29" name="Text 27"/>
          <p:cNvSpPr/>
          <p:nvPr/>
        </p:nvSpPr>
        <p:spPr>
          <a:xfrm>
            <a:off x="640080" y="5276088"/>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30" name="Text 28"/>
          <p:cNvSpPr/>
          <p:nvPr/>
        </p:nvSpPr>
        <p:spPr>
          <a:xfrm>
            <a:off x="1371600" y="5166360"/>
            <a:ext cx="4114800" cy="320040"/>
          </a:xfrm>
          <a:prstGeom prst="rect">
            <a:avLst/>
          </a:prstGeom>
          <a:noFill/>
          <a:ln/>
        </p:spPr>
        <p:txBody>
          <a:bodyPr wrap="square" rtlCol="0" anchor="ctr"/>
          <a:lstStyle/>
          <a:p>
            <a:pPr marL="0" indent="0">
              <a:buNone/>
            </a:pPr>
            <a:r>
              <a:rPr lang="en-US" sz="1500" b="1" dirty="0">
                <a:solidFill>
                  <a:srgbClr val="1E293B"/>
                </a:solidFill>
                <a:latin typeface="Segoe UI" pitchFamily="34" charset="0"/>
                <a:ea typeface="Segoe UI" pitchFamily="34" charset="-122"/>
                <a:cs typeface="Segoe UI" pitchFamily="34" charset="-120"/>
              </a:rPr>
              <a:t>Add Additional Value</a:t>
            </a:r>
            <a:endParaRPr lang="en-US" sz="1500" dirty="0"/>
          </a:p>
        </p:txBody>
      </p:sp>
      <p:sp>
        <p:nvSpPr>
          <p:cNvPr id="31" name="Text 29"/>
          <p:cNvSpPr/>
          <p:nvPr/>
        </p:nvSpPr>
        <p:spPr>
          <a:xfrm>
            <a:off x="1371600" y="5532120"/>
            <a:ext cx="4114800" cy="320040"/>
          </a:xfrm>
          <a:prstGeom prst="rect">
            <a:avLst/>
          </a:prstGeom>
          <a:noFill/>
          <a:ln/>
        </p:spPr>
        <p:txBody>
          <a:bodyPr wrap="square" rtlCol="0" anchor="ctr"/>
          <a:lstStyle/>
          <a:p>
            <a:pPr marL="0" indent="0">
              <a:buNone/>
            </a:pPr>
            <a:r>
              <a:rPr lang="en-US" sz="1100" dirty="0">
                <a:solidFill>
                  <a:srgbClr val="475569"/>
                </a:solidFill>
                <a:latin typeface="Segoe UI" pitchFamily="34" charset="0"/>
                <a:ea typeface="Segoe UI" pitchFamily="34" charset="-122"/>
                <a:cs typeface="Segoe UI" pitchFamily="34" charset="-120"/>
              </a:rPr>
              <a:t>Introduce one more benefit they haven't heard yet.</a:t>
            </a:r>
            <a:endParaRPr lang="en-US" sz="1100" dirty="0"/>
          </a:p>
        </p:txBody>
      </p:sp>
      <p:sp>
        <p:nvSpPr>
          <p:cNvPr id="32" name="Text 30"/>
          <p:cNvSpPr/>
          <p:nvPr/>
        </p:nvSpPr>
        <p:spPr>
          <a:xfrm>
            <a:off x="5943600" y="5166360"/>
            <a:ext cx="5605272" cy="777240"/>
          </a:xfrm>
          <a:prstGeom prst="rect">
            <a:avLst/>
          </a:prstGeom>
          <a:noFill/>
          <a:ln/>
        </p:spPr>
        <p:txBody>
          <a:bodyPr wrap="square" rtlCol="0" anchor="ctr"/>
          <a:lstStyle/>
          <a:p>
            <a:pPr marL="0" indent="0">
              <a:lnSpc>
                <a:spcPts val="2000"/>
              </a:lnSpc>
              <a:buNone/>
            </a:pPr>
            <a:r>
              <a:rPr lang="en-US" sz="1200" i="1" dirty="0">
                <a:solidFill>
                  <a:srgbClr val="0C4A6E"/>
                </a:solidFill>
                <a:latin typeface="Segoe UI" pitchFamily="34" charset="0"/>
                <a:ea typeface="Segoe UI" pitchFamily="34" charset="-122"/>
                <a:cs typeface="Segoe UI" pitchFamily="34" charset="-120"/>
              </a:rPr>
              <a:t>"On top of that, this plan also includes [new benefit] which would help with [their situation]."</a:t>
            </a:r>
            <a:endParaRPr lang="en-US" sz="1200" dirty="0"/>
          </a:p>
        </p:txBody>
      </p:sp>
      <p:sp>
        <p:nvSpPr>
          <p:cNvPr id="33" name="Shape 31"/>
          <p:cNvSpPr/>
          <p:nvPr/>
        </p:nvSpPr>
        <p:spPr>
          <a:xfrm>
            <a:off x="457200" y="6263640"/>
            <a:ext cx="11274552" cy="457200"/>
          </a:xfrm>
          <a:prstGeom prst="roundRect">
            <a:avLst>
              <a:gd name="adj" fmla="val 16000"/>
            </a:avLst>
          </a:prstGeom>
          <a:solidFill>
            <a:srgbClr val="FEF2F2"/>
          </a:solidFill>
          <a:ln w="12700">
            <a:solidFill>
              <a:srgbClr val="FECACA"/>
            </a:solidFill>
            <a:prstDash val="solid"/>
          </a:ln>
        </p:spPr>
        <p:txBody>
          <a:bodyPr/>
          <a:lstStyle/>
          <a:p>
            <a:endParaRPr lang="en-US"/>
          </a:p>
        </p:txBody>
      </p:sp>
      <p:sp>
        <p:nvSpPr>
          <p:cNvPr id="34" name="Text 32"/>
          <p:cNvSpPr/>
          <p:nvPr/>
        </p:nvSpPr>
        <p:spPr>
          <a:xfrm>
            <a:off x="640080" y="6263640"/>
            <a:ext cx="10908792" cy="457200"/>
          </a:xfrm>
          <a:prstGeom prst="rect">
            <a:avLst/>
          </a:prstGeom>
          <a:noFill/>
          <a:ln/>
        </p:spPr>
        <p:txBody>
          <a:bodyPr wrap="square" rtlCol="0" anchor="ctr"/>
          <a:lstStyle/>
          <a:p>
            <a:pPr marL="0" indent="0">
              <a:buNone/>
            </a:pPr>
            <a:r>
              <a:rPr lang="en-US" sz="1100" dirty="0">
                <a:solidFill>
                  <a:srgbClr val="991B1B"/>
                </a:solidFill>
                <a:latin typeface="Segoe UI" pitchFamily="34" charset="0"/>
                <a:ea typeface="Segoe UI" pitchFamily="34" charset="-122"/>
                <a:cs typeface="Segoe UI" pitchFamily="34" charset="-120"/>
              </a:rPr>
              <a:t>Critical: Never speak negatively about competitors. "Our service is 99.9% reliable" is fine. "AT&amp;T is terrible" is a red flag (auto-fail on QA).</a:t>
            </a:r>
            <a:endParaRPr lang="en-US" sz="1100" dirty="0"/>
          </a:p>
        </p:txBody>
      </p:sp>
      <p:sp>
        <p:nvSpPr>
          <p:cNvPr id="35" name="Text 33"/>
          <p:cNvSpPr/>
          <p:nvPr/>
        </p:nvSpPr>
        <p:spPr>
          <a:xfrm>
            <a:off x="0" y="6537960"/>
            <a:ext cx="12188952" cy="274320"/>
          </a:xfrm>
          <a:prstGeom prst="rect">
            <a:avLst/>
          </a:prstGeom>
          <a:noFill/>
          <a:ln/>
        </p:spPr>
        <p:txBody>
          <a:bodyPr wrap="square" rtlCol="0" anchor="ctr"/>
          <a:lstStyle/>
          <a:p>
            <a:pPr marL="0" indent="0" algn="ctr">
              <a:buNone/>
            </a:pPr>
            <a:r>
              <a:rPr lang="en-US" sz="800" dirty="0">
                <a:solidFill>
                  <a:srgbClr val="64748B"/>
                </a:solidFill>
                <a:latin typeface="Segoe UI" pitchFamily="34" charset="0"/>
                <a:ea typeface="Segoe UI" pitchFamily="34" charset="-122"/>
                <a:cs typeface="Segoe UI" pitchFamily="34" charset="-120"/>
              </a:rPr>
              <a:t>Catalyst Coaching Bootcamp  |  DR Site  |  Day 4 of 5  |  March 2026</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E67E22"/>
          </a:solidFill>
          <a:ln/>
        </p:spPr>
        <p:txBody>
          <a:bodyPr/>
          <a:lstStyle/>
          <a:p>
            <a:endParaRPr lang="en-US"/>
          </a:p>
        </p:txBody>
      </p:sp>
      <p:sp>
        <p:nvSpPr>
          <p:cNvPr id="3" name="Shape 1"/>
          <p:cNvSpPr/>
          <p:nvPr/>
        </p:nvSpPr>
        <p:spPr>
          <a:xfrm>
            <a:off x="0" y="0"/>
            <a:ext cx="12188952" cy="1051560"/>
          </a:xfrm>
          <a:prstGeom prst="rect">
            <a:avLst/>
          </a:prstGeom>
          <a:solidFill>
            <a:srgbClr val="C2410C">
              <a:alpha val="40000"/>
            </a:srgbClr>
          </a:solidFill>
          <a:ln/>
        </p:spPr>
        <p:txBody>
          <a:bodyPr/>
          <a:lstStyle/>
          <a:p>
            <a:endParaRPr lang="en-US"/>
          </a:p>
        </p:txBody>
      </p:sp>
      <p:sp>
        <p:nvSpPr>
          <p:cNvPr id="4" name="Text 2"/>
          <p:cNvSpPr/>
          <p:nvPr/>
        </p:nvSpPr>
        <p:spPr>
          <a:xfrm>
            <a:off x="457200" y="137160"/>
            <a:ext cx="9445752" cy="457200"/>
          </a:xfrm>
          <a:prstGeom prst="rect">
            <a:avLst/>
          </a:prstGeom>
          <a:noFill/>
          <a:ln/>
        </p:spPr>
        <p:txBody>
          <a:bodyPr wrap="square" rtlCol="0" anchor="ctr"/>
          <a:lstStyle/>
          <a:p>
            <a:pPr marL="0" indent="0">
              <a:buNone/>
            </a:pPr>
            <a:r>
              <a:rPr lang="en-US" sz="2800" b="1" dirty="0">
                <a:solidFill>
                  <a:srgbClr val="FFFFFF"/>
                </a:solidFill>
                <a:latin typeface="Segoe UI" pitchFamily="34" charset="0"/>
                <a:ea typeface="Segoe UI" pitchFamily="34" charset="-122"/>
                <a:cs typeface="Segoe UI" pitchFamily="34" charset="-120"/>
              </a:rPr>
              <a:t>Objections &amp; Overcoming Them</a:t>
            </a:r>
            <a:endParaRPr lang="en-US" sz="2800" dirty="0"/>
          </a:p>
        </p:txBody>
      </p:sp>
      <p:sp>
        <p:nvSpPr>
          <p:cNvPr id="5" name="Text 3"/>
          <p:cNvSpPr/>
          <p:nvPr/>
        </p:nvSpPr>
        <p:spPr>
          <a:xfrm>
            <a:off x="457200" y="594360"/>
            <a:ext cx="9445752" cy="274320"/>
          </a:xfrm>
          <a:prstGeom prst="rect">
            <a:avLst/>
          </a:prstGeom>
          <a:noFill/>
          <a:ln/>
        </p:spPr>
        <p:txBody>
          <a:bodyPr wrap="square" rtlCol="0" anchor="ctr"/>
          <a:lstStyle/>
          <a:p>
            <a:pPr marL="0" indent="0">
              <a:buNone/>
            </a:pPr>
            <a:r>
              <a:rPr lang="en-US" sz="1400" i="1" dirty="0">
                <a:solidFill>
                  <a:srgbClr val="FFFFFF">
                    <a:alpha val="85000"/>
                  </a:srgbClr>
                </a:solidFill>
                <a:latin typeface="Segoe UI" pitchFamily="34" charset="0"/>
                <a:ea typeface="Segoe UI" pitchFamily="34" charset="-122"/>
                <a:cs typeface="Segoe UI" pitchFamily="34" charset="-120"/>
              </a:rPr>
              <a:t>Common Objections &amp; Responses</a:t>
            </a:r>
            <a:endParaRPr lang="en-US" sz="1400" dirty="0"/>
          </a:p>
        </p:txBody>
      </p:sp>
      <p:sp>
        <p:nvSpPr>
          <p:cNvPr id="6" name="Shape 4"/>
          <p:cNvSpPr/>
          <p:nvPr/>
        </p:nvSpPr>
        <p:spPr>
          <a:xfrm>
            <a:off x="10543032" y="182880"/>
            <a:ext cx="1188720" cy="685800"/>
          </a:xfrm>
          <a:prstGeom prst="roundRect">
            <a:avLst>
              <a:gd name="adj" fmla="val 13333"/>
            </a:avLst>
          </a:prstGeom>
          <a:solidFill>
            <a:srgbClr val="FFFFFF">
              <a:alpha val="20000"/>
            </a:srgbClr>
          </a:solidFill>
          <a:ln/>
        </p:spPr>
        <p:txBody>
          <a:bodyPr/>
          <a:lstStyle/>
          <a:p>
            <a:endParaRPr lang="en-US"/>
          </a:p>
        </p:txBody>
      </p:sp>
      <p:sp>
        <p:nvSpPr>
          <p:cNvPr id="7" name="Text 5"/>
          <p:cNvSpPr/>
          <p:nvPr/>
        </p:nvSpPr>
        <p:spPr>
          <a:xfrm>
            <a:off x="10543032" y="182880"/>
            <a:ext cx="1188720" cy="68580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Day 4</a:t>
            </a:r>
            <a:endParaRPr lang="en-US" sz="2000" dirty="0"/>
          </a:p>
        </p:txBody>
      </p:sp>
      <p:sp>
        <p:nvSpPr>
          <p:cNvPr id="8" name="Shape 6"/>
          <p:cNvSpPr/>
          <p:nvPr/>
        </p:nvSpPr>
        <p:spPr>
          <a:xfrm>
            <a:off x="457200" y="1280160"/>
            <a:ext cx="11274552" cy="1143000"/>
          </a:xfrm>
          <a:prstGeom prst="roundRect">
            <a:avLst>
              <a:gd name="adj" fmla="val 8000"/>
            </a:avLst>
          </a:prstGeom>
          <a:solidFill>
            <a:srgbClr val="FFF7ED"/>
          </a:solidFill>
          <a:ln w="6350">
            <a:solidFill>
              <a:srgbClr val="E2E8F0"/>
            </a:solidFill>
            <a:prstDash val="solid"/>
          </a:ln>
        </p:spPr>
        <p:txBody>
          <a:bodyPr/>
          <a:lstStyle/>
          <a:p>
            <a:endParaRPr lang="en-US"/>
          </a:p>
        </p:txBody>
      </p:sp>
      <p:sp>
        <p:nvSpPr>
          <p:cNvPr id="9" name="Text 7"/>
          <p:cNvSpPr/>
          <p:nvPr/>
        </p:nvSpPr>
        <p:spPr>
          <a:xfrm>
            <a:off x="640080" y="1325880"/>
            <a:ext cx="2743200" cy="1051560"/>
          </a:xfrm>
          <a:prstGeom prst="rect">
            <a:avLst/>
          </a:prstGeom>
          <a:noFill/>
          <a:ln/>
        </p:spPr>
        <p:txBody>
          <a:bodyPr wrap="square" rtlCol="0" anchor="ctr"/>
          <a:lstStyle/>
          <a:p>
            <a:pPr marL="0" indent="0">
              <a:buNone/>
            </a:pPr>
            <a:r>
              <a:rPr lang="en-US" sz="1500" b="1" dirty="0">
                <a:solidFill>
                  <a:srgbClr val="E67E22"/>
                </a:solidFill>
                <a:latin typeface="Segoe UI" pitchFamily="34" charset="0"/>
                <a:ea typeface="Segoe UI" pitchFamily="34" charset="-122"/>
                <a:cs typeface="Segoe UI" pitchFamily="34" charset="-120"/>
              </a:rPr>
              <a:t>"I need to think about it"</a:t>
            </a:r>
            <a:endParaRPr lang="en-US" sz="1500" dirty="0"/>
          </a:p>
        </p:txBody>
      </p:sp>
      <p:sp>
        <p:nvSpPr>
          <p:cNvPr id="10" name="Text 8"/>
          <p:cNvSpPr/>
          <p:nvPr/>
        </p:nvSpPr>
        <p:spPr>
          <a:xfrm>
            <a:off x="3383280" y="1371600"/>
            <a:ext cx="4114800" cy="411480"/>
          </a:xfrm>
          <a:prstGeom prst="rect">
            <a:avLst/>
          </a:prstGeom>
          <a:noFill/>
          <a:ln/>
        </p:spPr>
        <p:txBody>
          <a:bodyPr wrap="square" rtlCol="0" anchor="ctr"/>
          <a:lstStyle/>
          <a:p>
            <a:pPr marL="0" indent="0">
              <a:buNone/>
            </a:pPr>
            <a:r>
              <a:rPr lang="en-US" sz="1100" dirty="0">
                <a:solidFill>
                  <a:srgbClr val="1E293B"/>
                </a:solidFill>
                <a:latin typeface="Segoe UI" pitchFamily="34" charset="0"/>
                <a:ea typeface="Segoe UI" pitchFamily="34" charset="-122"/>
                <a:cs typeface="Segoe UI" pitchFamily="34" charset="-120"/>
              </a:rPr>
              <a:t>"Absolutely. What part are you thinking over?"</a:t>
            </a:r>
            <a:endParaRPr lang="en-US" sz="1100" dirty="0"/>
          </a:p>
        </p:txBody>
      </p:sp>
      <p:sp>
        <p:nvSpPr>
          <p:cNvPr id="11" name="Text 9"/>
          <p:cNvSpPr/>
          <p:nvPr/>
        </p:nvSpPr>
        <p:spPr>
          <a:xfrm>
            <a:off x="3383280" y="1783080"/>
            <a:ext cx="7982712" cy="548640"/>
          </a:xfrm>
          <a:prstGeom prst="rect">
            <a:avLst/>
          </a:prstGeom>
          <a:noFill/>
          <a:ln/>
        </p:spPr>
        <p:txBody>
          <a:bodyPr wrap="square" rtlCol="0" anchor="t"/>
          <a:lstStyle/>
          <a:p>
            <a:pPr marL="0" indent="0">
              <a:lnSpc>
                <a:spcPts val="1800"/>
              </a:lnSpc>
              <a:buNone/>
            </a:pPr>
            <a:r>
              <a:rPr lang="en-US" sz="1100" i="1" dirty="0">
                <a:solidFill>
                  <a:srgbClr val="475569"/>
                </a:solidFill>
                <a:latin typeface="Segoe UI" pitchFamily="34" charset="0"/>
                <a:ea typeface="Segoe UI" pitchFamily="34" charset="-122"/>
                <a:cs typeface="Segoe UI" pitchFamily="34" charset="-120"/>
              </a:rPr>
              <a:t>If price: Reframe value per day. "$60/mo is $2/day for your whole household to have reliable WiFi and a phone line included."</a:t>
            </a:r>
            <a:endParaRPr lang="en-US" sz="1100" dirty="0"/>
          </a:p>
        </p:txBody>
      </p:sp>
      <p:sp>
        <p:nvSpPr>
          <p:cNvPr id="12" name="Shape 10"/>
          <p:cNvSpPr/>
          <p:nvPr/>
        </p:nvSpPr>
        <p:spPr>
          <a:xfrm>
            <a:off x="457200" y="2560320"/>
            <a:ext cx="11274552" cy="1143000"/>
          </a:xfrm>
          <a:prstGeom prst="roundRect">
            <a:avLst>
              <a:gd name="adj" fmla="val 8000"/>
            </a:avLst>
          </a:prstGeom>
          <a:solidFill>
            <a:srgbClr val="F8FAFC"/>
          </a:solidFill>
          <a:ln w="6350">
            <a:solidFill>
              <a:srgbClr val="E2E8F0"/>
            </a:solidFill>
            <a:prstDash val="solid"/>
          </a:ln>
        </p:spPr>
        <p:txBody>
          <a:bodyPr/>
          <a:lstStyle/>
          <a:p>
            <a:endParaRPr lang="en-US"/>
          </a:p>
        </p:txBody>
      </p:sp>
      <p:sp>
        <p:nvSpPr>
          <p:cNvPr id="13" name="Text 11"/>
          <p:cNvSpPr/>
          <p:nvPr/>
        </p:nvSpPr>
        <p:spPr>
          <a:xfrm>
            <a:off x="640080" y="2606040"/>
            <a:ext cx="2743200" cy="1051560"/>
          </a:xfrm>
          <a:prstGeom prst="rect">
            <a:avLst/>
          </a:prstGeom>
          <a:noFill/>
          <a:ln/>
        </p:spPr>
        <p:txBody>
          <a:bodyPr wrap="square" rtlCol="0" anchor="ctr"/>
          <a:lstStyle/>
          <a:p>
            <a:pPr marL="0" indent="0">
              <a:buNone/>
            </a:pPr>
            <a:r>
              <a:rPr lang="en-US" sz="1500" b="1" dirty="0">
                <a:solidFill>
                  <a:srgbClr val="E67E22"/>
                </a:solidFill>
                <a:latin typeface="Segoe UI" pitchFamily="34" charset="0"/>
                <a:ea typeface="Segoe UI" pitchFamily="34" charset="-122"/>
                <a:cs typeface="Segoe UI" pitchFamily="34" charset="-120"/>
              </a:rPr>
              <a:t>"Too expensive"</a:t>
            </a:r>
            <a:endParaRPr lang="en-US" sz="1500" dirty="0"/>
          </a:p>
        </p:txBody>
      </p:sp>
      <p:sp>
        <p:nvSpPr>
          <p:cNvPr id="14" name="Text 12"/>
          <p:cNvSpPr/>
          <p:nvPr/>
        </p:nvSpPr>
        <p:spPr>
          <a:xfrm>
            <a:off x="3383280" y="2651760"/>
            <a:ext cx="4114800" cy="411480"/>
          </a:xfrm>
          <a:prstGeom prst="rect">
            <a:avLst/>
          </a:prstGeom>
          <a:noFill/>
          <a:ln/>
        </p:spPr>
        <p:txBody>
          <a:bodyPr wrap="square" rtlCol="0" anchor="ctr"/>
          <a:lstStyle/>
          <a:p>
            <a:pPr marL="0" indent="0">
              <a:buNone/>
            </a:pPr>
            <a:r>
              <a:rPr lang="en-US" sz="1100" dirty="0">
                <a:solidFill>
                  <a:srgbClr val="1E293B"/>
                </a:solidFill>
                <a:latin typeface="Segoe UI" pitchFamily="34" charset="0"/>
                <a:ea typeface="Segoe UI" pitchFamily="34" charset="-122"/>
                <a:cs typeface="Segoe UI" pitchFamily="34" charset="-120"/>
              </a:rPr>
              <a:t>"I completely understand budget is important."</a:t>
            </a:r>
            <a:endParaRPr lang="en-US" sz="1100" dirty="0"/>
          </a:p>
        </p:txBody>
      </p:sp>
      <p:sp>
        <p:nvSpPr>
          <p:cNvPr id="15" name="Text 13"/>
          <p:cNvSpPr/>
          <p:nvPr/>
        </p:nvSpPr>
        <p:spPr>
          <a:xfrm>
            <a:off x="3383280" y="3063240"/>
            <a:ext cx="7982712" cy="548640"/>
          </a:xfrm>
          <a:prstGeom prst="rect">
            <a:avLst/>
          </a:prstGeom>
          <a:noFill/>
          <a:ln/>
        </p:spPr>
        <p:txBody>
          <a:bodyPr wrap="square" rtlCol="0" anchor="t"/>
          <a:lstStyle/>
          <a:p>
            <a:pPr marL="0" indent="0">
              <a:lnSpc>
                <a:spcPts val="1800"/>
              </a:lnSpc>
              <a:buNone/>
            </a:pPr>
            <a:r>
              <a:rPr lang="en-US" sz="1100" i="1" dirty="0">
                <a:solidFill>
                  <a:srgbClr val="475569"/>
                </a:solidFill>
                <a:latin typeface="Segoe UI" pitchFamily="34" charset="0"/>
                <a:ea typeface="Segoe UI" pitchFamily="34" charset="-122"/>
                <a:cs typeface="Segoe UI" pitchFamily="34" charset="-120"/>
              </a:rPr>
              <a:t>"You mentioned you're paying $80 now. This actually saves you $20/month, and you're getting a phone line included that's worth another $40."</a:t>
            </a:r>
            <a:endParaRPr lang="en-US" sz="1100" dirty="0"/>
          </a:p>
        </p:txBody>
      </p:sp>
      <p:sp>
        <p:nvSpPr>
          <p:cNvPr id="16" name="Shape 14"/>
          <p:cNvSpPr/>
          <p:nvPr/>
        </p:nvSpPr>
        <p:spPr>
          <a:xfrm>
            <a:off x="457200" y="3840480"/>
            <a:ext cx="11274552" cy="1143000"/>
          </a:xfrm>
          <a:prstGeom prst="roundRect">
            <a:avLst>
              <a:gd name="adj" fmla="val 8000"/>
            </a:avLst>
          </a:prstGeom>
          <a:solidFill>
            <a:srgbClr val="FFF7ED"/>
          </a:solidFill>
          <a:ln w="6350">
            <a:solidFill>
              <a:srgbClr val="E2E8F0"/>
            </a:solidFill>
            <a:prstDash val="solid"/>
          </a:ln>
        </p:spPr>
        <p:txBody>
          <a:bodyPr/>
          <a:lstStyle/>
          <a:p>
            <a:endParaRPr lang="en-US"/>
          </a:p>
        </p:txBody>
      </p:sp>
      <p:sp>
        <p:nvSpPr>
          <p:cNvPr id="17" name="Text 15"/>
          <p:cNvSpPr/>
          <p:nvPr/>
        </p:nvSpPr>
        <p:spPr>
          <a:xfrm>
            <a:off x="640080" y="3886200"/>
            <a:ext cx="2743200" cy="1051560"/>
          </a:xfrm>
          <a:prstGeom prst="rect">
            <a:avLst/>
          </a:prstGeom>
          <a:noFill/>
          <a:ln/>
        </p:spPr>
        <p:txBody>
          <a:bodyPr wrap="square" rtlCol="0" anchor="ctr"/>
          <a:lstStyle/>
          <a:p>
            <a:pPr marL="0" indent="0">
              <a:buNone/>
            </a:pPr>
            <a:r>
              <a:rPr lang="en-US" sz="1500" b="1" dirty="0">
                <a:solidFill>
                  <a:srgbClr val="E67E22"/>
                </a:solidFill>
                <a:latin typeface="Segoe UI" pitchFamily="34" charset="0"/>
                <a:ea typeface="Segoe UI" pitchFamily="34" charset="-122"/>
                <a:cs typeface="Segoe UI" pitchFamily="34" charset="-120"/>
              </a:rPr>
              <a:t>"I'm under contract"</a:t>
            </a:r>
            <a:endParaRPr lang="en-US" sz="1500" dirty="0"/>
          </a:p>
        </p:txBody>
      </p:sp>
      <p:sp>
        <p:nvSpPr>
          <p:cNvPr id="18" name="Text 16"/>
          <p:cNvSpPr/>
          <p:nvPr/>
        </p:nvSpPr>
        <p:spPr>
          <a:xfrm>
            <a:off x="3383280" y="3931920"/>
            <a:ext cx="4114800" cy="411480"/>
          </a:xfrm>
          <a:prstGeom prst="rect">
            <a:avLst/>
          </a:prstGeom>
          <a:noFill/>
          <a:ln/>
        </p:spPr>
        <p:txBody>
          <a:bodyPr wrap="square" rtlCol="0" anchor="ctr"/>
          <a:lstStyle/>
          <a:p>
            <a:pPr marL="0" indent="0">
              <a:buNone/>
            </a:pPr>
            <a:r>
              <a:rPr lang="en-US" sz="1100" dirty="0">
                <a:solidFill>
                  <a:srgbClr val="1E293B"/>
                </a:solidFill>
                <a:latin typeface="Segoe UI" pitchFamily="34" charset="0"/>
                <a:ea typeface="Segoe UI" pitchFamily="34" charset="-122"/>
                <a:cs typeface="Segoe UI" pitchFamily="34" charset="-120"/>
              </a:rPr>
              <a:t>"When does your current contract end?"</a:t>
            </a:r>
            <a:endParaRPr lang="en-US" sz="1100" dirty="0"/>
          </a:p>
        </p:txBody>
      </p:sp>
      <p:sp>
        <p:nvSpPr>
          <p:cNvPr id="19" name="Text 17"/>
          <p:cNvSpPr/>
          <p:nvPr/>
        </p:nvSpPr>
        <p:spPr>
          <a:xfrm>
            <a:off x="3383280" y="4343400"/>
            <a:ext cx="7982712" cy="548640"/>
          </a:xfrm>
          <a:prstGeom prst="rect">
            <a:avLst/>
          </a:prstGeom>
          <a:noFill/>
          <a:ln/>
        </p:spPr>
        <p:txBody>
          <a:bodyPr wrap="square" rtlCol="0" anchor="t"/>
          <a:lstStyle/>
          <a:p>
            <a:pPr marL="0" indent="0">
              <a:lnSpc>
                <a:spcPts val="1800"/>
              </a:lnSpc>
              <a:buNone/>
            </a:pPr>
            <a:r>
              <a:rPr lang="en-US" sz="1100" i="1" dirty="0">
                <a:solidFill>
                  <a:srgbClr val="475569"/>
                </a:solidFill>
                <a:latin typeface="Segoe UI" pitchFamily="34" charset="0"/>
                <a:ea typeface="Segoe UI" pitchFamily="34" charset="-122"/>
                <a:cs typeface="Segoe UI" pitchFamily="34" charset="-120"/>
              </a:rPr>
              <a:t>"Even with an early termination fee, the savings over 12 months often exceed the fee. Let me show you the math."</a:t>
            </a:r>
            <a:endParaRPr lang="en-US" sz="1100" dirty="0"/>
          </a:p>
        </p:txBody>
      </p:sp>
      <p:sp>
        <p:nvSpPr>
          <p:cNvPr id="20" name="Shape 18"/>
          <p:cNvSpPr/>
          <p:nvPr/>
        </p:nvSpPr>
        <p:spPr>
          <a:xfrm>
            <a:off x="457200" y="5120640"/>
            <a:ext cx="11274552" cy="1143000"/>
          </a:xfrm>
          <a:prstGeom prst="roundRect">
            <a:avLst>
              <a:gd name="adj" fmla="val 8000"/>
            </a:avLst>
          </a:prstGeom>
          <a:solidFill>
            <a:srgbClr val="F8FAFC"/>
          </a:solidFill>
          <a:ln w="6350">
            <a:solidFill>
              <a:srgbClr val="E2E8F0"/>
            </a:solidFill>
            <a:prstDash val="solid"/>
          </a:ln>
        </p:spPr>
        <p:txBody>
          <a:bodyPr/>
          <a:lstStyle/>
          <a:p>
            <a:endParaRPr lang="en-US"/>
          </a:p>
        </p:txBody>
      </p:sp>
      <p:sp>
        <p:nvSpPr>
          <p:cNvPr id="21" name="Text 19"/>
          <p:cNvSpPr/>
          <p:nvPr/>
        </p:nvSpPr>
        <p:spPr>
          <a:xfrm>
            <a:off x="640080" y="5166360"/>
            <a:ext cx="2743200" cy="1051560"/>
          </a:xfrm>
          <a:prstGeom prst="rect">
            <a:avLst/>
          </a:prstGeom>
          <a:noFill/>
          <a:ln/>
        </p:spPr>
        <p:txBody>
          <a:bodyPr wrap="square" rtlCol="0" anchor="ctr"/>
          <a:lstStyle/>
          <a:p>
            <a:pPr marL="0" indent="0">
              <a:buNone/>
            </a:pPr>
            <a:r>
              <a:rPr lang="en-US" sz="1500" b="1" dirty="0">
                <a:solidFill>
                  <a:srgbClr val="E67E22"/>
                </a:solidFill>
                <a:latin typeface="Segoe UI" pitchFamily="34" charset="0"/>
                <a:ea typeface="Segoe UI" pitchFamily="34" charset="-122"/>
                <a:cs typeface="Segoe UI" pitchFamily="34" charset="-120"/>
              </a:rPr>
              <a:t>"Not interested"</a:t>
            </a:r>
            <a:endParaRPr lang="en-US" sz="1500" dirty="0"/>
          </a:p>
        </p:txBody>
      </p:sp>
      <p:sp>
        <p:nvSpPr>
          <p:cNvPr id="22" name="Text 20"/>
          <p:cNvSpPr/>
          <p:nvPr/>
        </p:nvSpPr>
        <p:spPr>
          <a:xfrm>
            <a:off x="3383280" y="5212080"/>
            <a:ext cx="4114800" cy="411480"/>
          </a:xfrm>
          <a:prstGeom prst="rect">
            <a:avLst/>
          </a:prstGeom>
          <a:noFill/>
          <a:ln/>
        </p:spPr>
        <p:txBody>
          <a:bodyPr wrap="square" rtlCol="0" anchor="ctr"/>
          <a:lstStyle/>
          <a:p>
            <a:pPr marL="0" indent="0">
              <a:buNone/>
            </a:pPr>
            <a:r>
              <a:rPr lang="en-US" sz="1100" dirty="0">
                <a:solidFill>
                  <a:srgbClr val="1E293B"/>
                </a:solidFill>
                <a:latin typeface="Segoe UI" pitchFamily="34" charset="0"/>
                <a:ea typeface="Segoe UI" pitchFamily="34" charset="-122"/>
                <a:cs typeface="Segoe UI" pitchFamily="34" charset="-120"/>
              </a:rPr>
              <a:t>"Is it the product itself, or is this just not a good time?"</a:t>
            </a:r>
            <a:endParaRPr lang="en-US" sz="1100" dirty="0"/>
          </a:p>
        </p:txBody>
      </p:sp>
      <p:sp>
        <p:nvSpPr>
          <p:cNvPr id="23" name="Text 21"/>
          <p:cNvSpPr/>
          <p:nvPr/>
        </p:nvSpPr>
        <p:spPr>
          <a:xfrm>
            <a:off x="3383280" y="5623560"/>
            <a:ext cx="7982712" cy="548640"/>
          </a:xfrm>
          <a:prstGeom prst="rect">
            <a:avLst/>
          </a:prstGeom>
          <a:noFill/>
          <a:ln/>
        </p:spPr>
        <p:txBody>
          <a:bodyPr wrap="square" rtlCol="0" anchor="t"/>
          <a:lstStyle/>
          <a:p>
            <a:pPr marL="0" indent="0">
              <a:lnSpc>
                <a:spcPts val="1800"/>
              </a:lnSpc>
              <a:buNone/>
            </a:pPr>
            <a:r>
              <a:rPr lang="en-US" sz="1100" i="1" dirty="0">
                <a:solidFill>
                  <a:srgbClr val="475569"/>
                </a:solidFill>
                <a:latin typeface="Segoe UI" pitchFamily="34" charset="0"/>
                <a:ea typeface="Segoe UI" pitchFamily="34" charset="-122"/>
                <a:cs typeface="Segoe UI" pitchFamily="34" charset="-120"/>
              </a:rPr>
              <a:t>If timing: Respect it, but plant the seed with one benefit they'll remember when they're ready.</a:t>
            </a:r>
            <a:endParaRPr lang="en-US" sz="1100" dirty="0"/>
          </a:p>
        </p:txBody>
      </p:sp>
      <p:sp>
        <p:nvSpPr>
          <p:cNvPr id="24" name="Shape 22"/>
          <p:cNvSpPr/>
          <p:nvPr/>
        </p:nvSpPr>
        <p:spPr>
          <a:xfrm>
            <a:off x="457200" y="6400800"/>
            <a:ext cx="11274552" cy="73152"/>
          </a:xfrm>
          <a:prstGeom prst="roundRect">
            <a:avLst/>
          </a:prstGeom>
          <a:solidFill>
            <a:srgbClr val="F59E0B"/>
          </a:solidFill>
          <a:ln/>
        </p:spPr>
        <p:txBody>
          <a:bodyPr/>
          <a:lstStyle/>
          <a:p>
            <a:endParaRPr lang="en-US"/>
          </a:p>
        </p:txBody>
      </p:sp>
      <p:sp>
        <p:nvSpPr>
          <p:cNvPr id="25" name="Text 23"/>
          <p:cNvSpPr/>
          <p:nvPr/>
        </p:nvSpPr>
        <p:spPr>
          <a:xfrm>
            <a:off x="457200" y="6080760"/>
            <a:ext cx="11274552" cy="274320"/>
          </a:xfrm>
          <a:prstGeom prst="rect">
            <a:avLst/>
          </a:prstGeom>
          <a:noFill/>
          <a:ln/>
        </p:spPr>
        <p:txBody>
          <a:bodyPr wrap="square" rtlCol="0" anchor="ctr"/>
          <a:lstStyle/>
          <a:p>
            <a:pPr marL="0" indent="0" algn="ctr">
              <a:buNone/>
            </a:pPr>
            <a:r>
              <a:rPr lang="en-US" sz="1300" b="1" dirty="0">
                <a:solidFill>
                  <a:srgbClr val="E67E22"/>
                </a:solidFill>
                <a:latin typeface="Segoe UI" pitchFamily="34" charset="0"/>
                <a:ea typeface="Segoe UI" pitchFamily="34" charset="-122"/>
                <a:cs typeface="Segoe UI" pitchFamily="34" charset="-120"/>
              </a:rPr>
              <a:t>Always re-close after overcoming. Don't leave the sale hanging. Ask again with confidence.</a:t>
            </a:r>
            <a:endParaRPr lang="en-US" sz="1300" dirty="0"/>
          </a:p>
        </p:txBody>
      </p:sp>
      <p:sp>
        <p:nvSpPr>
          <p:cNvPr id="26" name="Text 24"/>
          <p:cNvSpPr/>
          <p:nvPr/>
        </p:nvSpPr>
        <p:spPr>
          <a:xfrm>
            <a:off x="0" y="6537960"/>
            <a:ext cx="12188952" cy="274320"/>
          </a:xfrm>
          <a:prstGeom prst="rect">
            <a:avLst/>
          </a:prstGeom>
          <a:noFill/>
          <a:ln/>
        </p:spPr>
        <p:txBody>
          <a:bodyPr wrap="square" rtlCol="0" anchor="ctr"/>
          <a:lstStyle/>
          <a:p>
            <a:pPr marL="0" indent="0" algn="ctr">
              <a:buNone/>
            </a:pPr>
            <a:r>
              <a:rPr lang="en-US" sz="800" dirty="0">
                <a:solidFill>
                  <a:srgbClr val="64748B"/>
                </a:solidFill>
                <a:latin typeface="Segoe UI" pitchFamily="34" charset="0"/>
                <a:ea typeface="Segoe UI" pitchFamily="34" charset="-122"/>
                <a:cs typeface="Segoe UI" pitchFamily="34" charset="-120"/>
              </a:rPr>
              <a:t>Catalyst Coaching Bootcamp  |  DR Site  |  Day 4 of 5  |  March 2026</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59669"/>
          </a:solidFill>
          <a:ln/>
        </p:spPr>
        <p:txBody>
          <a:bodyPr/>
          <a:lstStyle/>
          <a:p>
            <a:endParaRPr lang="en-US"/>
          </a:p>
        </p:txBody>
      </p:sp>
      <p:sp>
        <p:nvSpPr>
          <p:cNvPr id="3" name="Shape 1"/>
          <p:cNvSpPr/>
          <p:nvPr/>
        </p:nvSpPr>
        <p:spPr>
          <a:xfrm>
            <a:off x="0" y="0"/>
            <a:ext cx="12188952" cy="1051560"/>
          </a:xfrm>
          <a:prstGeom prst="rect">
            <a:avLst/>
          </a:prstGeom>
          <a:solidFill>
            <a:srgbClr val="047857">
              <a:alpha val="40000"/>
            </a:srgbClr>
          </a:solidFill>
          <a:ln/>
        </p:spPr>
        <p:txBody>
          <a:bodyPr/>
          <a:lstStyle/>
          <a:p>
            <a:endParaRPr lang="en-US"/>
          </a:p>
        </p:txBody>
      </p:sp>
      <p:sp>
        <p:nvSpPr>
          <p:cNvPr id="4" name="Text 2"/>
          <p:cNvSpPr/>
          <p:nvPr/>
        </p:nvSpPr>
        <p:spPr>
          <a:xfrm>
            <a:off x="457200" y="137160"/>
            <a:ext cx="9445752" cy="457200"/>
          </a:xfrm>
          <a:prstGeom prst="rect">
            <a:avLst/>
          </a:prstGeom>
          <a:noFill/>
          <a:ln/>
        </p:spPr>
        <p:txBody>
          <a:bodyPr wrap="square" rtlCol="0" anchor="ctr"/>
          <a:lstStyle/>
          <a:p>
            <a:pPr marL="0" indent="0">
              <a:buNone/>
            </a:pPr>
            <a:r>
              <a:rPr lang="en-US" sz="2800" b="1" dirty="0">
                <a:solidFill>
                  <a:srgbClr val="FFFFFF"/>
                </a:solidFill>
                <a:latin typeface="Segoe UI" pitchFamily="34" charset="0"/>
                <a:ea typeface="Segoe UI" pitchFamily="34" charset="-122"/>
                <a:cs typeface="Segoe UI" pitchFamily="34" charset="-120"/>
              </a:rPr>
              <a:t>Putting It All Together</a:t>
            </a:r>
            <a:endParaRPr lang="en-US" sz="2800" dirty="0"/>
          </a:p>
        </p:txBody>
      </p:sp>
      <p:sp>
        <p:nvSpPr>
          <p:cNvPr id="5" name="Text 3"/>
          <p:cNvSpPr/>
          <p:nvPr/>
        </p:nvSpPr>
        <p:spPr>
          <a:xfrm>
            <a:off x="457200" y="594360"/>
            <a:ext cx="9445752" cy="274320"/>
          </a:xfrm>
          <a:prstGeom prst="rect">
            <a:avLst/>
          </a:prstGeom>
          <a:noFill/>
          <a:ln/>
        </p:spPr>
        <p:txBody>
          <a:bodyPr wrap="square" rtlCol="0" anchor="ctr"/>
          <a:lstStyle/>
          <a:p>
            <a:pPr marL="0" indent="0">
              <a:buNone/>
            </a:pPr>
            <a:r>
              <a:rPr lang="en-US" sz="1400" i="1" dirty="0">
                <a:solidFill>
                  <a:srgbClr val="FFFFFF">
                    <a:alpha val="85000"/>
                  </a:srgbClr>
                </a:solidFill>
                <a:latin typeface="Segoe UI" pitchFamily="34" charset="0"/>
                <a:ea typeface="Segoe UI" pitchFamily="34" charset="-122"/>
                <a:cs typeface="Segoe UI" pitchFamily="34" charset="-120"/>
              </a:rPr>
              <a:t>Full Call Flow Mastery</a:t>
            </a:r>
            <a:endParaRPr lang="en-US" sz="1400" dirty="0"/>
          </a:p>
        </p:txBody>
      </p:sp>
      <p:sp>
        <p:nvSpPr>
          <p:cNvPr id="6" name="Shape 4"/>
          <p:cNvSpPr/>
          <p:nvPr/>
        </p:nvSpPr>
        <p:spPr>
          <a:xfrm>
            <a:off x="10543032" y="182880"/>
            <a:ext cx="1188720" cy="685800"/>
          </a:xfrm>
          <a:prstGeom prst="roundRect">
            <a:avLst>
              <a:gd name="adj" fmla="val 13333"/>
            </a:avLst>
          </a:prstGeom>
          <a:solidFill>
            <a:srgbClr val="FFFFFF">
              <a:alpha val="20000"/>
            </a:srgbClr>
          </a:solidFill>
          <a:ln/>
        </p:spPr>
        <p:txBody>
          <a:bodyPr/>
          <a:lstStyle/>
          <a:p>
            <a:endParaRPr lang="en-US"/>
          </a:p>
        </p:txBody>
      </p:sp>
      <p:sp>
        <p:nvSpPr>
          <p:cNvPr id="7" name="Text 5"/>
          <p:cNvSpPr/>
          <p:nvPr/>
        </p:nvSpPr>
        <p:spPr>
          <a:xfrm>
            <a:off x="10543032" y="182880"/>
            <a:ext cx="1188720" cy="68580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Day 5</a:t>
            </a:r>
            <a:endParaRPr lang="en-US" sz="2000" dirty="0"/>
          </a:p>
        </p:txBody>
      </p:sp>
      <p:sp>
        <p:nvSpPr>
          <p:cNvPr id="8" name="Shape 6"/>
          <p:cNvSpPr/>
          <p:nvPr/>
        </p:nvSpPr>
        <p:spPr>
          <a:xfrm>
            <a:off x="457200" y="1280160"/>
            <a:ext cx="2108606" cy="1828800"/>
          </a:xfrm>
          <a:prstGeom prst="roundRect">
            <a:avLst>
              <a:gd name="adj" fmla="val 6000"/>
            </a:avLst>
          </a:prstGeom>
          <a:solidFill>
            <a:srgbClr val="FFF7ED"/>
          </a:solidFill>
          <a:ln w="25400">
            <a:solidFill>
              <a:srgbClr val="FB923C"/>
            </a:solidFill>
            <a:prstDash val="solid"/>
          </a:ln>
        </p:spPr>
        <p:txBody>
          <a:bodyPr/>
          <a:lstStyle/>
          <a:p>
            <a:endParaRPr lang="en-US"/>
          </a:p>
        </p:txBody>
      </p:sp>
      <p:sp>
        <p:nvSpPr>
          <p:cNvPr id="9" name="Text 7"/>
          <p:cNvSpPr/>
          <p:nvPr/>
        </p:nvSpPr>
        <p:spPr>
          <a:xfrm>
            <a:off x="457200" y="1371600"/>
            <a:ext cx="2108606" cy="411480"/>
          </a:xfrm>
          <a:prstGeom prst="rect">
            <a:avLst/>
          </a:prstGeom>
          <a:noFill/>
          <a:ln/>
        </p:spPr>
        <p:txBody>
          <a:bodyPr wrap="square" rtlCol="0" anchor="ctr"/>
          <a:lstStyle/>
          <a:p>
            <a:pPr marL="0" indent="0" algn="ctr">
              <a:buNone/>
            </a:pPr>
            <a:r>
              <a:rPr lang="en-US" sz="1600" b="1" dirty="0">
                <a:solidFill>
                  <a:srgbClr val="FB923C"/>
                </a:solidFill>
                <a:latin typeface="Segoe UI" pitchFamily="34" charset="0"/>
                <a:ea typeface="Segoe UI" pitchFamily="34" charset="-122"/>
                <a:cs typeface="Segoe UI" pitchFamily="34" charset="-120"/>
              </a:rPr>
              <a:t>Connect</a:t>
            </a:r>
            <a:endParaRPr lang="en-US" sz="1600" dirty="0"/>
          </a:p>
        </p:txBody>
      </p:sp>
      <p:sp>
        <p:nvSpPr>
          <p:cNvPr id="10" name="Text 8"/>
          <p:cNvSpPr/>
          <p:nvPr/>
        </p:nvSpPr>
        <p:spPr>
          <a:xfrm>
            <a:off x="548640" y="1828800"/>
            <a:ext cx="1925726" cy="1097280"/>
          </a:xfrm>
          <a:prstGeom prst="rect">
            <a:avLst/>
          </a:prstGeom>
          <a:noFill/>
          <a:ln/>
        </p:spPr>
        <p:txBody>
          <a:bodyPr wrap="square" rtlCol="0" anchor="ctr"/>
          <a:lstStyle/>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Greeting</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Agenda</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Disclosure</a:t>
            </a:r>
            <a:endParaRPr lang="en-US" sz="1100" dirty="0"/>
          </a:p>
        </p:txBody>
      </p:sp>
      <p:sp>
        <p:nvSpPr>
          <p:cNvPr id="11" name="Text 9"/>
          <p:cNvSpPr/>
          <p:nvPr/>
        </p:nvSpPr>
        <p:spPr>
          <a:xfrm>
            <a:off x="2565806" y="1874520"/>
            <a:ext cx="182880" cy="457200"/>
          </a:xfrm>
          <a:prstGeom prst="rect">
            <a:avLst/>
          </a:prstGeom>
          <a:noFill/>
          <a:ln/>
        </p:spPr>
        <p:txBody>
          <a:bodyPr wrap="square" rtlCol="0" anchor="ctr"/>
          <a:lstStyle/>
          <a:p>
            <a:pPr marL="0" indent="0" algn="ctr">
              <a:buNone/>
            </a:pPr>
            <a:r>
              <a:rPr lang="en-US" sz="1400" dirty="0">
                <a:solidFill>
                  <a:srgbClr val="64748B"/>
                </a:solidFill>
                <a:latin typeface="Segoe UI" pitchFamily="34" charset="0"/>
                <a:ea typeface="Segoe UI" pitchFamily="34" charset="-122"/>
                <a:cs typeface="Segoe UI" pitchFamily="34" charset="-120"/>
              </a:rPr>
              <a:t>▶</a:t>
            </a:r>
            <a:endParaRPr lang="en-US" sz="1400" dirty="0"/>
          </a:p>
        </p:txBody>
      </p:sp>
      <p:sp>
        <p:nvSpPr>
          <p:cNvPr id="12" name="Shape 10"/>
          <p:cNvSpPr/>
          <p:nvPr/>
        </p:nvSpPr>
        <p:spPr>
          <a:xfrm>
            <a:off x="2748686" y="1280160"/>
            <a:ext cx="2108606" cy="1828800"/>
          </a:xfrm>
          <a:prstGeom prst="roundRect">
            <a:avLst>
              <a:gd name="adj" fmla="val 6000"/>
            </a:avLst>
          </a:prstGeom>
          <a:solidFill>
            <a:srgbClr val="FAF5FF"/>
          </a:solidFill>
          <a:ln w="25400">
            <a:solidFill>
              <a:srgbClr val="A78BFA"/>
            </a:solidFill>
            <a:prstDash val="solid"/>
          </a:ln>
        </p:spPr>
        <p:txBody>
          <a:bodyPr/>
          <a:lstStyle/>
          <a:p>
            <a:endParaRPr lang="en-US"/>
          </a:p>
        </p:txBody>
      </p:sp>
      <p:sp>
        <p:nvSpPr>
          <p:cNvPr id="13" name="Text 11"/>
          <p:cNvSpPr/>
          <p:nvPr/>
        </p:nvSpPr>
        <p:spPr>
          <a:xfrm>
            <a:off x="2748686" y="1371600"/>
            <a:ext cx="2108606" cy="411480"/>
          </a:xfrm>
          <a:prstGeom prst="rect">
            <a:avLst/>
          </a:prstGeom>
          <a:noFill/>
          <a:ln/>
        </p:spPr>
        <p:txBody>
          <a:bodyPr wrap="square" rtlCol="0" anchor="ctr"/>
          <a:lstStyle/>
          <a:p>
            <a:pPr marL="0" indent="0" algn="ctr">
              <a:buNone/>
            </a:pPr>
            <a:r>
              <a:rPr lang="en-US" sz="1600" b="1" dirty="0">
                <a:solidFill>
                  <a:srgbClr val="A78BFA"/>
                </a:solidFill>
                <a:latin typeface="Segoe UI" pitchFamily="34" charset="0"/>
                <a:ea typeface="Segoe UI" pitchFamily="34" charset="-122"/>
                <a:cs typeface="Segoe UI" pitchFamily="34" charset="-120"/>
              </a:rPr>
              <a:t>Explore</a:t>
            </a:r>
            <a:endParaRPr lang="en-US" sz="1600" dirty="0"/>
          </a:p>
        </p:txBody>
      </p:sp>
      <p:sp>
        <p:nvSpPr>
          <p:cNvPr id="14" name="Text 12"/>
          <p:cNvSpPr/>
          <p:nvPr/>
        </p:nvSpPr>
        <p:spPr>
          <a:xfrm>
            <a:off x="2840126" y="1828800"/>
            <a:ext cx="1925726" cy="1097280"/>
          </a:xfrm>
          <a:prstGeom prst="rect">
            <a:avLst/>
          </a:prstGeom>
          <a:noFill/>
          <a:ln/>
        </p:spPr>
        <p:txBody>
          <a:bodyPr wrap="square" rtlCol="0" anchor="ctr"/>
          <a:lstStyle/>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Users</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Usage</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Devices | Cost</a:t>
            </a:r>
            <a:endParaRPr lang="en-US" sz="1100" dirty="0"/>
          </a:p>
        </p:txBody>
      </p:sp>
      <p:sp>
        <p:nvSpPr>
          <p:cNvPr id="15" name="Text 13"/>
          <p:cNvSpPr/>
          <p:nvPr/>
        </p:nvSpPr>
        <p:spPr>
          <a:xfrm>
            <a:off x="4857293" y="1874520"/>
            <a:ext cx="182880" cy="457200"/>
          </a:xfrm>
          <a:prstGeom prst="rect">
            <a:avLst/>
          </a:prstGeom>
          <a:noFill/>
          <a:ln/>
        </p:spPr>
        <p:txBody>
          <a:bodyPr wrap="square" rtlCol="0" anchor="ctr"/>
          <a:lstStyle/>
          <a:p>
            <a:pPr marL="0" indent="0" algn="ctr">
              <a:buNone/>
            </a:pPr>
            <a:r>
              <a:rPr lang="en-US" sz="1400" dirty="0">
                <a:solidFill>
                  <a:srgbClr val="64748B"/>
                </a:solidFill>
                <a:latin typeface="Segoe UI" pitchFamily="34" charset="0"/>
                <a:ea typeface="Segoe UI" pitchFamily="34" charset="-122"/>
                <a:cs typeface="Segoe UI" pitchFamily="34" charset="-120"/>
              </a:rPr>
              <a:t>▶</a:t>
            </a:r>
            <a:endParaRPr lang="en-US" sz="1400" dirty="0"/>
          </a:p>
        </p:txBody>
      </p:sp>
      <p:sp>
        <p:nvSpPr>
          <p:cNvPr id="16" name="Shape 14"/>
          <p:cNvSpPr/>
          <p:nvPr/>
        </p:nvSpPr>
        <p:spPr>
          <a:xfrm>
            <a:off x="5040173" y="1280160"/>
            <a:ext cx="2108606" cy="1828800"/>
          </a:xfrm>
          <a:prstGeom prst="roundRect">
            <a:avLst>
              <a:gd name="adj" fmla="val 6000"/>
            </a:avLst>
          </a:prstGeom>
          <a:solidFill>
            <a:srgbClr val="F0FDF4"/>
          </a:solidFill>
          <a:ln w="25400">
            <a:solidFill>
              <a:srgbClr val="4ADE80"/>
            </a:solidFill>
            <a:prstDash val="solid"/>
          </a:ln>
        </p:spPr>
        <p:txBody>
          <a:bodyPr/>
          <a:lstStyle/>
          <a:p>
            <a:endParaRPr lang="en-US"/>
          </a:p>
        </p:txBody>
      </p:sp>
      <p:sp>
        <p:nvSpPr>
          <p:cNvPr id="17" name="Text 15"/>
          <p:cNvSpPr/>
          <p:nvPr/>
        </p:nvSpPr>
        <p:spPr>
          <a:xfrm>
            <a:off x="5040173" y="1371600"/>
            <a:ext cx="2108606" cy="411480"/>
          </a:xfrm>
          <a:prstGeom prst="rect">
            <a:avLst/>
          </a:prstGeom>
          <a:noFill/>
          <a:ln/>
        </p:spPr>
        <p:txBody>
          <a:bodyPr wrap="square" rtlCol="0" anchor="ctr"/>
          <a:lstStyle/>
          <a:p>
            <a:pPr marL="0" indent="0" algn="ctr">
              <a:buNone/>
            </a:pPr>
            <a:r>
              <a:rPr lang="en-US" sz="1600" b="1" dirty="0">
                <a:solidFill>
                  <a:srgbClr val="4ADE80"/>
                </a:solidFill>
                <a:latin typeface="Segoe UI" pitchFamily="34" charset="0"/>
                <a:ea typeface="Segoe UI" pitchFamily="34" charset="-122"/>
                <a:cs typeface="Segoe UI" pitchFamily="34" charset="-120"/>
              </a:rPr>
              <a:t>Consult</a:t>
            </a:r>
            <a:endParaRPr lang="en-US" sz="1600" dirty="0"/>
          </a:p>
        </p:txBody>
      </p:sp>
      <p:sp>
        <p:nvSpPr>
          <p:cNvPr id="18" name="Text 16"/>
          <p:cNvSpPr/>
          <p:nvPr/>
        </p:nvSpPr>
        <p:spPr>
          <a:xfrm>
            <a:off x="5131613" y="1828800"/>
            <a:ext cx="1925726" cy="1097280"/>
          </a:xfrm>
          <a:prstGeom prst="rect">
            <a:avLst/>
          </a:prstGeom>
          <a:noFill/>
          <a:ln/>
        </p:spPr>
        <p:txBody>
          <a:bodyPr wrap="square" rtlCol="0" anchor="ctr"/>
          <a:lstStyle/>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Tie-backs</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Recommendation</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Broadband Labels</a:t>
            </a:r>
            <a:endParaRPr lang="en-US" sz="1100" dirty="0"/>
          </a:p>
        </p:txBody>
      </p:sp>
      <p:sp>
        <p:nvSpPr>
          <p:cNvPr id="19" name="Text 17"/>
          <p:cNvSpPr/>
          <p:nvPr/>
        </p:nvSpPr>
        <p:spPr>
          <a:xfrm>
            <a:off x="7148779" y="1874520"/>
            <a:ext cx="182880" cy="457200"/>
          </a:xfrm>
          <a:prstGeom prst="rect">
            <a:avLst/>
          </a:prstGeom>
          <a:noFill/>
          <a:ln/>
        </p:spPr>
        <p:txBody>
          <a:bodyPr wrap="square" rtlCol="0" anchor="ctr"/>
          <a:lstStyle/>
          <a:p>
            <a:pPr marL="0" indent="0" algn="ctr">
              <a:buNone/>
            </a:pPr>
            <a:r>
              <a:rPr lang="en-US" sz="1400" dirty="0">
                <a:solidFill>
                  <a:srgbClr val="64748B"/>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7331659" y="1280160"/>
            <a:ext cx="2108606" cy="1828800"/>
          </a:xfrm>
          <a:prstGeom prst="roundRect">
            <a:avLst>
              <a:gd name="adj" fmla="val 6000"/>
            </a:avLst>
          </a:prstGeom>
          <a:solidFill>
            <a:srgbClr val="FFF7ED"/>
          </a:solidFill>
          <a:ln w="25400">
            <a:solidFill>
              <a:srgbClr val="F59E0B"/>
            </a:solidFill>
            <a:prstDash val="solid"/>
          </a:ln>
        </p:spPr>
        <p:txBody>
          <a:bodyPr/>
          <a:lstStyle/>
          <a:p>
            <a:endParaRPr lang="en-US"/>
          </a:p>
        </p:txBody>
      </p:sp>
      <p:sp>
        <p:nvSpPr>
          <p:cNvPr id="21" name="Text 19"/>
          <p:cNvSpPr/>
          <p:nvPr/>
        </p:nvSpPr>
        <p:spPr>
          <a:xfrm>
            <a:off x="7331659" y="1371600"/>
            <a:ext cx="2108606" cy="411480"/>
          </a:xfrm>
          <a:prstGeom prst="rect">
            <a:avLst/>
          </a:prstGeom>
          <a:noFill/>
          <a:ln/>
        </p:spPr>
        <p:txBody>
          <a:bodyPr wrap="square" rtlCol="0" anchor="ctr"/>
          <a:lstStyle/>
          <a:p>
            <a:pPr marL="0" indent="0" algn="ctr">
              <a:buNone/>
            </a:pPr>
            <a:r>
              <a:rPr lang="en-US" sz="1600" b="1" dirty="0">
                <a:solidFill>
                  <a:srgbClr val="F59E0B"/>
                </a:solidFill>
                <a:latin typeface="Segoe UI" pitchFamily="34" charset="0"/>
                <a:ea typeface="Segoe UI" pitchFamily="34" charset="-122"/>
                <a:cs typeface="Segoe UI" pitchFamily="34" charset="-120"/>
              </a:rPr>
              <a:t>Overcome</a:t>
            </a:r>
            <a:endParaRPr lang="en-US" sz="1600" dirty="0"/>
          </a:p>
        </p:txBody>
      </p:sp>
      <p:sp>
        <p:nvSpPr>
          <p:cNvPr id="22" name="Text 20"/>
          <p:cNvSpPr/>
          <p:nvPr/>
        </p:nvSpPr>
        <p:spPr>
          <a:xfrm>
            <a:off x="7423099" y="1828800"/>
            <a:ext cx="1925726" cy="1097280"/>
          </a:xfrm>
          <a:prstGeom prst="rect">
            <a:avLst/>
          </a:prstGeom>
          <a:noFill/>
          <a:ln/>
        </p:spPr>
        <p:txBody>
          <a:bodyPr wrap="square" rtlCol="0" anchor="ctr"/>
          <a:lstStyle/>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Understand</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Empathize</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Restate | Value</a:t>
            </a:r>
            <a:endParaRPr lang="en-US" sz="1100" dirty="0"/>
          </a:p>
        </p:txBody>
      </p:sp>
      <p:sp>
        <p:nvSpPr>
          <p:cNvPr id="23" name="Text 21"/>
          <p:cNvSpPr/>
          <p:nvPr/>
        </p:nvSpPr>
        <p:spPr>
          <a:xfrm>
            <a:off x="9440266" y="1874520"/>
            <a:ext cx="182880" cy="457200"/>
          </a:xfrm>
          <a:prstGeom prst="rect">
            <a:avLst/>
          </a:prstGeom>
          <a:noFill/>
          <a:ln/>
        </p:spPr>
        <p:txBody>
          <a:bodyPr wrap="square" rtlCol="0" anchor="ctr"/>
          <a:lstStyle/>
          <a:p>
            <a:pPr marL="0" indent="0" algn="ctr">
              <a:buNone/>
            </a:pPr>
            <a:r>
              <a:rPr lang="en-US" sz="1400" dirty="0">
                <a:solidFill>
                  <a:srgbClr val="64748B"/>
                </a:solidFill>
                <a:latin typeface="Segoe UI" pitchFamily="34" charset="0"/>
                <a:ea typeface="Segoe UI" pitchFamily="34" charset="-122"/>
                <a:cs typeface="Segoe UI" pitchFamily="34" charset="-120"/>
              </a:rPr>
              <a:t>▶</a:t>
            </a:r>
            <a:endParaRPr lang="en-US" sz="1400" dirty="0"/>
          </a:p>
        </p:txBody>
      </p:sp>
      <p:sp>
        <p:nvSpPr>
          <p:cNvPr id="24" name="Shape 22"/>
          <p:cNvSpPr/>
          <p:nvPr/>
        </p:nvSpPr>
        <p:spPr>
          <a:xfrm>
            <a:off x="9623146" y="1280160"/>
            <a:ext cx="2108606" cy="1828800"/>
          </a:xfrm>
          <a:prstGeom prst="roundRect">
            <a:avLst>
              <a:gd name="adj" fmla="val 6000"/>
            </a:avLst>
          </a:prstGeom>
          <a:solidFill>
            <a:srgbClr val="F0FDFA"/>
          </a:solidFill>
          <a:ln w="25400">
            <a:solidFill>
              <a:srgbClr val="2DD4BF"/>
            </a:solidFill>
            <a:prstDash val="solid"/>
          </a:ln>
        </p:spPr>
        <p:txBody>
          <a:bodyPr/>
          <a:lstStyle/>
          <a:p>
            <a:endParaRPr lang="en-US"/>
          </a:p>
        </p:txBody>
      </p:sp>
      <p:sp>
        <p:nvSpPr>
          <p:cNvPr id="25" name="Text 23"/>
          <p:cNvSpPr/>
          <p:nvPr/>
        </p:nvSpPr>
        <p:spPr>
          <a:xfrm>
            <a:off x="9623146" y="1371600"/>
            <a:ext cx="2108606" cy="411480"/>
          </a:xfrm>
          <a:prstGeom prst="rect">
            <a:avLst/>
          </a:prstGeom>
          <a:noFill/>
          <a:ln/>
        </p:spPr>
        <p:txBody>
          <a:bodyPr wrap="square" rtlCol="0" anchor="ctr"/>
          <a:lstStyle/>
          <a:p>
            <a:pPr marL="0" indent="0" algn="ctr">
              <a:buNone/>
            </a:pPr>
            <a:r>
              <a:rPr lang="en-US" sz="1600" b="1" dirty="0">
                <a:solidFill>
                  <a:srgbClr val="2DD4BF"/>
                </a:solidFill>
                <a:latin typeface="Segoe UI" pitchFamily="34" charset="0"/>
                <a:ea typeface="Segoe UI" pitchFamily="34" charset="-122"/>
                <a:cs typeface="Segoe UI" pitchFamily="34" charset="-120"/>
              </a:rPr>
              <a:t>Review</a:t>
            </a:r>
            <a:endParaRPr lang="en-US" sz="1600" dirty="0"/>
          </a:p>
        </p:txBody>
      </p:sp>
      <p:sp>
        <p:nvSpPr>
          <p:cNvPr id="26" name="Text 24"/>
          <p:cNvSpPr/>
          <p:nvPr/>
        </p:nvSpPr>
        <p:spPr>
          <a:xfrm>
            <a:off x="9714586" y="1828800"/>
            <a:ext cx="1925726" cy="1097280"/>
          </a:xfrm>
          <a:prstGeom prst="rect">
            <a:avLst/>
          </a:prstGeom>
          <a:noFill/>
          <a:ln/>
        </p:spPr>
        <p:txBody>
          <a:bodyPr wrap="square" rtlCol="0" anchor="ctr"/>
          <a:lstStyle/>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Reaffirm</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Summarize</a:t>
            </a:r>
            <a:endParaRPr lang="en-US" sz="1100" dirty="0"/>
          </a:p>
          <a:p>
            <a:pPr marL="0" indent="0" algn="ctr">
              <a:lnSpc>
                <a:spcPts val="2000"/>
              </a:lnSpc>
              <a:buNone/>
            </a:pPr>
            <a:r>
              <a:rPr lang="en-US" sz="1100" dirty="0">
                <a:solidFill>
                  <a:srgbClr val="475569"/>
                </a:solidFill>
                <a:latin typeface="Segoe UI" pitchFamily="34" charset="0"/>
                <a:ea typeface="Segoe UI" pitchFamily="34" charset="-122"/>
                <a:cs typeface="Segoe UI" pitchFamily="34" charset="-120"/>
              </a:rPr>
              <a:t>Close</a:t>
            </a:r>
            <a:endParaRPr lang="en-US" sz="1100" dirty="0"/>
          </a:p>
        </p:txBody>
      </p:sp>
      <p:sp>
        <p:nvSpPr>
          <p:cNvPr id="27" name="Shape 25"/>
          <p:cNvSpPr/>
          <p:nvPr/>
        </p:nvSpPr>
        <p:spPr>
          <a:xfrm>
            <a:off x="457200" y="3383280"/>
            <a:ext cx="11274552" cy="365760"/>
          </a:xfrm>
          <a:prstGeom prst="roundRect">
            <a:avLst>
              <a:gd name="adj" fmla="val 15000"/>
            </a:avLst>
          </a:prstGeom>
          <a:solidFill>
            <a:srgbClr val="059669"/>
          </a:solidFill>
          <a:ln/>
        </p:spPr>
        <p:txBody>
          <a:bodyPr/>
          <a:lstStyle/>
          <a:p>
            <a:endParaRPr lang="en-US"/>
          </a:p>
        </p:txBody>
      </p:sp>
      <p:sp>
        <p:nvSpPr>
          <p:cNvPr id="28" name="Text 26"/>
          <p:cNvSpPr/>
          <p:nvPr/>
        </p:nvSpPr>
        <p:spPr>
          <a:xfrm>
            <a:off x="640080" y="3383280"/>
            <a:ext cx="10908792" cy="36576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This Week's Journey</a:t>
            </a:r>
            <a:endParaRPr lang="en-US" sz="1200" dirty="0"/>
          </a:p>
        </p:txBody>
      </p:sp>
      <p:sp>
        <p:nvSpPr>
          <p:cNvPr id="29" name="Text 27"/>
          <p:cNvSpPr/>
          <p:nvPr/>
        </p:nvSpPr>
        <p:spPr>
          <a:xfrm>
            <a:off x="640080" y="3886200"/>
            <a:ext cx="914400" cy="320040"/>
          </a:xfrm>
          <a:prstGeom prst="rect">
            <a:avLst/>
          </a:prstGeom>
          <a:noFill/>
          <a:ln/>
        </p:spPr>
        <p:txBody>
          <a:bodyPr wrap="square" rtlCol="0" anchor="ctr"/>
          <a:lstStyle/>
          <a:p>
            <a:pPr marL="0" indent="0">
              <a:buNone/>
            </a:pPr>
            <a:r>
              <a:rPr lang="en-US" sz="1200" b="1" dirty="0">
                <a:solidFill>
                  <a:srgbClr val="6366F1"/>
                </a:solidFill>
                <a:latin typeface="Segoe UI" pitchFamily="34" charset="0"/>
                <a:ea typeface="Segoe UI" pitchFamily="34" charset="-122"/>
                <a:cs typeface="Segoe UI" pitchFamily="34" charset="-120"/>
              </a:rPr>
              <a:t>Day 1</a:t>
            </a:r>
            <a:endParaRPr lang="en-US" sz="1200" dirty="0"/>
          </a:p>
        </p:txBody>
      </p:sp>
      <p:sp>
        <p:nvSpPr>
          <p:cNvPr id="30" name="Text 28"/>
          <p:cNvSpPr/>
          <p:nvPr/>
        </p:nvSpPr>
        <p:spPr>
          <a:xfrm>
            <a:off x="1645920" y="3886200"/>
            <a:ext cx="9902952" cy="320040"/>
          </a:xfrm>
          <a:prstGeom prst="rect">
            <a:avLst/>
          </a:prstGeom>
          <a:noFill/>
          <a:ln/>
        </p:spPr>
        <p:txBody>
          <a:bodyPr wrap="square" rtlCol="0" anchor="ctr"/>
          <a:lstStyle/>
          <a:p>
            <a:pPr marL="0" indent="0">
              <a:buNone/>
            </a:pPr>
            <a:r>
              <a:rPr lang="en-US" sz="1200" dirty="0">
                <a:solidFill>
                  <a:srgbClr val="475569"/>
                </a:solidFill>
                <a:latin typeface="Segoe UI" pitchFamily="34" charset="0"/>
                <a:ea typeface="Segoe UI" pitchFamily="34" charset="-122"/>
                <a:cs typeface="Segoe UI" pitchFamily="34" charset="-120"/>
              </a:rPr>
              <a:t>First 30 seconds. Smile, name, personal connection, recording disclosure.</a:t>
            </a:r>
            <a:endParaRPr lang="en-US" sz="1200" dirty="0"/>
          </a:p>
        </p:txBody>
      </p:sp>
      <p:sp>
        <p:nvSpPr>
          <p:cNvPr id="31" name="Text 29"/>
          <p:cNvSpPr/>
          <p:nvPr/>
        </p:nvSpPr>
        <p:spPr>
          <a:xfrm>
            <a:off x="640080" y="4251960"/>
            <a:ext cx="914400" cy="320040"/>
          </a:xfrm>
          <a:prstGeom prst="rect">
            <a:avLst/>
          </a:prstGeom>
          <a:noFill/>
          <a:ln/>
        </p:spPr>
        <p:txBody>
          <a:bodyPr wrap="square" rtlCol="0" anchor="ctr"/>
          <a:lstStyle/>
          <a:p>
            <a:pPr marL="0" indent="0">
              <a:buNone/>
            </a:pPr>
            <a:r>
              <a:rPr lang="en-US" sz="1200" b="1" dirty="0">
                <a:solidFill>
                  <a:srgbClr val="8B5CF6"/>
                </a:solidFill>
                <a:latin typeface="Segoe UI" pitchFamily="34" charset="0"/>
                <a:ea typeface="Segoe UI" pitchFamily="34" charset="-122"/>
                <a:cs typeface="Segoe UI" pitchFamily="34" charset="-120"/>
              </a:rPr>
              <a:t>Day 2</a:t>
            </a:r>
            <a:endParaRPr lang="en-US" sz="1200" dirty="0"/>
          </a:p>
        </p:txBody>
      </p:sp>
      <p:sp>
        <p:nvSpPr>
          <p:cNvPr id="32" name="Text 30"/>
          <p:cNvSpPr/>
          <p:nvPr/>
        </p:nvSpPr>
        <p:spPr>
          <a:xfrm>
            <a:off x="1645920" y="4251960"/>
            <a:ext cx="9902952" cy="320040"/>
          </a:xfrm>
          <a:prstGeom prst="rect">
            <a:avLst/>
          </a:prstGeom>
          <a:noFill/>
          <a:ln/>
        </p:spPr>
        <p:txBody>
          <a:bodyPr wrap="square" rtlCol="0" anchor="ctr"/>
          <a:lstStyle/>
          <a:p>
            <a:pPr marL="0" indent="0">
              <a:buNone/>
            </a:pPr>
            <a:r>
              <a:rPr lang="en-US" sz="1200" dirty="0">
                <a:solidFill>
                  <a:srgbClr val="475569"/>
                </a:solidFill>
                <a:latin typeface="Segoe UI" pitchFamily="34" charset="0"/>
                <a:ea typeface="Segoe UI" pitchFamily="34" charset="-122"/>
                <a:cs typeface="Segoe UI" pitchFamily="34" charset="-120"/>
              </a:rPr>
              <a:t>Discovery. Open-ended questions. 4 pillars. Conversation, not interrogation.</a:t>
            </a:r>
            <a:endParaRPr lang="en-US" sz="1200" dirty="0"/>
          </a:p>
        </p:txBody>
      </p:sp>
      <p:sp>
        <p:nvSpPr>
          <p:cNvPr id="33" name="Text 31"/>
          <p:cNvSpPr/>
          <p:nvPr/>
        </p:nvSpPr>
        <p:spPr>
          <a:xfrm>
            <a:off x="640080" y="4617720"/>
            <a:ext cx="914400" cy="320040"/>
          </a:xfrm>
          <a:prstGeom prst="rect">
            <a:avLst/>
          </a:prstGeom>
          <a:noFill/>
          <a:ln/>
        </p:spPr>
        <p:txBody>
          <a:bodyPr wrap="square" rtlCol="0" anchor="ctr"/>
          <a:lstStyle/>
          <a:p>
            <a:pPr marL="0" indent="0">
              <a:buNone/>
            </a:pPr>
            <a:r>
              <a:rPr lang="en-US" sz="1200" b="1" dirty="0">
                <a:solidFill>
                  <a:srgbClr val="0891B2"/>
                </a:solidFill>
                <a:latin typeface="Segoe UI" pitchFamily="34" charset="0"/>
                <a:ea typeface="Segoe UI" pitchFamily="34" charset="-122"/>
                <a:cs typeface="Segoe UI" pitchFamily="34" charset="-120"/>
              </a:rPr>
              <a:t>Day 3</a:t>
            </a:r>
            <a:endParaRPr lang="en-US" sz="1200" dirty="0"/>
          </a:p>
        </p:txBody>
      </p:sp>
      <p:sp>
        <p:nvSpPr>
          <p:cNvPr id="34" name="Text 32"/>
          <p:cNvSpPr/>
          <p:nvPr/>
        </p:nvSpPr>
        <p:spPr>
          <a:xfrm>
            <a:off x="1645920" y="4617720"/>
            <a:ext cx="9902952" cy="320040"/>
          </a:xfrm>
          <a:prstGeom prst="rect">
            <a:avLst/>
          </a:prstGeom>
          <a:noFill/>
          <a:ln/>
        </p:spPr>
        <p:txBody>
          <a:bodyPr wrap="square" rtlCol="0" anchor="ctr"/>
          <a:lstStyle/>
          <a:p>
            <a:pPr marL="0" indent="0">
              <a:buNone/>
            </a:pPr>
            <a:r>
              <a:rPr lang="en-US" sz="1200" dirty="0">
                <a:solidFill>
                  <a:srgbClr val="475569"/>
                </a:solidFill>
                <a:latin typeface="Segoe UI" pitchFamily="34" charset="0"/>
                <a:ea typeface="Segoe UI" pitchFamily="34" charset="-122"/>
                <a:cs typeface="Segoe UI" pitchFamily="34" charset="-120"/>
              </a:rPr>
              <a:t>Linking. Tie-backs. Every pitch has a "because." Benefits over features.</a:t>
            </a:r>
            <a:endParaRPr lang="en-US" sz="1200" dirty="0"/>
          </a:p>
        </p:txBody>
      </p:sp>
      <p:sp>
        <p:nvSpPr>
          <p:cNvPr id="35" name="Text 33"/>
          <p:cNvSpPr/>
          <p:nvPr/>
        </p:nvSpPr>
        <p:spPr>
          <a:xfrm>
            <a:off x="640080" y="4983480"/>
            <a:ext cx="914400" cy="320040"/>
          </a:xfrm>
          <a:prstGeom prst="rect">
            <a:avLst/>
          </a:prstGeom>
          <a:noFill/>
          <a:ln/>
        </p:spPr>
        <p:txBody>
          <a:bodyPr wrap="square" rtlCol="0" anchor="ctr"/>
          <a:lstStyle/>
          <a:p>
            <a:pPr marL="0" indent="0">
              <a:buNone/>
            </a:pPr>
            <a:r>
              <a:rPr lang="en-US" sz="1200" b="1" dirty="0">
                <a:solidFill>
                  <a:srgbClr val="E67E22"/>
                </a:solidFill>
                <a:latin typeface="Segoe UI" pitchFamily="34" charset="0"/>
                <a:ea typeface="Segoe UI" pitchFamily="34" charset="-122"/>
                <a:cs typeface="Segoe UI" pitchFamily="34" charset="-120"/>
              </a:rPr>
              <a:t>Day 4</a:t>
            </a:r>
            <a:endParaRPr lang="en-US" sz="1200" dirty="0"/>
          </a:p>
        </p:txBody>
      </p:sp>
      <p:sp>
        <p:nvSpPr>
          <p:cNvPr id="36" name="Text 34"/>
          <p:cNvSpPr/>
          <p:nvPr/>
        </p:nvSpPr>
        <p:spPr>
          <a:xfrm>
            <a:off x="1645920" y="4983480"/>
            <a:ext cx="9902952" cy="320040"/>
          </a:xfrm>
          <a:prstGeom prst="rect">
            <a:avLst/>
          </a:prstGeom>
          <a:noFill/>
          <a:ln/>
        </p:spPr>
        <p:txBody>
          <a:bodyPr wrap="square" rtlCol="0" anchor="ctr"/>
          <a:lstStyle/>
          <a:p>
            <a:pPr marL="0" indent="0">
              <a:buNone/>
            </a:pPr>
            <a:r>
              <a:rPr lang="en-US" sz="1200" dirty="0">
                <a:solidFill>
                  <a:srgbClr val="475569"/>
                </a:solidFill>
                <a:latin typeface="Segoe UI" pitchFamily="34" charset="0"/>
                <a:ea typeface="Segoe UI" pitchFamily="34" charset="-122"/>
                <a:cs typeface="Segoe UI" pitchFamily="34" charset="-120"/>
              </a:rPr>
              <a:t>Objections. Understand first. Empathize. Restate. Add value. Always re-close.</a:t>
            </a:r>
            <a:endParaRPr lang="en-US" sz="1200" dirty="0"/>
          </a:p>
        </p:txBody>
      </p:sp>
      <p:sp>
        <p:nvSpPr>
          <p:cNvPr id="37" name="Shape 35"/>
          <p:cNvSpPr/>
          <p:nvPr/>
        </p:nvSpPr>
        <p:spPr>
          <a:xfrm>
            <a:off x="457200" y="5486400"/>
            <a:ext cx="11274552" cy="365760"/>
          </a:xfrm>
          <a:prstGeom prst="roundRect">
            <a:avLst>
              <a:gd name="adj" fmla="val 15000"/>
            </a:avLst>
          </a:prstGeom>
          <a:solidFill>
            <a:srgbClr val="059669"/>
          </a:solidFill>
          <a:ln/>
        </p:spPr>
        <p:txBody>
          <a:bodyPr/>
          <a:lstStyle/>
          <a:p>
            <a:endParaRPr lang="en-US"/>
          </a:p>
        </p:txBody>
      </p:sp>
      <p:sp>
        <p:nvSpPr>
          <p:cNvPr id="38" name="Text 36"/>
          <p:cNvSpPr/>
          <p:nvPr/>
        </p:nvSpPr>
        <p:spPr>
          <a:xfrm>
            <a:off x="640080" y="5486400"/>
            <a:ext cx="10908792" cy="36576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The 6 Catalyst Behaviors - Self Check</a:t>
            </a:r>
            <a:endParaRPr lang="en-US" sz="1200" dirty="0"/>
          </a:p>
        </p:txBody>
      </p:sp>
      <p:sp>
        <p:nvSpPr>
          <p:cNvPr id="39" name="Shape 37"/>
          <p:cNvSpPr/>
          <p:nvPr/>
        </p:nvSpPr>
        <p:spPr>
          <a:xfrm>
            <a:off x="457200" y="5943600"/>
            <a:ext cx="1498092" cy="822960"/>
          </a:xfrm>
          <a:prstGeom prst="roundRect">
            <a:avLst>
              <a:gd name="adj" fmla="val 8889"/>
            </a:avLst>
          </a:prstGeom>
          <a:solidFill>
            <a:srgbClr val="CFFAFE"/>
          </a:solidFill>
          <a:ln/>
        </p:spPr>
        <p:txBody>
          <a:bodyPr/>
          <a:lstStyle/>
          <a:p>
            <a:endParaRPr lang="en-US"/>
          </a:p>
        </p:txBody>
      </p:sp>
      <p:sp>
        <p:nvSpPr>
          <p:cNvPr id="40" name="Text 38"/>
          <p:cNvSpPr/>
          <p:nvPr/>
        </p:nvSpPr>
        <p:spPr>
          <a:xfrm>
            <a:off x="457200" y="5943600"/>
            <a:ext cx="1498092" cy="411480"/>
          </a:xfrm>
          <a:prstGeom prst="rect">
            <a:avLst/>
          </a:prstGeom>
          <a:noFill/>
          <a:ln/>
        </p:spPr>
        <p:txBody>
          <a:bodyPr wrap="square" rtlCol="0" anchor="ctr"/>
          <a:lstStyle/>
          <a:p>
            <a:pPr marL="0" indent="0" algn="ctr">
              <a:lnSpc>
                <a:spcPts val="1400"/>
              </a:lnSpc>
              <a:buNone/>
            </a:pPr>
            <a:r>
              <a:rPr lang="en-US" sz="900" b="1" dirty="0">
                <a:solidFill>
                  <a:srgbClr val="0891B2"/>
                </a:solidFill>
                <a:latin typeface="Segoe UI" pitchFamily="34" charset="0"/>
                <a:ea typeface="Segoe UI" pitchFamily="34" charset="-122"/>
                <a:cs typeface="Segoe UI" pitchFamily="34" charset="-120"/>
              </a:rPr>
              <a:t>Engage</a:t>
            </a:r>
            <a:endParaRPr lang="en-US" sz="900" dirty="0"/>
          </a:p>
          <a:p>
            <a:pPr marL="0" indent="0" algn="ctr">
              <a:lnSpc>
                <a:spcPts val="1400"/>
              </a:lnSpc>
              <a:buNone/>
            </a:pPr>
            <a:r>
              <a:rPr lang="en-US" sz="900" b="1" dirty="0">
                <a:solidFill>
                  <a:srgbClr val="0891B2"/>
                </a:solidFill>
                <a:latin typeface="Segoe UI" pitchFamily="34" charset="0"/>
                <a:ea typeface="Segoe UI" pitchFamily="34" charset="-122"/>
                <a:cs typeface="Segoe UI" pitchFamily="34" charset="-120"/>
              </a:rPr>
              <a:t>Actively</a:t>
            </a:r>
            <a:endParaRPr lang="en-US" sz="900" dirty="0"/>
          </a:p>
        </p:txBody>
      </p:sp>
      <p:sp>
        <p:nvSpPr>
          <p:cNvPr id="41" name="Text 39"/>
          <p:cNvSpPr/>
          <p:nvPr/>
        </p:nvSpPr>
        <p:spPr>
          <a:xfrm>
            <a:off x="457200" y="6309360"/>
            <a:ext cx="1498092" cy="411480"/>
          </a:xfrm>
          <a:prstGeom prst="rect">
            <a:avLst/>
          </a:prstGeom>
          <a:noFill/>
          <a:ln/>
        </p:spPr>
        <p:txBody>
          <a:bodyPr wrap="square" rtlCol="0" anchor="t"/>
          <a:lstStyle/>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Conversation</a:t>
            </a:r>
            <a:endParaRPr lang="en-US" sz="800" dirty="0"/>
          </a:p>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or transaction?</a:t>
            </a:r>
            <a:endParaRPr lang="en-US" sz="800" dirty="0"/>
          </a:p>
        </p:txBody>
      </p:sp>
      <p:sp>
        <p:nvSpPr>
          <p:cNvPr id="42" name="Shape 40"/>
          <p:cNvSpPr/>
          <p:nvPr/>
        </p:nvSpPr>
        <p:spPr>
          <a:xfrm>
            <a:off x="2046732" y="5943600"/>
            <a:ext cx="1498092" cy="822960"/>
          </a:xfrm>
          <a:prstGeom prst="roundRect">
            <a:avLst>
              <a:gd name="adj" fmla="val 8889"/>
            </a:avLst>
          </a:prstGeom>
          <a:solidFill>
            <a:srgbClr val="DBEAFE"/>
          </a:solidFill>
          <a:ln/>
        </p:spPr>
        <p:txBody>
          <a:bodyPr/>
          <a:lstStyle/>
          <a:p>
            <a:endParaRPr lang="en-US"/>
          </a:p>
        </p:txBody>
      </p:sp>
      <p:sp>
        <p:nvSpPr>
          <p:cNvPr id="43" name="Text 41"/>
          <p:cNvSpPr/>
          <p:nvPr/>
        </p:nvSpPr>
        <p:spPr>
          <a:xfrm>
            <a:off x="2046732" y="5943600"/>
            <a:ext cx="1498092" cy="411480"/>
          </a:xfrm>
          <a:prstGeom prst="rect">
            <a:avLst/>
          </a:prstGeom>
          <a:noFill/>
          <a:ln/>
        </p:spPr>
        <p:txBody>
          <a:bodyPr wrap="square" rtlCol="0" anchor="ctr"/>
          <a:lstStyle/>
          <a:p>
            <a:pPr marL="0" indent="0" algn="ctr">
              <a:lnSpc>
                <a:spcPts val="1400"/>
              </a:lnSpc>
              <a:buNone/>
            </a:pPr>
            <a:r>
              <a:rPr lang="en-US" sz="900" b="1" dirty="0">
                <a:solidFill>
                  <a:srgbClr val="1D4ED8"/>
                </a:solidFill>
                <a:latin typeface="Segoe UI" pitchFamily="34" charset="0"/>
                <a:ea typeface="Segoe UI" pitchFamily="34" charset="-122"/>
                <a:cs typeface="Segoe UI" pitchFamily="34" charset="-120"/>
              </a:rPr>
              <a:t>Own It</a:t>
            </a:r>
            <a:endParaRPr lang="en-US" sz="900" dirty="0"/>
          </a:p>
        </p:txBody>
      </p:sp>
      <p:sp>
        <p:nvSpPr>
          <p:cNvPr id="44" name="Text 42"/>
          <p:cNvSpPr/>
          <p:nvPr/>
        </p:nvSpPr>
        <p:spPr>
          <a:xfrm>
            <a:off x="2046732" y="6309360"/>
            <a:ext cx="1498092" cy="411480"/>
          </a:xfrm>
          <a:prstGeom prst="rect">
            <a:avLst/>
          </a:prstGeom>
          <a:noFill/>
          <a:ln/>
        </p:spPr>
        <p:txBody>
          <a:bodyPr wrap="square" rtlCol="0" anchor="t"/>
          <a:lstStyle/>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Expertise +</a:t>
            </a:r>
            <a:endParaRPr lang="en-US" sz="800" dirty="0"/>
          </a:p>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keeping them informed?</a:t>
            </a:r>
            <a:endParaRPr lang="en-US" sz="800" dirty="0"/>
          </a:p>
        </p:txBody>
      </p:sp>
      <p:sp>
        <p:nvSpPr>
          <p:cNvPr id="45" name="Shape 43"/>
          <p:cNvSpPr/>
          <p:nvPr/>
        </p:nvSpPr>
        <p:spPr>
          <a:xfrm>
            <a:off x="3636264" y="5943600"/>
            <a:ext cx="1498092" cy="822960"/>
          </a:xfrm>
          <a:prstGeom prst="roundRect">
            <a:avLst>
              <a:gd name="adj" fmla="val 8889"/>
            </a:avLst>
          </a:prstGeom>
          <a:solidFill>
            <a:srgbClr val="FEF3C7"/>
          </a:solidFill>
          <a:ln/>
        </p:spPr>
        <p:txBody>
          <a:bodyPr/>
          <a:lstStyle/>
          <a:p>
            <a:endParaRPr lang="en-US"/>
          </a:p>
        </p:txBody>
      </p:sp>
      <p:sp>
        <p:nvSpPr>
          <p:cNvPr id="46" name="Text 44"/>
          <p:cNvSpPr/>
          <p:nvPr/>
        </p:nvSpPr>
        <p:spPr>
          <a:xfrm>
            <a:off x="3636264" y="5943600"/>
            <a:ext cx="1498092" cy="411480"/>
          </a:xfrm>
          <a:prstGeom prst="rect">
            <a:avLst/>
          </a:prstGeom>
          <a:noFill/>
          <a:ln/>
        </p:spPr>
        <p:txBody>
          <a:bodyPr wrap="square" rtlCol="0" anchor="ctr"/>
          <a:lstStyle/>
          <a:p>
            <a:pPr marL="0" indent="0" algn="ctr">
              <a:lnSpc>
                <a:spcPts val="1400"/>
              </a:lnSpc>
              <a:buNone/>
            </a:pPr>
            <a:r>
              <a:rPr lang="en-US" sz="900" b="1" dirty="0">
                <a:solidFill>
                  <a:srgbClr val="D97706"/>
                </a:solidFill>
                <a:latin typeface="Segoe UI" pitchFamily="34" charset="0"/>
                <a:ea typeface="Segoe UI" pitchFamily="34" charset="-122"/>
                <a:cs typeface="Segoe UI" pitchFamily="34" charset="-120"/>
              </a:rPr>
              <a:t>Make It</a:t>
            </a:r>
            <a:endParaRPr lang="en-US" sz="900" dirty="0"/>
          </a:p>
          <a:p>
            <a:pPr marL="0" indent="0" algn="ctr">
              <a:lnSpc>
                <a:spcPts val="1400"/>
              </a:lnSpc>
              <a:buNone/>
            </a:pPr>
            <a:r>
              <a:rPr lang="en-US" sz="900" b="1" dirty="0">
                <a:solidFill>
                  <a:srgbClr val="D97706"/>
                </a:solidFill>
                <a:latin typeface="Segoe UI" pitchFamily="34" charset="0"/>
                <a:ea typeface="Segoe UI" pitchFamily="34" charset="-122"/>
                <a:cs typeface="Segoe UI" pitchFamily="34" charset="-120"/>
              </a:rPr>
              <a:t>Effortless</a:t>
            </a:r>
            <a:endParaRPr lang="en-US" sz="900" dirty="0"/>
          </a:p>
        </p:txBody>
      </p:sp>
      <p:sp>
        <p:nvSpPr>
          <p:cNvPr id="47" name="Text 45"/>
          <p:cNvSpPr/>
          <p:nvPr/>
        </p:nvSpPr>
        <p:spPr>
          <a:xfrm>
            <a:off x="3636264" y="6309360"/>
            <a:ext cx="1498092" cy="411480"/>
          </a:xfrm>
          <a:prstGeom prst="rect">
            <a:avLst/>
          </a:prstGeom>
          <a:noFill/>
          <a:ln/>
        </p:spPr>
        <p:txBody>
          <a:bodyPr wrap="square" rtlCol="0" anchor="t"/>
          <a:lstStyle/>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Digestible</a:t>
            </a:r>
            <a:endParaRPr lang="en-US" sz="800" dirty="0"/>
          </a:p>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pieces?</a:t>
            </a:r>
            <a:endParaRPr lang="en-US" sz="800" dirty="0"/>
          </a:p>
        </p:txBody>
      </p:sp>
      <p:sp>
        <p:nvSpPr>
          <p:cNvPr id="48" name="Shape 46"/>
          <p:cNvSpPr/>
          <p:nvPr/>
        </p:nvSpPr>
        <p:spPr>
          <a:xfrm>
            <a:off x="5225796" y="5943600"/>
            <a:ext cx="1498092" cy="822960"/>
          </a:xfrm>
          <a:prstGeom prst="roundRect">
            <a:avLst>
              <a:gd name="adj" fmla="val 8889"/>
            </a:avLst>
          </a:prstGeom>
          <a:solidFill>
            <a:srgbClr val="EDE9FE"/>
          </a:solidFill>
          <a:ln/>
        </p:spPr>
        <p:txBody>
          <a:bodyPr/>
          <a:lstStyle/>
          <a:p>
            <a:endParaRPr lang="en-US"/>
          </a:p>
        </p:txBody>
      </p:sp>
      <p:sp>
        <p:nvSpPr>
          <p:cNvPr id="49" name="Text 47"/>
          <p:cNvSpPr/>
          <p:nvPr/>
        </p:nvSpPr>
        <p:spPr>
          <a:xfrm>
            <a:off x="5225796" y="5943600"/>
            <a:ext cx="1498092" cy="411480"/>
          </a:xfrm>
          <a:prstGeom prst="rect">
            <a:avLst/>
          </a:prstGeom>
          <a:noFill/>
          <a:ln/>
        </p:spPr>
        <p:txBody>
          <a:bodyPr wrap="square" rtlCol="0" anchor="ctr"/>
          <a:lstStyle/>
          <a:p>
            <a:pPr marL="0" indent="0" algn="ctr">
              <a:lnSpc>
                <a:spcPts val="1400"/>
              </a:lnSpc>
              <a:buNone/>
            </a:pPr>
            <a:r>
              <a:rPr lang="en-US" sz="900" b="1" dirty="0">
                <a:solidFill>
                  <a:srgbClr val="7C3AED"/>
                </a:solidFill>
                <a:latin typeface="Segoe UI" pitchFamily="34" charset="0"/>
                <a:ea typeface="Segoe UI" pitchFamily="34" charset="-122"/>
                <a:cs typeface="Segoe UI" pitchFamily="34" charset="-120"/>
              </a:rPr>
              <a:t>Discover</a:t>
            </a:r>
            <a:endParaRPr lang="en-US" sz="900" dirty="0"/>
          </a:p>
          <a:p>
            <a:pPr marL="0" indent="0" algn="ctr">
              <a:lnSpc>
                <a:spcPts val="1400"/>
              </a:lnSpc>
              <a:buNone/>
            </a:pPr>
            <a:r>
              <a:rPr lang="en-US" sz="900" b="1" dirty="0">
                <a:solidFill>
                  <a:srgbClr val="7C3AED"/>
                </a:solidFill>
                <a:latin typeface="Segoe UI" pitchFamily="34" charset="0"/>
                <a:ea typeface="Segoe UI" pitchFamily="34" charset="-122"/>
                <a:cs typeface="Segoe UI" pitchFamily="34" charset="-120"/>
              </a:rPr>
              <a:t>Needs</a:t>
            </a:r>
            <a:endParaRPr lang="en-US" sz="900" dirty="0"/>
          </a:p>
        </p:txBody>
      </p:sp>
      <p:sp>
        <p:nvSpPr>
          <p:cNvPr id="50" name="Text 48"/>
          <p:cNvSpPr/>
          <p:nvPr/>
        </p:nvSpPr>
        <p:spPr>
          <a:xfrm>
            <a:off x="5225796" y="6309360"/>
            <a:ext cx="1498092" cy="411480"/>
          </a:xfrm>
          <a:prstGeom prst="rect">
            <a:avLst/>
          </a:prstGeom>
          <a:noFill/>
          <a:ln/>
        </p:spPr>
        <p:txBody>
          <a:bodyPr wrap="square" rtlCol="0" anchor="t"/>
          <a:lstStyle/>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Questions that</a:t>
            </a:r>
            <a:endParaRPr lang="en-US" sz="800" dirty="0"/>
          </a:p>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reveal something?</a:t>
            </a:r>
            <a:endParaRPr lang="en-US" sz="800" dirty="0"/>
          </a:p>
        </p:txBody>
      </p:sp>
      <p:sp>
        <p:nvSpPr>
          <p:cNvPr id="51" name="Shape 49"/>
          <p:cNvSpPr/>
          <p:nvPr/>
        </p:nvSpPr>
        <p:spPr>
          <a:xfrm>
            <a:off x="6815328" y="5943600"/>
            <a:ext cx="1498092" cy="822960"/>
          </a:xfrm>
          <a:prstGeom prst="roundRect">
            <a:avLst>
              <a:gd name="adj" fmla="val 8889"/>
            </a:avLst>
          </a:prstGeom>
          <a:solidFill>
            <a:srgbClr val="DCFCE7"/>
          </a:solidFill>
          <a:ln/>
        </p:spPr>
        <p:txBody>
          <a:bodyPr/>
          <a:lstStyle/>
          <a:p>
            <a:endParaRPr lang="en-US"/>
          </a:p>
        </p:txBody>
      </p:sp>
      <p:sp>
        <p:nvSpPr>
          <p:cNvPr id="52" name="Text 50"/>
          <p:cNvSpPr/>
          <p:nvPr/>
        </p:nvSpPr>
        <p:spPr>
          <a:xfrm>
            <a:off x="6815328" y="5943600"/>
            <a:ext cx="1498092" cy="411480"/>
          </a:xfrm>
          <a:prstGeom prst="rect">
            <a:avLst/>
          </a:prstGeom>
          <a:noFill/>
          <a:ln/>
        </p:spPr>
        <p:txBody>
          <a:bodyPr wrap="square" rtlCol="0" anchor="ctr"/>
          <a:lstStyle/>
          <a:p>
            <a:pPr marL="0" indent="0" algn="ctr">
              <a:lnSpc>
                <a:spcPts val="1400"/>
              </a:lnSpc>
              <a:buNone/>
            </a:pPr>
            <a:r>
              <a:rPr lang="en-US" sz="900" b="1" dirty="0">
                <a:solidFill>
                  <a:srgbClr val="16A34A"/>
                </a:solidFill>
                <a:latin typeface="Segoe UI" pitchFamily="34" charset="0"/>
                <a:ea typeface="Segoe UI" pitchFamily="34" charset="-122"/>
                <a:cs typeface="Segoe UI" pitchFamily="34" charset="-120"/>
              </a:rPr>
              <a:t>Be an</a:t>
            </a:r>
            <a:endParaRPr lang="en-US" sz="900" dirty="0"/>
          </a:p>
          <a:p>
            <a:pPr marL="0" indent="0" algn="ctr">
              <a:lnSpc>
                <a:spcPts val="1400"/>
              </a:lnSpc>
              <a:buNone/>
            </a:pPr>
            <a:r>
              <a:rPr lang="en-US" sz="900" b="1" dirty="0">
                <a:solidFill>
                  <a:srgbClr val="16A34A"/>
                </a:solidFill>
                <a:latin typeface="Segoe UI" pitchFamily="34" charset="0"/>
                <a:ea typeface="Segoe UI" pitchFamily="34" charset="-122"/>
                <a:cs typeface="Segoe UI" pitchFamily="34" charset="-120"/>
              </a:rPr>
              <a:t>Ambassador</a:t>
            </a:r>
            <a:endParaRPr lang="en-US" sz="900" dirty="0"/>
          </a:p>
        </p:txBody>
      </p:sp>
      <p:sp>
        <p:nvSpPr>
          <p:cNvPr id="53" name="Text 51"/>
          <p:cNvSpPr/>
          <p:nvPr/>
        </p:nvSpPr>
        <p:spPr>
          <a:xfrm>
            <a:off x="6815328" y="6309360"/>
            <a:ext cx="1498092" cy="411480"/>
          </a:xfrm>
          <a:prstGeom prst="rect">
            <a:avLst/>
          </a:prstGeom>
          <a:noFill/>
          <a:ln/>
        </p:spPr>
        <p:txBody>
          <a:bodyPr wrap="square" rtlCol="0" anchor="t"/>
          <a:lstStyle/>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Products to</a:t>
            </a:r>
            <a:endParaRPr lang="en-US" sz="800" dirty="0"/>
          </a:p>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this life?</a:t>
            </a:r>
            <a:endParaRPr lang="en-US" sz="800" dirty="0"/>
          </a:p>
        </p:txBody>
      </p:sp>
      <p:sp>
        <p:nvSpPr>
          <p:cNvPr id="54" name="Shape 52"/>
          <p:cNvSpPr/>
          <p:nvPr/>
        </p:nvSpPr>
        <p:spPr>
          <a:xfrm>
            <a:off x="8404860" y="5943600"/>
            <a:ext cx="1498092" cy="822960"/>
          </a:xfrm>
          <a:prstGeom prst="roundRect">
            <a:avLst>
              <a:gd name="adj" fmla="val 8889"/>
            </a:avLst>
          </a:prstGeom>
          <a:solidFill>
            <a:srgbClr val="FCE7F3"/>
          </a:solidFill>
          <a:ln/>
        </p:spPr>
        <p:txBody>
          <a:bodyPr/>
          <a:lstStyle/>
          <a:p>
            <a:endParaRPr lang="en-US"/>
          </a:p>
        </p:txBody>
      </p:sp>
      <p:sp>
        <p:nvSpPr>
          <p:cNvPr id="55" name="Text 53"/>
          <p:cNvSpPr/>
          <p:nvPr/>
        </p:nvSpPr>
        <p:spPr>
          <a:xfrm>
            <a:off x="8404860" y="5943600"/>
            <a:ext cx="1498092" cy="411480"/>
          </a:xfrm>
          <a:prstGeom prst="rect">
            <a:avLst/>
          </a:prstGeom>
          <a:noFill/>
          <a:ln/>
        </p:spPr>
        <p:txBody>
          <a:bodyPr wrap="square" rtlCol="0" anchor="ctr"/>
          <a:lstStyle/>
          <a:p>
            <a:pPr marL="0" indent="0" algn="ctr">
              <a:lnSpc>
                <a:spcPts val="1400"/>
              </a:lnSpc>
              <a:buNone/>
            </a:pPr>
            <a:r>
              <a:rPr lang="en-US" sz="900" b="1" dirty="0">
                <a:solidFill>
                  <a:srgbClr val="BE185D"/>
                </a:solidFill>
                <a:latin typeface="Segoe UI" pitchFamily="34" charset="0"/>
                <a:ea typeface="Segoe UI" pitchFamily="34" charset="-122"/>
                <a:cs typeface="Segoe UI" pitchFamily="34" charset="-120"/>
              </a:rPr>
              <a:t>Show</a:t>
            </a:r>
            <a:endParaRPr lang="en-US" sz="900" dirty="0"/>
          </a:p>
          <a:p>
            <a:pPr marL="0" indent="0" algn="ctr">
              <a:lnSpc>
                <a:spcPts val="1400"/>
              </a:lnSpc>
              <a:buNone/>
            </a:pPr>
            <a:r>
              <a:rPr lang="en-US" sz="900" b="1" dirty="0">
                <a:solidFill>
                  <a:srgbClr val="BE185D"/>
                </a:solidFill>
                <a:latin typeface="Segoe UI" pitchFamily="34" charset="0"/>
                <a:ea typeface="Segoe UI" pitchFamily="34" charset="-122"/>
                <a:cs typeface="Segoe UI" pitchFamily="34" charset="-120"/>
              </a:rPr>
              <a:t>Appreciation</a:t>
            </a:r>
            <a:endParaRPr lang="en-US" sz="900" dirty="0"/>
          </a:p>
        </p:txBody>
      </p:sp>
      <p:sp>
        <p:nvSpPr>
          <p:cNvPr id="56" name="Text 54"/>
          <p:cNvSpPr/>
          <p:nvPr/>
        </p:nvSpPr>
        <p:spPr>
          <a:xfrm>
            <a:off x="8404860" y="6309360"/>
            <a:ext cx="1498092" cy="411480"/>
          </a:xfrm>
          <a:prstGeom prst="rect">
            <a:avLst/>
          </a:prstGeom>
          <a:noFill/>
          <a:ln/>
        </p:spPr>
        <p:txBody>
          <a:bodyPr wrap="square" rtlCol="0" anchor="t"/>
          <a:lstStyle/>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Valued,</a:t>
            </a:r>
            <a:endParaRPr lang="en-US" sz="800" dirty="0"/>
          </a:p>
          <a:p>
            <a:pPr marL="0" indent="0" algn="ctr">
              <a:lnSpc>
                <a:spcPts val="1200"/>
              </a:lnSpc>
              <a:buNone/>
            </a:pPr>
            <a:r>
              <a:rPr lang="en-US" sz="800" dirty="0">
                <a:solidFill>
                  <a:srgbClr val="475569"/>
                </a:solidFill>
                <a:latin typeface="Segoe UI" pitchFamily="34" charset="0"/>
                <a:ea typeface="Segoe UI" pitchFamily="34" charset="-122"/>
                <a:cs typeface="Segoe UI" pitchFamily="34" charset="-120"/>
              </a:rPr>
              <a:t>not processed?</a:t>
            </a:r>
            <a:endParaRPr lang="en-US" sz="800" dirty="0"/>
          </a:p>
        </p:txBody>
      </p:sp>
      <p:sp>
        <p:nvSpPr>
          <p:cNvPr id="57" name="Text 55"/>
          <p:cNvSpPr/>
          <p:nvPr/>
        </p:nvSpPr>
        <p:spPr>
          <a:xfrm>
            <a:off x="0" y="6537960"/>
            <a:ext cx="12188952" cy="274320"/>
          </a:xfrm>
          <a:prstGeom prst="rect">
            <a:avLst/>
          </a:prstGeom>
          <a:noFill/>
          <a:ln/>
        </p:spPr>
        <p:txBody>
          <a:bodyPr wrap="square" rtlCol="0" anchor="ctr"/>
          <a:lstStyle/>
          <a:p>
            <a:pPr marL="0" indent="0" algn="ctr">
              <a:buNone/>
            </a:pPr>
            <a:r>
              <a:rPr lang="en-US" sz="800" dirty="0">
                <a:solidFill>
                  <a:srgbClr val="64748B"/>
                </a:solidFill>
                <a:latin typeface="Segoe UI" pitchFamily="34" charset="0"/>
                <a:ea typeface="Segoe UI" pitchFamily="34" charset="-122"/>
                <a:cs typeface="Segoe UI" pitchFamily="34" charset="-120"/>
              </a:rPr>
              <a:t>Catalyst Coaching Bootcamp  |  DR Site  |  Day 5 of 5  |  March 2026</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1771</Words>
  <Application>Microsoft Office PowerPoint</Application>
  <PresentationFormat>Widescreen</PresentationFormat>
  <Paragraphs>237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Catalyst Coaching Bootcamp</dc:subject>
  <dc:creator>Performance Analytics</dc:creator>
  <cp:lastModifiedBy>Joshua Edgecomb</cp:lastModifiedBy>
  <cp:revision>2</cp:revision>
  <dcterms:created xsi:type="dcterms:W3CDTF">2026-03-28T18:24:43Z</dcterms:created>
  <dcterms:modified xsi:type="dcterms:W3CDTF">2026-03-28T20:13:35Z</dcterms:modified>
</cp:coreProperties>
</file>