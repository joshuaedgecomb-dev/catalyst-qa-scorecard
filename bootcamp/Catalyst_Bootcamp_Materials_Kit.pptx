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Bootcamp Materials Kit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&amp; Prepare Before Day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Contents: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1.  Discovery Bingo Grids (Day 2) - print one per agent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2.  Customer Persona Cards (Days 2, 3, 5) - print one set, cut out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3.  Objection Cards (Day 4) - print one set, cut out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4.  Pitch Scorecard (Day 3) - print one per pair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5.  Personal Commitment Card (Day 5) - print one per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Bingo  |  Day 2 Activity  |  Print &amp; Cut - 2 per page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6692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Bingo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Open-ended questions only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44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lives in the home?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Adults, kids, elderly?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workers?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1417320"/>
            <a:ext cx="2743200" cy="105156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444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they use services?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Streaming, gaming, WFH?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calls, school?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33172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560320"/>
            <a:ext cx="2743200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87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devices are connected?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Phones, tablets, laptops?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home, gaming?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3154680" y="2560320"/>
            <a:ext cx="27432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587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they paying now?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matters financially?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or savings?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47472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097280"/>
            <a:ext cx="56692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143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Bingo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Open-ended questions only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1417320"/>
            <a:ext cx="2743200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444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lives in the home?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Adults, kids, elderly?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workers?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33172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9098280" y="1417320"/>
            <a:ext cx="2743200" cy="105156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1444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they use services?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Streaming, gaming, WFH?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calls, school?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0" y="233172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2560320"/>
            <a:ext cx="2743200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587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devices are connected?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Phones, tablets, laptops?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home, gaming?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347472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Shape 36"/>
          <p:cNvSpPr/>
          <p:nvPr/>
        </p:nvSpPr>
        <p:spPr>
          <a:xfrm>
            <a:off x="9098280" y="2560320"/>
            <a:ext cx="27432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2587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they paying now?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matters financially?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or savings?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44000" y="347472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4114800"/>
            <a:ext cx="56692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Bingo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10896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Open-ended questions only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434840"/>
            <a:ext cx="2743200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462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70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lives in the home?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Adults, kids, elderly?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workers?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534924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Shape 47"/>
          <p:cNvSpPr/>
          <p:nvPr/>
        </p:nvSpPr>
        <p:spPr>
          <a:xfrm>
            <a:off x="3154680" y="4434840"/>
            <a:ext cx="2743200" cy="105156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4462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00400" y="470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they use services?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Streaming, gaming, WFH?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calls, school?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0" y="534924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Shape 51"/>
          <p:cNvSpPr/>
          <p:nvPr/>
        </p:nvSpPr>
        <p:spPr>
          <a:xfrm>
            <a:off x="320040" y="5577840"/>
            <a:ext cx="2743200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5605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5760" y="5852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devices are connected?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Phones, tablets, laptops?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home, gaming?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649224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7" name="Shape 55"/>
          <p:cNvSpPr/>
          <p:nvPr/>
        </p:nvSpPr>
        <p:spPr>
          <a:xfrm>
            <a:off x="3154680" y="5577840"/>
            <a:ext cx="27432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0" y="5605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200400" y="5852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they paying now?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matters financially?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or savings?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0" y="649224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0" y="4114800"/>
            <a:ext cx="56692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4160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Bingo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05256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Open-ended questions only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63640" y="4434840"/>
            <a:ext cx="2743200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0" y="4462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309360" y="470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lives in the home?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Adults, kids, elderly?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workers?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09360" y="534924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Shape 66"/>
          <p:cNvSpPr/>
          <p:nvPr/>
        </p:nvSpPr>
        <p:spPr>
          <a:xfrm>
            <a:off x="9098280" y="4434840"/>
            <a:ext cx="2743200" cy="105156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52560" y="4462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144000" y="470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they use services?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Streaming, gaming, WFH?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calls, school?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144000" y="534924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2" name="Shape 70"/>
          <p:cNvSpPr/>
          <p:nvPr/>
        </p:nvSpPr>
        <p:spPr>
          <a:xfrm>
            <a:off x="6263640" y="5577840"/>
            <a:ext cx="2743200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0" y="5605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309360" y="5852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devices are connected?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Phones, tablets, laptops?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home, gaming?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309360" y="649224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6" name="Shape 74"/>
          <p:cNvSpPr/>
          <p:nvPr/>
        </p:nvSpPr>
        <p:spPr>
          <a:xfrm>
            <a:off x="9098280" y="5577840"/>
            <a:ext cx="27432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52560" y="5605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144000" y="5852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they paying now?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matters financially?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or savings?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144000" y="6492240"/>
            <a:ext cx="2651760" cy="9144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Persona 1 of 5  |  Days 2, 3, 5 Activities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88552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Campaign: Nonsub BAU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74552" cy="5669280"/>
          </a:xfrm>
          <a:prstGeom prst="roundRect">
            <a:avLst>
              <a:gd name="adj" fmla="val 2419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Maria Gonzalez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35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mom with 2 kids (ages 8 and 14)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PROVIDER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AT&amp;T Internet at $90/mo, no home phone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THEY USE SERVICES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Kids stream YouTube and Netflix constantly. Older kid games online after school. Maria works remotely 2 days/week on video calls.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7356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77356" y="214884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phones, 1 tablet, 1 laptop, smart TV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7356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SENSITIVITY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77356" y="278892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Budget-conscious, always looking for value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LIKELY OBJECTION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"That sounds like too much money right now."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48640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32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NOTE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5760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should uncover: WFH needs for video calls, kids' streaming/gaming habits, single-income budget sensitivity. Pitch 1 Gig (WFH + gaming + streaming). Tie-back: "Since your kids game and you do video calls..."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Materials Kit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Persona 2 of 5  |  Days 2, 3, 5 Activities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88552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Campaign: Nonsub BAU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74552" cy="5669280"/>
          </a:xfrm>
          <a:prstGeom prst="roundRect">
            <a:avLst>
              <a:gd name="adj" fmla="val 241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James &amp; Patricia Williams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67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Retired couple, empty nesters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PROVIDER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Verizon wireless ($130/mo for 2 lines), no home internet, uses phone hotspot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THEY USE SERVICES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Email, news, occasional FaceTime with grandkids. Patricia watches cooking shows on YouTube. James follows sports.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7356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77356" y="214884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phones, 1 iPad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7356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SENSITIVITY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77356" y="278892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income, but willing to pay for reliability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LIKELY OBJECTION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"We're not really interested, we already have our phones."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48640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32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NOTE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5760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should uncover: grandkid FaceTime needs, sports streaming interest, hotspot frustration. Pitch 300 Mbps + included XM line. Tie-back: "You said you FaceTime your grandkids, so reliable WiFi means..."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Materials Kit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Persona 3 of 5  |  Days 2, 3, 5 Activities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88552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Campaign: Nonsub BAU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74552" cy="5669280"/>
          </a:xfrm>
          <a:prstGeom prst="roundRect">
            <a:avLst>
              <a:gd name="adj" fmla="val 2419"/>
            </a:avLst>
          </a:prstGeom>
          <a:solidFill>
            <a:srgbClr val="ECFE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David Chen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28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Lives alone, apartment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PROVIDER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T-Mobile 5G Home Internet at $50/mo, T-Mobile wireless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THEY USE SERVICES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developer, WFH full-time. Heavy gamer (PS5 + PC). 4K streaming every night. Downloads large files regularly.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7356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77356" y="214884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phone, gaming PC, PS5, laptop, smart TV, smart speakers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7356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SENSITIVITY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77356" y="278892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price-sensitive, wants the best performance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LIKELY OBJECTION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"Let me think about it, I need to compare."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48640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32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NOTE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5760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should uncover: WFH reliability needs, gaming latency concerns, heavy download habits. Pitch 1 Gig or 1.2 Gig. Tie-back: "As a developer who games, you need speed that doesn't deprioritize..."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Materials Kit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Persona 4 of 5  |  Days 2, 3, 5 Activities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88552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Campaign: XM Likely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74552" cy="5669280"/>
          </a:xfrm>
          <a:prstGeom prst="roundRect">
            <a:avLst>
              <a:gd name="adj" fmla="val 2419"/>
            </a:avLst>
          </a:prstGeom>
          <a:solidFill>
            <a:srgbClr val="FFF7ED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Keisha Johnson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42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of 5 (husband + 3 teenagers)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PROVIDER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Xfinity Internet customer (500 Mbps), Verizon wireless ($220/mo for 4 lines)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THEY USE SERVICES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Teenagers are on TikTok, Snapchat, gaming constantly. Husband streams sports. Keisha does online shopping and WFH once a week.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7356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77356" y="214884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phones, 2 tablets, 3 laptops, gaming console, smart TV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7356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SENSITIVITY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77356" y="278892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 a lot, would love to consolidate and save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LIKELY OBJECTION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"We're under contract with Verizon for another 8 months."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48640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32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NOTE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5760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should uncover: teenager data consumption, sports streaming, cost of 4 Verizon lines. Pitch XM family plan savings. Tie-back: "You're paying $220 for 4 lines. With Xfinity Mobile that drops to..."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Materials Kit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Persona 5 of 5  |  Days 2, 3, 5 Activities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88552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Campaign: Xfinity Mobile Add A 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74552" cy="5669280"/>
          </a:xfrm>
          <a:prstGeom prst="roundRect">
            <a:avLst>
              <a:gd name="adj" fmla="val 2419"/>
            </a:avLst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Roberto Alvarez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55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Wife (Ana) and elderly mother live with him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PROVIDER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Xfinity Internet + 1 Xfinity Mobile line. Wife on separate AT&amp;T plan.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THEY USE SERVICES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Roberto runs a small business from home, needs reliable internet for Zoom calls with clients. Mother watches novelas on streaming. Ana uses her phone for everything.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7356" y="192024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77356" y="214884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phones, 1 laptop, 2 smart TVs, security camera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7356" y="2560320"/>
            <a:ext cx="5088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SENSITIVITY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77356" y="2788920"/>
            <a:ext cx="50886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 reliability over price, but wants to understand the value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LIKELY OBJECTION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 need to talk to my wife about this before I decide."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48640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32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NOTE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576072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should uncover: business reliability needs, wife's separate plan waste, mother's streaming. Pitch Add A Line for wife. Tie-back: "Since Ana is on a separate plan, adding her saves you..."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Materials Kit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Objection Cards  |  Day 4 Activity  |  Print &amp; Cut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5454396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6868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82296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 need to think about it."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4905756" cy="182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HINT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9057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Probe: What specifically?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price, timing, or the product?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7356" y="731520"/>
            <a:ext cx="5454396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4516" y="86868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414516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63156" y="82296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"That's too expensive for me."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51676" y="1554480"/>
            <a:ext cx="4905756" cy="182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1645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HINT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551676" y="1828800"/>
            <a:ext cx="49057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Reframe value per day.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to current spend.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5454396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2608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288036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"I'm under contract with my current provider."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611880"/>
            <a:ext cx="4905756" cy="182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HINT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31520" y="3886200"/>
            <a:ext cx="49057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when it ends.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savings vs. ETF.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77356" y="2788920"/>
            <a:ext cx="5454396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4516" y="292608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6414516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63156" y="288036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"I'm not interested."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51676" y="3611880"/>
            <a:ext cx="4905756" cy="182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0" name="Text 28"/>
          <p:cNvSpPr/>
          <p:nvPr/>
        </p:nvSpPr>
        <p:spPr>
          <a:xfrm>
            <a:off x="6551676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HINT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551676" y="3886200"/>
            <a:ext cx="49057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the product or the timing?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 the seed with one benefit.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846320"/>
            <a:ext cx="5454396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498348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983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43000" y="493776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 need to talk to my spouse about this."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" y="5669280"/>
            <a:ext cx="4905756" cy="182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HINT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31520" y="5943600"/>
            <a:ext cx="49057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it. Offer to send details.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what they'd want to know.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77356" y="4846320"/>
            <a:ext cx="5454396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4516" y="498348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1" name="Text 39"/>
          <p:cNvSpPr/>
          <p:nvPr/>
        </p:nvSpPr>
        <p:spPr>
          <a:xfrm>
            <a:off x="6414516" y="4983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63156" y="493776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 already have a provider and I'm happy."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51676" y="5669280"/>
            <a:ext cx="4905756" cy="182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4" name="Text 42"/>
          <p:cNvSpPr/>
          <p:nvPr/>
        </p:nvSpPr>
        <p:spPr>
          <a:xfrm>
            <a:off x="6551676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HINT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551676" y="5943600"/>
            <a:ext cx="49057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 they like about it?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gap. Speed? Price? Bundle?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Materials Kit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Scorecard  |  Day 3 Activity  |  Print one per pair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5669280" cy="566928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Scorecard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Agent: ___________________________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Started with "Based on what you told me..."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74920" y="17373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at least one tie-back ("I heard you say...")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3774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74920" y="23774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features to THIS customer's life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01752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017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74920" y="301752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017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66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Referenced broadband labels naturally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365760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74920" y="365760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06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Would you buy based on this pitch?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2976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74920" y="42976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" y="49377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/ Feedback: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303520"/>
            <a:ext cx="5120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5623560"/>
            <a:ext cx="5120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5943600"/>
            <a:ext cx="5120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7920" y="731520"/>
            <a:ext cx="5669280" cy="566928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8229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Scorecard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224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Agent: ___________________________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16459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Started with "Based on what you told me..."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332720" y="17373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3272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1018520" y="17373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01852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0" y="228600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at least one tie-back ("I heard you say...")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332720" y="23774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32720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018520" y="23774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018520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00800" y="292608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features to THIS customer's life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332720" y="301752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332720" y="3017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1018520" y="301752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018520" y="3017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400800" y="356616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3566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Referenced broadband labels naturally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0332720" y="365760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3272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1018520" y="365760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01852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400800" y="420624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3680" y="4206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Would you buy based on this pitch?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332720" y="42976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33272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1018520" y="42976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01852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492240" y="49377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/ Feedback: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492240" y="5303520"/>
            <a:ext cx="5120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6" name="Shape 74"/>
          <p:cNvSpPr/>
          <p:nvPr/>
        </p:nvSpPr>
        <p:spPr>
          <a:xfrm>
            <a:off x="6492240" y="5623560"/>
            <a:ext cx="5120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7" name="Shape 75"/>
          <p:cNvSpPr/>
          <p:nvPr/>
        </p:nvSpPr>
        <p:spPr>
          <a:xfrm>
            <a:off x="6492240" y="5943600"/>
            <a:ext cx="5120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8" name="Text 76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Materials Kit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Commitment Card  |  Day 5  |  Print one per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5669280" cy="2834640"/>
          </a:xfrm>
          <a:prstGeom prst="roundRect">
            <a:avLst>
              <a:gd name="adj" fmla="val 4839"/>
            </a:avLst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Commitment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_________________________________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______________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behavior I commit to sustaining: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7180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29184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3464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practice. The scorecard is a mirror, not a judgment.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 with yourself. Beat last week's scores.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731520"/>
            <a:ext cx="5669280" cy="2834640"/>
          </a:xfrm>
          <a:prstGeom prst="roundRect">
            <a:avLst>
              <a:gd name="adj" fmla="val 4839"/>
            </a:avLst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68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Commitment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1887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_________________________________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______________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2860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behavior I commit to sustaining: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65176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297180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329184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283464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2880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practice. The scorecard is a mirror, not a judgment.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 with yourself. Beat last week's scores.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5669280" cy="2834640"/>
          </a:xfrm>
          <a:prstGeom prst="roundRect">
            <a:avLst>
              <a:gd name="adj" fmla="val 4839"/>
            </a:avLst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86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Commitment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4320" y="42062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617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_________________________________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______________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3035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behavior I commit to sustaining: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66928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598932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630936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585216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897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practice. The scorecard is a mirror, not a judgment.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 with yourself. Beat last week's scores.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749040"/>
            <a:ext cx="5669280" cy="2834640"/>
          </a:xfrm>
          <a:prstGeom prst="roundRect">
            <a:avLst>
              <a:gd name="adj" fmla="val 4839"/>
            </a:avLst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886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Commitment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217920" y="42062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0" y="4617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_________________________________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______________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53035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behavior I commit to sustaining: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566928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3680" y="598932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5" name="Shape 43"/>
          <p:cNvSpPr/>
          <p:nvPr/>
        </p:nvSpPr>
        <p:spPr>
          <a:xfrm>
            <a:off x="6583680" y="6309360"/>
            <a:ext cx="4937760" cy="914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6" name="Shape 44"/>
          <p:cNvSpPr/>
          <p:nvPr/>
        </p:nvSpPr>
        <p:spPr>
          <a:xfrm>
            <a:off x="6492240" y="585216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5897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practice. The scorecard is a mirror, not a judgment.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 with yourself. Beat last week's scores.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  |  DR Site  |  Materials Kit  |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Performance Analytics</dc:creator>
  <cp:lastModifiedBy>Performance Analytics</cp:lastModifiedBy>
  <cp:revision>1</cp:revision>
  <dcterms:created xsi:type="dcterms:W3CDTF">2026-03-28T18:15:37Z</dcterms:created>
  <dcterms:modified xsi:type="dcterms:W3CDTF">2026-03-28T18:15:37Z</dcterms:modified>
</cp:coreProperties>
</file>